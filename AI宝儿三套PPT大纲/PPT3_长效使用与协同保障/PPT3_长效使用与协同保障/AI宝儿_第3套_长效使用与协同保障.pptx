
<file path=[Content_Types].xml><?xml version="1.0" encoding="utf-8"?>
<Types xmlns="http://schemas.openxmlformats.org/package/2006/content-types">
  <Default Extension="svg" ContentType="image/svg+xml"/>
  <Default Extension="xml" ContentType="application/xml"/>
  <Default Extension="rels" ContentType="application/vnd.openxmlformats-package.relationships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9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slides/slide3.xml" ContentType="application/vnd.openxmlformats-officedocument.presentationml.slid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10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0" Type="http://schemas.openxmlformats.org/officeDocument/2006/relationships/slideMaster" Target="slideMasters/slideMaster1.xml" /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3" Type="http://schemas.openxmlformats.org/officeDocument/2006/relationships/slide" Target="slides/slide3.xml" /><Relationship Id="rId2" Type="http://schemas.openxmlformats.org/officeDocument/2006/relationships/slide" Target="slides/slide2.xml" /><Relationship Id="rId11" Type="http://schemas.openxmlformats.org/officeDocument/2006/relationships/presProps" Target="presProps.xml" /><Relationship Id="rId1" Type="http://schemas.openxmlformats.org/officeDocument/2006/relationships/slide" Target="slides/slide1.xml" /><Relationship Id="rId4" Type="http://schemas.openxmlformats.org/officeDocument/2006/relationships/slide" Target="slides/slide4.xml" /><Relationship Id="rId7" Type="http://schemas.openxmlformats.org/officeDocument/2006/relationships/slide" Target="slides/slide7.xml" /><Relationship Id="rId13" Type="http://schemas.openxmlformats.org/officeDocument/2006/relationships/viewProps" Target="viewProps.xml" /><Relationship Id="rId12" Type="http://schemas.openxmlformats.org/officeDocument/2006/relationships/tableStyles" Target="tableStyles.xml" /><Relationship Id="rId10" Type="http://schemas.openxmlformats.org/officeDocument/2006/relationships/notesMaster" Target="notesMasters/notes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3" Type="http://schemas.openxmlformats.org/officeDocument/2006/relationships/image" Target="media/image3.svg" /><Relationship Id="rId2" Type="http://schemas.openxmlformats.org/officeDocument/2006/relationships/image" Target="media/image2.svg" /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3" Type="http://schemas.openxmlformats.org/officeDocument/2006/relationships/image" Target="media/image6.svg" /><Relationship Id="rId2" Type="http://schemas.openxmlformats.org/officeDocument/2006/relationships/image" Target="media/image5.svg" /><Relationship Id="rId1" Type="http://schemas.openxmlformats.org/officeDocument/2006/relationships/image" Target="media/image4.svg" /><Relationship Id="rId4" Type="http://schemas.openxmlformats.org/officeDocument/2006/relationships/image" Target="media/image7.sv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7" Type="http://schemas.openxmlformats.org/officeDocument/2006/relationships/image" Target="media/image7.svg" /><Relationship Id="rId6" Type="http://schemas.openxmlformats.org/officeDocument/2006/relationships/image" Target="media/image13.svg" /><Relationship Id="rId5" Type="http://schemas.openxmlformats.org/officeDocument/2006/relationships/image" Target="media/image12.svg" /><Relationship Id="rId1" Type="http://schemas.openxmlformats.org/officeDocument/2006/relationships/image" Target="media/image8.svg" /><Relationship Id="rId4" Type="http://schemas.openxmlformats.org/officeDocument/2006/relationships/image" Target="media/image11.svg" /><Relationship Id="rId3" Type="http://schemas.openxmlformats.org/officeDocument/2006/relationships/image" Target="media/image10.svg" /><Relationship Id="rId2" Type="http://schemas.openxmlformats.org/officeDocument/2006/relationships/image" Target="media/image9.sv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5" Type="http://schemas.openxmlformats.org/officeDocument/2006/relationships/image" Target="media/image7.svg" /><Relationship Id="rId3" Type="http://schemas.openxmlformats.org/officeDocument/2006/relationships/image" Target="media/image16.svg" /><Relationship Id="rId2" Type="http://schemas.openxmlformats.org/officeDocument/2006/relationships/image" Target="media/image15.svg" /><Relationship Id="rId4" Type="http://schemas.openxmlformats.org/officeDocument/2006/relationships/image" Target="media/image17.svg" /><Relationship Id="rId1" Type="http://schemas.openxmlformats.org/officeDocument/2006/relationships/image" Target="media/image14.sv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7.sv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7.sv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2" Type="http://schemas.openxmlformats.org/officeDocument/2006/relationships/image" Target="media/image19.svg" /><Relationship Id="rId1" Type="http://schemas.openxmlformats.org/officeDocument/2006/relationships/image" Target="media/image18.svg" /><Relationship Id="rId3" Type="http://schemas.openxmlformats.org/officeDocument/2006/relationships/image" Target="media/image7.sv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2" Type="http://schemas.openxmlformats.org/officeDocument/2006/relationships/image" Target="media/image7.svg" /><Relationship Id="rId1" Type="http://schemas.openxmlformats.org/officeDocument/2006/relationships/image" Target="media/image20.sv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2" Type="http://schemas.openxmlformats.org/officeDocument/2006/relationships/image" Target="media/image21.svg" /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/Relationships>
</file>

<file path=ppt/slides/slide1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" name="" descr="&lt;Slide style={{&#10;    background: 'linear-gradient(135deg, #F2F8F4 0%, #DCEDE3 100%)',&#10;    padding: 0,&#10;}}&gt;&#10;    &lt;Box style={{ flexDirection: 'row', width: '100%', height: '100%' }}&gt;&#10;        &lt;Box style={{ width: 660, height: '100%', paddingLeft: 72, paddingRight: 24, paddingTop: 132 }}&gt;&#10;            &lt;Box style={{ flexDirection: 'row', alignItems: 'center', gap: 14 }}&gt;&#10;                &lt;Box style={{ width: 46, height: 46, borderRadius: 23, background: '#1F7A5C', justifyContent: 'center', alignItems: 'center' }}&gt;&#10;                    &lt;svg width=&quot;26&quot; height=&quot;26&quot; viewBox=&quot;0 0 24 24&quot;&gt;&#10;                        &lt;path d=&quot;M12 21C12 21 4 17 4 10C4 6 7 3 12 3C17 3 20 6 20 10C20 17 12 21 12 21Z&quot; fill=&quot;#FFFFFF&quot; /&gt;&#10;                        &lt;path d=&quot;M12 21V6&quot; stroke=&quot;#1F7A5C&quot; strokeWidth=&quot;1.8&quot; fill=&quot;none&quot; /&gt;&#10;                    &lt;/svg&gt;&#10;                &lt;/Box&gt;&#10;                &lt;Text style={{ fontSize: 22, color: '#1F7A5C', fontWeight: 'bold', letterSpacing: 1 }}&gt;AI宝儿智能体&lt;/Text&gt;&#10;            &lt;/Box&gt;&#10;&#10;            &lt;Text style={{ fontSize: 20, color: '#1F7A5C', fontWeight: 'bold', marginTop: 40, letterSpacing: 1 }}&gt;&#10;                第 3 套 / 共 3 套 · 终端用户培训&#10;            &lt;/Text&gt;&#10;&#10;            &lt;Text style={{ fontSize: 64, fontWeight: 'bold', color: '#1E3A32', lineHeight: 1.15, marginTop: 14 }}&gt;&#10;                长效使用&lt;br /&gt;与协同保障&#10;            &lt;/Text&gt;&#10;&#10;            &lt;Box style={{ width: 96, height: 5, borderRadius: 3, background: '#E08A3C', marginTop: 24 }} /&gt;&#10;&#10;            &lt;Text style={{ fontSize: 26, color: '#1E3A32', lineHeight: 1.55, marginTop: 24 }}&gt;&#10;                新鲜劲过去之后也能&lt;span style={{ color: '#C9742B', fontWeight: 'bold' }}&gt;用得顺&lt;/span&gt;&lt;br /&gt;&#10;                社区问答 · 转人工营养师 · 好习惯与避坑&#10;            &lt;/Text&gt;&#10;&#10;            &lt;Box style={{&#10;                flexDirection: 'row', alignItems: 'center', gap: 18, marginTop: 44,&#10;                background: 'rgba(255,255,255,0.72)', borderRadius: 14, padding: 18, width: 470,&#10;            }}&gt;&#10;                &lt;FAIcon name='road' style={{ fill: '#1F7A5C', width: 26, height: 26 }} /&gt;&#10;                &lt;Text style={{ fontSize: 20, color: '#1E3A32' }}&gt;&#10;                    9 页 · 讲练结合 · 已完成第 1·2 套&#10;                &lt;/Text&gt;&#10;            &lt;/Box&gt;&#10;        &lt;/Box&gt;&#10;&#10;        &lt;Box style={{ flex: 1, height: '100%' }}&gt;&#10;            &lt;svg width=&quot;620&quot; height=&quot;720&quot; viewBox=&quot;0 0 620 720&quot;&gt;&#10;                &lt;circle cx=&quot;452&quot; cy=&quot;168&quot; r=&quot;132&quot; fill=&quot;#E08A3C&quot; opacity=&quot;0.26&quot; /&gt;&#10;                &lt;circle cx=&quot;452&quot; cy=&quot;168&quot; r=&quot;88&quot; fill=&quot;#E08A3C&quot; opacity=&quot;0.2&quot; /&gt;&#10;                &lt;path d=&quot;M0 500 Q150 402 300 484 T620 448 L620 720 L0 720 Z&quot; fill=&quot;#A8D5BA&quot; opacity=&quot;0.55&quot; /&gt;&#10;                &lt;path d=&quot;M0 566 Q190 486 380 548 T620 522 L620 720 L0 720 Z&quot; fill=&quot;#1F7A5C&quot; opacity=&quot;0.26&quot; /&gt;&#10;                &lt;path d=&quot;M0 638 Q170 588 350 630 T620 604 L620 720 L0 720 Z&quot; fill=&quot;#1F7A5C&quot; opacity=&quot;0.46&quot; /&gt;&#10;                &lt;path d=&quot;M120 470 q30 -46 74 -58 q-8 50 -74 58Z&quot; fill=&quot;#1F7A5C&quot; opacity=&quot;0.55&quot; /&gt;&#10;                &lt;path d=&quot;M212 512 q26 -40 64 -50 q-7 44 -64 50Z&quot; fill=&quot;#1F7A5C&quot; opacity=&quot;0.4&quot; /&gt;&#10;                &lt;path d=&quot;M470 300 q34 -52 84 -66 q-9 57 -84 66Z&quot; fill=&quot;#1F7A5C&quot; opacity=&quot;0.32&quot; /&gt;&#10;                &lt;path d=&quot;M60 452 L120 470&quot; stroke=&quot;#1F7A5C&quot; strokeWidth=&quot;4&quot; opacity=&quot;0.45&quot; fill=&quot;none&quot; /&gt;&#10;                &lt;path d=&quot;M470 300 L470 250&quot; stroke=&quot;#1F7A5C&quot; strokeWidth=&quot;4&quot; opacity=&quot;0.35&quot; fill=&quot;none&quot; /&gt;&#10;            &lt;/svg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2F8F4"/>
              </a:gs>
              <a:gs pos="100000">
                <a:srgbClr val="DCEDE3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85800" y="125730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pic>
        <p:nvPicPr>
          <p:cNvPr id="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81050" y="1352550"/>
            <a:ext cx="247650" cy="247650"/>
          </a:xfrm>
          <a:prstGeom prst="rect">
            <a:avLst/>
          </a:prstGeom>
          <a:ln/>
        </p:spPr>
      </p:pic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1257300" y="1352550"/>
            <a:ext cx="13239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 spc="75">
                <a:solidFill>
                  <a:srgbClr val="1F7A5C"/>
                </a:solidFill>
                <a:latin typeface="Microsoft YaHei"/>
                <a:ea typeface="Microsoft YaHei"/>
              </a:rPr>
              <a:t>AI</a:t>
            </a:r>
            <a:r>
              <a:rPr lang="zh-CN" sz="1650" b="1" spc="75">
                <a:solidFill>
                  <a:srgbClr val="1F7A5C"/>
                </a:solidFill>
                <a:latin typeface="Microsoft YaHei"/>
                <a:ea typeface="Microsoft YaHei"/>
              </a:rPr>
              <a:t>宝儿智能体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85800" y="2076450"/>
            <a:ext cx="5372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75">
                <a:solidFill>
                  <a:srgbClr val="1F7A5C"/>
                </a:solidFill>
                <a:latin typeface="Microsoft YaHei"/>
                <a:ea typeface="Microsoft YaHei"/>
              </a:rPr>
              <a:t>第</a:t>
            </a:r>
            <a:r>
              <a:rPr lang="en-US" sz="1500" b="1" spc="75">
                <a:solidFill>
                  <a:srgbClr val="1F7A5C"/>
                </a:solidFill>
                <a:latin typeface="Microsoft YaHei"/>
                <a:ea typeface="Microsoft YaHei"/>
              </a:rPr>
              <a:t> 3 </a:t>
            </a:r>
            <a:r>
              <a:rPr lang="zh-CN" sz="1500" b="1" spc="75">
                <a:solidFill>
                  <a:srgbClr val="1F7A5C"/>
                </a:solidFill>
                <a:latin typeface="Microsoft YaHei"/>
                <a:ea typeface="Microsoft YaHei"/>
              </a:rPr>
              <a:t>套</a:t>
            </a:r>
            <a:r>
              <a:rPr lang="en-US" sz="1500" b="1" spc="75">
                <a:solidFill>
                  <a:srgbClr val="1F7A5C"/>
                </a:solidFill>
                <a:latin typeface="Microsoft YaHei"/>
                <a:ea typeface="Microsoft YaHei"/>
              </a:rPr>
              <a:t> / </a:t>
            </a:r>
            <a:r>
              <a:rPr lang="zh-CN" sz="1500" b="1" spc="75">
                <a:solidFill>
                  <a:srgbClr val="1F7A5C"/>
                </a:solidFill>
                <a:latin typeface="Microsoft YaHei"/>
                <a:ea typeface="Microsoft YaHei"/>
              </a:rPr>
              <a:t>共</a:t>
            </a:r>
            <a:r>
              <a:rPr lang="en-US" sz="1500" b="1" spc="75">
                <a:solidFill>
                  <a:srgbClr val="1F7A5C"/>
                </a:solidFill>
                <a:latin typeface="Microsoft YaHei"/>
                <a:ea typeface="Microsoft YaHei"/>
              </a:rPr>
              <a:t> 3 </a:t>
            </a:r>
            <a:r>
              <a:rPr lang="zh-CN" sz="1500" b="1" spc="75">
                <a:solidFill>
                  <a:srgbClr val="1F7A5C"/>
                </a:solidFill>
                <a:latin typeface="Microsoft YaHei"/>
                <a:ea typeface="Microsoft YaHei"/>
              </a:rPr>
              <a:t>套</a:t>
            </a:r>
            <a:r>
              <a:rPr lang="en-US" sz="1500" b="1" spc="75">
                <a:solidFill>
                  <a:srgbClr val="1F7A5C"/>
                </a:solidFill>
                <a:latin typeface="Microsoft YaHei"/>
                <a:ea typeface="Microsoft YaHei"/>
              </a:rPr>
              <a:t> · </a:t>
            </a:r>
            <a:r>
              <a:rPr lang="zh-CN" sz="1500" b="1" spc="75">
                <a:solidFill>
                  <a:srgbClr val="1F7A5C"/>
                </a:solidFill>
                <a:latin typeface="Microsoft YaHei"/>
                <a:ea typeface="Microsoft YaHei"/>
              </a:rPr>
              <a:t>终端用户培训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85800" y="2438400"/>
            <a:ext cx="5372100" cy="16859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800" b="1">
                <a:solidFill>
                  <a:srgbClr val="1E3A32"/>
                </a:solidFill>
                <a:latin typeface="Microsoft YaHei"/>
                <a:ea typeface="Microsoft YaHei"/>
              </a:rPr>
              <a:t>长效使用</a:t>
            </a:r>
            <a:endParaRPr/>
          </a:p>
          <a:p>
            <a:pPr>
              <a:lnSpc>
                <a:spcPct val="114999"/>
              </a:lnSpc>
            </a:pPr>
            <a:r>
              <a:rPr lang="zh-CN" sz="4800" b="1">
                <a:solidFill>
                  <a:srgbClr val="1E3A32"/>
                </a:solidFill>
                <a:latin typeface="Microsoft YaHei"/>
                <a:ea typeface="Microsoft YaHei"/>
              </a:rPr>
              <a:t>与协同保障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85800" y="4352925"/>
            <a:ext cx="914400" cy="47625"/>
          </a:xfrm>
          <a:prstGeom prst="roundRect">
            <a:avLst>
              <a:gd name="adj" fmla="val 60000"/>
            </a:avLst>
          </a:prstGeom>
          <a:solidFill>
            <a:srgbClr val="E08A3C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85800" y="4629150"/>
            <a:ext cx="5372100" cy="9239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950">
                <a:solidFill>
                  <a:srgbClr val="1E3A32"/>
                </a:solidFill>
                <a:latin typeface="Microsoft YaHei"/>
                <a:ea typeface="Microsoft YaHei"/>
              </a:rPr>
              <a:t>新鲜劲过去之后也能</a:t>
            </a:r>
            <a:r>
              <a:rPr lang="zh-CN" sz="1950" b="1">
                <a:solidFill>
                  <a:srgbClr val="C9742B"/>
                </a:solidFill>
                <a:latin typeface="Microsoft YaHei"/>
                <a:ea typeface="Microsoft YaHei"/>
              </a:rPr>
              <a:t>用得顺</a:t>
            </a:r>
            <a:endParaRPr/>
          </a:p>
          <a:p>
            <a:pPr>
              <a:lnSpc>
                <a:spcPct val="155000"/>
              </a:lnSpc>
            </a:pPr>
            <a:r>
              <a:rPr lang="zh-CN" sz="1950">
                <a:solidFill>
                  <a:srgbClr val="1E3A32"/>
                </a:solidFill>
                <a:latin typeface="Microsoft YaHei"/>
                <a:ea typeface="Microsoft YaHei"/>
              </a:rPr>
              <a:t>社区问答</a:t>
            </a:r>
            <a:r>
              <a:rPr lang="en-US" sz="1950">
                <a:solidFill>
                  <a:srgbClr val="1E3A32"/>
                </a:solidFill>
                <a:latin typeface="Microsoft YaHei"/>
                <a:ea typeface="Microsoft YaHei"/>
              </a:rPr>
              <a:t> · </a:t>
            </a:r>
            <a:r>
              <a:rPr lang="zh-CN" sz="1950">
                <a:solidFill>
                  <a:srgbClr val="1E3A32"/>
                </a:solidFill>
                <a:latin typeface="Microsoft YaHei"/>
                <a:ea typeface="Microsoft YaHei"/>
              </a:rPr>
              <a:t>转人工营养师</a:t>
            </a:r>
            <a:r>
              <a:rPr lang="en-US" sz="1950">
                <a:solidFill>
                  <a:srgbClr val="1E3A32"/>
                </a:solidFill>
                <a:latin typeface="Microsoft YaHei"/>
                <a:ea typeface="Microsoft YaHei"/>
              </a:rPr>
              <a:t> · </a:t>
            </a:r>
            <a:r>
              <a:rPr lang="zh-CN" sz="1950">
                <a:solidFill>
                  <a:srgbClr val="1E3A32"/>
                </a:solidFill>
                <a:latin typeface="Microsoft YaHei"/>
                <a:ea typeface="Microsoft YaHei"/>
              </a:rPr>
              <a:t>好习惯与避坑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685800" y="5972175"/>
            <a:ext cx="4476750" cy="590550"/>
          </a:xfrm>
          <a:prstGeom prst="roundRect">
            <a:avLst>
              <a:gd name="adj" fmla="val 22581"/>
            </a:avLst>
          </a:prstGeom>
          <a:solidFill>
            <a:srgbClr val="FFFFFF">
              <a:alpha val="72000"/>
            </a:srgbClr>
          </a:solidFill>
          <a:ln/>
        </p:spPr>
        <p:txBody>
          <a:bodyPr/>
          <a:p/>
        </p:txBody>
      </p:sp>
      <p:pic>
        <p:nvPicPr>
          <p:cNvPr id="1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57250" y="6143625"/>
            <a:ext cx="247650" cy="247650"/>
          </a:xfrm>
          <a:prstGeom prst="rect">
            <a:avLst/>
          </a:prstGeom>
          <a:ln/>
        </p:spPr>
      </p:pic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1276350" y="6153150"/>
            <a:ext cx="2790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1E3A32"/>
                </a:solidFill>
                <a:latin typeface="Microsoft YaHei"/>
                <a:ea typeface="Microsoft YaHei"/>
              </a:rPr>
              <a:t>9 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页</a:t>
            </a:r>
            <a:r>
              <a:rPr lang="en-US" sz="1500">
                <a:solidFill>
                  <a:srgbClr val="1E3A32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讲练结合</a:t>
            </a:r>
            <a:r>
              <a:rPr lang="en-US" sz="1500">
                <a:solidFill>
                  <a:srgbClr val="1E3A32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已完成第</a:t>
            </a:r>
            <a:r>
              <a:rPr lang="en-US" sz="1500">
                <a:solidFill>
                  <a:srgbClr val="1E3A32"/>
                </a:solidFill>
                <a:latin typeface="Microsoft YaHei"/>
                <a:ea typeface="Microsoft YaHei"/>
              </a:rPr>
              <a:t> 1·2 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套</a:t>
            </a:r>
            <a:endParaRPr/>
          </a:p>
        </p:txBody>
      </p:sp>
      <p:pic>
        <p:nvPicPr>
          <p:cNvPr id="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286500" y="0"/>
            <a:ext cx="5905500" cy="6858000"/>
          </a:xfrm>
          <a:prstGeom prst="rect">
            <a:avLst/>
          </a:prstGeom>
          <a:ln/>
        </p:spPr>
      </p:pic>
    </p:spTree>
  </p:cSld>
</p:sld>
</file>

<file path=ppt/slides/slide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4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用得久才用得顺 · 守住两条红线&lt;/Text&gt;&#10;        &lt;Box style={{ width: 56, height: 4, borderRadius: 2, background: '#1F7A5C', marginTop: 8 }} /&gt;&#10;    &lt;/Box&gt;&#10;&#10;    &lt;Box style={{ height: 528, flexDirection: 'row', gap: 28 }}&gt;&#10;        &lt;Box style={{ width: 560, height: 528, background: '#FFFFFF', borderRadius: 14, padding: 24, boxShadow: '0 4px 20px rgba(30,58,50,0.08)' }}&gt;&#10;            &lt;Box style={{ flexDirection: 'row', alignItems: 'center', gap: 12 }}&gt;&#10;                &lt;FAIcon name='seedling' style={{ fill: '#1F7A5C', width: 28, height: 28 }} /&gt;&#10;                &lt;Text style={{ fontSize: 24, fontWeight: 'bold', color: '#1F7A5C' }}&gt;长期用，才会越问越准&lt;/Text&gt;&#10;            &lt;/Box&gt;&#10;            &lt;Text style={{ fontSize: 20, color: '#1E3A32', lineHeight: 1.6, marginTop: 16 }}&gt;&#10;                用得越久，历史记录和案例都在替你积累背景——你后来问的那句，AI 拿到的信息越来越多，答案也越来越贴你。&#10;            &lt;/Text&gt;&#10;            &lt;svg width=&quot;512&quot; height=&quot;220&quot; viewBox=&quot;0 0 512 220&quot; style={{ marginTop: 16 }}&gt;&#10;                &lt;line x1=&quot;40&quot; y1=&quot;180&quot; x2=&quot;480&quot; y2=&quot;180&quot; stroke=&quot;#DDE7E1&quot; strokeWidth=&quot;2&quot; /&gt;&#10;                &lt;polyline points=&quot;40,170 150,140 260,108 370,70 480,40&quot; fill=&quot;none&quot; stroke=&quot;#1F7A5C&quot; strokeWidth=&quot;4&quot; /&gt;&#10;                &lt;circle cx=&quot;40&quot; cy=&quot;170&quot; r=&quot;6&quot; fill=&quot;#1F7A5C&quot; /&gt;&#10;                &lt;circle cx=&quot;150&quot; cy=&quot;140&quot; r=&quot;6&quot; fill=&quot;#1F7A5C&quot; /&gt;&#10;                &lt;circle cx=&quot;260&quot; cy=&quot;108&quot; r=&quot;6&quot; fill=&quot;#1F7A5C&quot; /&gt;&#10;                &lt;circle cx=&quot;370&quot; cy=&quot;70&quot; r=&quot;6&quot; fill=&quot;#1F7A5C&quot; /&gt;&#10;                &lt;circle cx=&quot;480&quot; cy=&quot;40&quot; r=&quot;6&quot; fill=&quot;#E08A3C&quot; /&gt;&#10;                &lt;text x=&quot;40&quot; y=&quot;206&quot; fontSize=&quot;15&quot; fill=&quot;#6B7C75&quot; fontFamily=&quot;PingFang SC&quot;&gt;第1天&lt;/text&gt;&#10;                &lt;text x=&quot;420&quot; y=&quot;206&quot; fontSize=&quot;15&quot; fill=&quot;#6B7C75&quot; fontFamily=&quot;PingFang SC&quot;&gt;用得越久&lt;/text&gt;&#10;            &lt;/svg&gt;&#10;            &lt;Box style={{ marginTop: 8, background: 'rgba(31,122,92,0.06)', borderRadius: 12, padding: 16 }}&gt;&#10;                &lt;Text style={{ fontSize: 19, color: '#1E3A32', lineHeight: 1.5 }}&gt;&#10;                    所以别浅尝辄止——多用几次，背景就厚了。&#10;                &lt;/Text&gt;&#10;            &lt;/Box&gt;&#10;        &lt;/Box&gt;&#10;&#10;        &lt;Box style={{ flex: 1, height: 528, gap: 20 }}&gt;&#10;            &lt;Text style={{ fontSize: 23, fontWeight: 'bold', color: '#1E3A32' }}&gt;两条红线，先用先守&lt;/Text&gt;&#10;            &lt;Box style={{ background: 'rgba(224,138,60,0.12)', borderRadius: 14, padding: 20, borderLeft: '5px solid #E08A3C' }}&gt;&#10;                &lt;Box style={{ flexDirection: 'row', alignItems: 'center', gap: 10 }}&gt;&#10;                    &lt;FAIcon name='exclamation-triangle' style={{ fill: '#C9742B', width: 26, height: 26 }} /&gt;&#10;                    &lt;Text style={{ fontSize: 21, fontWeight: 'bold', color: '#C9742B' }}&gt;红线一 · 不作诊断&lt;/Text&gt;&#10;                &lt;/Box&gt;&#10;                &lt;Text style={{ fontSize: 19, color: '#1E3A32', lineHeight: 1.55, marginTop: 10 }}&gt;&#10;                    AI 回答是参考，不替代真人判断，不承诺「一定有效」。&#10;                &lt;/Text&gt;&#10;            &lt;/Box&gt;&#10;            &lt;Box style={{ background: 'rgba(224,138,60,0.12)', borderRadius: 14, padding: 20, borderLeft: '5px solid #E08A3C' }}&gt;&#10;                &lt;Box style={{ flexDirection: 'row', alignItems: 'center', gap: 10 }}&gt;&#10;                    &lt;FAIcon name='exclamation-triangle' style={{ fill: '#C9742B', width: 26, height: 26 }} /&gt;&#10;                    &lt;Text style={{ fontSize: 21, fontWeight: 'bold', color: '#C9742B' }}&gt;红线二 · 不填敏感信息&lt;/Text&gt;&#10;                &lt;/Box&gt;&#10;                &lt;Text style={{ fontSize: 19, color: '#1E3A32', lineHeight: 1.55, marginTop: 10 }}&gt;&#10;                    不在聊天里填身份证、病历、住址等敏感信息，用化名即可。&#10;                &lt;/Text&gt;&#10;            &lt;/Box&gt;&#10;            &lt;Box style={{ marginTop: 'auto', background: '#1F7A5C', borderRadius: 14, padding: 18 }}&gt;&#10;                &lt;Text style={{ fontSize: 19, color: '#FFFFFF', lineHeight: 1.5 }}&gt;&#10;                    先立规矩再用，比用错再纠更稳。&#10;                &lt;/Text&gt;&#10;            &lt;/Box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长效使用与协同保障&lt;/Text&gt;&#10;        &lt;/Box&gt;&#10;        &lt;Text style={{ fontSize: 14, color: '#6B7C75' }}&gt;02 / 9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用得久才用得顺</a:t>
            </a:r>
            <a:r>
              <a:rPr lang="en-US" sz="2700" b="1">
                <a:solidFill>
                  <a:srgbClr val="1E3A32"/>
                </a:solidFill>
                <a:latin typeface="Microsoft YaHei"/>
                <a:ea typeface="Microsoft YaHei"/>
              </a:rPr>
              <a:t> · </a:t>
            </a: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守住两条红线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18" name=""/>
          <p:cNvSpPr/>
          <p:nvPr/>
        </p:nvSpPr>
        <p:spPr>
          <a:xfrm rot="0" flipH="0" flipV="0">
            <a:off x="685800" y="1143000"/>
            <a:ext cx="5334000" cy="5029200"/>
          </a:xfrm>
          <a:prstGeom prst="roundRect">
            <a:avLst>
              <a:gd name="adj" fmla="val 2652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14400" y="1381125"/>
            <a:ext cx="266700" cy="266700"/>
          </a:xfrm>
          <a:prstGeom prst="rect">
            <a:avLst/>
          </a:prstGeom>
          <a:ln/>
        </p:spPr>
      </p:pic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295400" y="1371600"/>
            <a:ext cx="2286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F7A5C"/>
                </a:solidFill>
                <a:latin typeface="Microsoft YaHei"/>
                <a:ea typeface="Microsoft YaHei"/>
              </a:rPr>
              <a:t>长期用，才会越问越准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914400" y="1800225"/>
            <a:ext cx="48768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用得越久，历史记录和案例都在替你积累背景——你后来问的那句，</a:t>
            </a:r>
            <a:r>
              <a:rPr lang="en-US" sz="1500">
                <a:solidFill>
                  <a:srgbClr val="1E3A32"/>
                </a:solidFill>
                <a:latin typeface="Microsoft YaHei"/>
                <a:ea typeface="Microsoft YaHei"/>
              </a:rPr>
              <a:t>AI 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拿到的信息越来越多，答案也越来越贴你。</a:t>
            </a:r>
            <a:endParaRPr/>
          </a:p>
        </p:txBody>
      </p:sp>
      <p:pic>
        <p:nvPicPr>
          <p:cNvPr id="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14400" y="2686050"/>
            <a:ext cx="4876800" cy="2095500"/>
          </a:xfrm>
          <a:prstGeom prst="rect">
            <a:avLst/>
          </a:prstGeom>
          <a:ln/>
        </p:spPr>
      </p:pic>
      <p:sp>
        <p:nvSpPr>
          <p:cNvPr id="23" name=""/>
          <p:cNvSpPr/>
          <p:nvPr/>
        </p:nvSpPr>
        <p:spPr>
          <a:xfrm rot="0" flipH="0" flipV="0">
            <a:off x="914400" y="4857750"/>
            <a:ext cx="4876800" cy="638175"/>
          </a:xfrm>
          <a:prstGeom prst="roundRect">
            <a:avLst>
              <a:gd name="adj" fmla="val 17910"/>
            </a:avLst>
          </a:prstGeom>
          <a:solidFill>
            <a:srgbClr val="1F7A5C">
              <a:alpha val="6000"/>
            </a:srgbClr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1066800" y="5010150"/>
            <a:ext cx="45720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所以别浅尝辄止——多用几次，背景就厚了。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286500" y="1143000"/>
            <a:ext cx="52197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E3A32"/>
                </a:solidFill>
                <a:latin typeface="Microsoft YaHei"/>
                <a:ea typeface="Microsoft YaHei"/>
              </a:rPr>
              <a:t>两条红线，先用先守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6334125" y="1600200"/>
            <a:ext cx="5219700" cy="1066800"/>
          </a:xfrm>
          <a:prstGeom prst="roundRect">
            <a:avLst>
              <a:gd name="adj" fmla="val 12500"/>
            </a:avLst>
          </a:prstGeom>
          <a:solidFill>
            <a:srgbClr val="E08A3C">
              <a:alpha val="12000"/>
            </a:srgbClr>
          </a:solidFill>
          <a:ln/>
        </p:spPr>
        <p:txBody>
          <a:bodyPr/>
          <a:p/>
        </p:txBody>
      </p:sp>
      <p:sp>
        <p:nvSpPr>
          <p:cNvPr id="27" name=""/>
          <p:cNvSpPr/>
          <p:nvPr/>
        </p:nvSpPr>
        <p:spPr>
          <a:xfrm rot="0" flipH="0" flipV="0">
            <a:off x="6334125" y="1600200"/>
            <a:ext cx="5219700" cy="1066800"/>
          </a:xfrm>
          <a:custGeom>
            <a:pathLst>
              <a:path w="548" h="112">
                <a:moveTo>
                  <a:pt x="13" y="0"/>
                </a:moveTo>
                <a:cubicBezTo>
                  <a:pt x="9" y="0"/>
                  <a:pt x="5" y="4"/>
                  <a:pt x="5" y="9"/>
                </a:cubicBezTo>
                <a:lnTo>
                  <a:pt x="5" y="103"/>
                </a:lnTo>
                <a:cubicBezTo>
                  <a:pt x="5" y="107"/>
                  <a:pt x="8" y="111"/>
                  <a:pt x="12" y="112"/>
                </a:cubicBezTo>
                <a:cubicBezTo>
                  <a:pt x="5" y="111"/>
                  <a:pt x="0" y="105"/>
                  <a:pt x="0" y="98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E08A3C"/>
          </a:solidFill>
          <a:ln/>
        </p:spPr>
        <p:txBody>
          <a:bodyPr/>
          <a:p/>
        </p:txBody>
      </p:sp>
      <p:pic>
        <p:nvPicPr>
          <p:cNvPr id="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524625" y="1790700"/>
            <a:ext cx="247650" cy="247650"/>
          </a:xfrm>
          <a:prstGeom prst="rect">
            <a:avLst/>
          </a:prstGeom>
          <a:ln/>
        </p:spPr>
      </p:pic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6867525" y="1790700"/>
            <a:ext cx="15811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C9742B"/>
                </a:solidFill>
                <a:latin typeface="Microsoft YaHei"/>
                <a:ea typeface="Microsoft YaHei"/>
              </a:rPr>
              <a:t>红线一</a:t>
            </a:r>
            <a:r>
              <a:rPr lang="en-US" sz="1575" b="1">
                <a:solidFill>
                  <a:srgbClr val="C9742B"/>
                </a:solidFill>
                <a:latin typeface="Microsoft YaHei"/>
                <a:ea typeface="Microsoft YaHei"/>
              </a:rPr>
              <a:t> · </a:t>
            </a:r>
            <a:r>
              <a:rPr lang="zh-CN" sz="1575" b="1">
                <a:solidFill>
                  <a:srgbClr val="C9742B"/>
                </a:solidFill>
                <a:latin typeface="Microsoft YaHei"/>
                <a:ea typeface="Microsoft YaHei"/>
              </a:rPr>
              <a:t>不作诊断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6524625" y="2133600"/>
            <a:ext cx="4791075" cy="3429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425">
                <a:solidFill>
                  <a:srgbClr val="1E3A32"/>
                </a:solidFill>
                <a:latin typeface="Microsoft YaHei"/>
                <a:ea typeface="Microsoft YaHei"/>
              </a:rPr>
              <a:t>AI </a:t>
            </a: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回答是参考，不替代真人判断，不承诺「一定有效」。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6334125" y="2857500"/>
            <a:ext cx="5219700" cy="1400175"/>
          </a:xfrm>
          <a:prstGeom prst="roundRect">
            <a:avLst>
              <a:gd name="adj" fmla="val 9524"/>
            </a:avLst>
          </a:prstGeom>
          <a:solidFill>
            <a:srgbClr val="E08A3C">
              <a:alpha val="12000"/>
            </a:srgbClr>
          </a:solidFill>
          <a:ln/>
        </p:spPr>
        <p:txBody>
          <a:bodyPr/>
          <a:p/>
        </p:txBody>
      </p:sp>
      <p:sp>
        <p:nvSpPr>
          <p:cNvPr id="32" name=""/>
          <p:cNvSpPr/>
          <p:nvPr/>
        </p:nvSpPr>
        <p:spPr>
          <a:xfrm rot="0" flipH="0" flipV="0">
            <a:off x="6334125" y="2857500"/>
            <a:ext cx="5219700" cy="1400175"/>
          </a:xfrm>
          <a:custGeom>
            <a:pathLst>
              <a:path w="548" h="147">
                <a:moveTo>
                  <a:pt x="13" y="0"/>
                </a:moveTo>
                <a:cubicBezTo>
                  <a:pt x="9" y="0"/>
                  <a:pt x="5" y="4"/>
                  <a:pt x="5" y="9"/>
                </a:cubicBezTo>
                <a:lnTo>
                  <a:pt x="5" y="138"/>
                </a:lnTo>
                <a:cubicBezTo>
                  <a:pt x="5" y="142"/>
                  <a:pt x="8" y="146"/>
                  <a:pt x="12" y="147"/>
                </a:cubicBezTo>
                <a:cubicBezTo>
                  <a:pt x="5" y="146"/>
                  <a:pt x="0" y="140"/>
                  <a:pt x="0" y="133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E08A3C"/>
          </a:solidFill>
          <a:ln/>
        </p:spPr>
        <p:txBody>
          <a:bodyPr/>
          <a:p/>
        </p:txBody>
      </p:sp>
      <p:pic>
        <p:nvPicPr>
          <p:cNvPr id="3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524625" y="3048000"/>
            <a:ext cx="247650" cy="247650"/>
          </a:xfrm>
          <a:prstGeom prst="rect">
            <a:avLst/>
          </a:prstGeom>
          <a:ln/>
        </p:spPr>
      </p:pic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867525" y="3048000"/>
            <a:ext cx="1981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C9742B"/>
                </a:solidFill>
                <a:latin typeface="Microsoft YaHei"/>
                <a:ea typeface="Microsoft YaHei"/>
              </a:rPr>
              <a:t>红线二</a:t>
            </a:r>
            <a:r>
              <a:rPr lang="en-US" sz="1575" b="1">
                <a:solidFill>
                  <a:srgbClr val="C9742B"/>
                </a:solidFill>
                <a:latin typeface="Microsoft YaHei"/>
                <a:ea typeface="Microsoft YaHei"/>
              </a:rPr>
              <a:t> · </a:t>
            </a:r>
            <a:r>
              <a:rPr lang="zh-CN" sz="1575" b="1">
                <a:solidFill>
                  <a:srgbClr val="C9742B"/>
                </a:solidFill>
                <a:latin typeface="Microsoft YaHei"/>
                <a:ea typeface="Microsoft YaHei"/>
              </a:rPr>
              <a:t>不填敏感信息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6524625" y="3390900"/>
            <a:ext cx="4791075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不在聊天里填身份证、病历、住址等敏感信息，用化名即可。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6286500" y="5495925"/>
            <a:ext cx="5219700" cy="676275"/>
          </a:xfrm>
          <a:prstGeom prst="roundRect">
            <a:avLst>
              <a:gd name="adj" fmla="val 19718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457950" y="5667375"/>
            <a:ext cx="48768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先立规矩再用，比用错再纠更稳。</a:t>
            </a:r>
            <a:endParaRPr/>
          </a:p>
        </p:txBody>
      </p:sp>
      <p:pic>
        <p:nvPicPr>
          <p:cNvPr id="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长效使用与协同保障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1163300" y="6286500"/>
            <a:ext cx="342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02 / 9</a:t>
            </a:r>
            <a:endParaRPr/>
          </a:p>
        </p:txBody>
      </p:sp>
    </p:spTree>
  </p:cSld>
</p:sld>
</file>

<file path=ppt/slides/slide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41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社区问答怎么用&lt;/Text&gt;&#10;        &lt;Box style={{ width: 56, height: 4, borderRadius: 2, background: '#1F7A5C', marginTop: 8 }} /&gt;&#10;    &lt;/Box&gt;&#10;&#10;    &lt;Box style={{ height: 528 }}&gt;&#10;        &lt;Box style={{ height: 290, background: '#FFFFFF', borderRadius: 14, padding: 16, boxShadow: '0 4px 20px rgba(30,58,50,0.08)' }}&gt;&#10;            &lt;svg width=&quot;1104&quot; height=&quot;258&quot; viewBox=&quot;0 0 1104 258&quot;&gt;&#10;                &lt;rect x=&quot;14&quot; y=&quot;24&quot; width=&quot;400&quot; height=&quot;210&quot; rx=&quot;16&quot; fill=&quot;#F7FAF6&quot; /&gt;&#10;                &lt;rect x=&quot;14&quot; y=&quot;24&quot; width=&quot;400&quot; height=&quot;210&quot; rx=&quot;16&quot; fill=&quot;none&quot; stroke=&quot;#DDE7E1&quot; strokeWidth=&quot;2&quot; /&gt;&#10;                &lt;rect x=&quot;40&quot; y=&quot;50&quot; width=&quot;280&quot; height=&quot;18&quot; rx=&quot;9&quot; fill=&quot;#1F7A5C&quot; /&gt;&#10;                &lt;rect x=&quot;40&quot; y=&quot;88&quot; width=&quot;340&quot; height=&quot;11&quot; rx=&quot;5&quot; fill=&quot;#A8D5BA&quot; /&gt;&#10;                &lt;rect x=&quot;40&quot; y=&quot;112&quot; width=&quot;300&quot; height=&quot;11&quot; rx=&quot;5&quot; fill=&quot;#A8D5BA&quot; /&gt;&#10;                &lt;rect x=&quot;40&quot; y=&quot;150&quot; width=&quot;86&quot; height=&quot;26&quot; rx=&quot;13&quot; fill=&quot;rgba(31,122,92,0.16)&quot; /&gt;&#10;                &lt;rect x=&quot;136&quot; y=&quot;150&quot; width=&quot;70&quot; height=&quot;26&quot; rx=&quot;13&quot; fill=&quot;rgba(31,122,92,0.16)&quot; /&gt;&#10;                &lt;rect x=&quot;40&quot; y=&quot;196&quot; width=&quot;150&quot; height=&quot;12&quot; rx=&quot;6&quot; fill=&quot;#A8D5BA&quot; opacity=&quot;0.7&quot; /&gt;&#10;&#10;                &lt;rect x=&quot;440&quot; y=&quot;24&quot; width=&quot;650&quot; height=&quot;96&quot; rx=&quot;16&quot; fill=&quot;rgba(168,213,186,0.42)&quot; /&gt;&#10;                &lt;circle cx=&quot;480&quot; cy=&quot;72&quot; r=&quot;22&quot; fill=&quot;#FFFFFF&quot; /&gt;&#10;                &lt;circle cx=&quot;480&quot; cy=&quot;66&quot; r=&quot;8&quot; fill=&quot;#1F7A5C&quot; opacity=&quot;0.6&quot; /&gt;&#10;                &lt;path d=&quot;M460 92 a20 20 0 0 1 40 0 z&quot; fill=&quot;#1F7A5C&quot; opacity=&quot;0.6&quot; /&gt;&#10;                &lt;rect x=&quot;518&quot; y=&quot;52&quot; width=&quot;380&quot; height=&quot;12&quot; rx=&quot;6&quot; fill=&quot;#1E3A32&quot; opacity=&quot;0.55&quot; /&gt;&#10;                &lt;rect x=&quot;518&quot; y=&quot;76&quot; width=&quot;300&quot; height=&quot;12&quot; rx=&quot;6&quot; fill=&quot;#1E3A32&quot; opacity=&quot;0.35&quot; /&gt;&#10;                &lt;circle cx=&quot;1044&quot; cy=&quot;72&quot; r=&quot;20&quot; fill=&quot;#FFFFFF&quot; opacity=&quot;0.8&quot; /&gt;&#10;                &lt;path d=&quot;M1036 66 v-6 a8 8 0 0 1 16 0 v6 h6 a6 6 0 0 1 6 6 v12 a6 6 0 0 1 -6 6 h-22 a6 6 0 0 1 -6 -6 v-12 a6 6 0 0 1 6 -6 z&quot; fill=&quot;#1F7A5C&quot; /&gt;&#10;                &lt;text x=&quot;1014&quot; y=&quot;116&quot; textAnchor=&quot;middle&quot; fontSize=&quot;17&quot; fill=&quot;#6B7C75&quot; fontFamily=&quot;PingFang SC&quot;&gt;12&lt;/text&gt;&#10;&#10;                &lt;rect x=&quot;440&quot; y=&quot;146&quot; width=&quot;650&quot; height=&quot;64&quot; rx=&quot;16&quot; fill=&quot;#1F7A5C&quot; /&gt;&#10;                &lt;circle cx=&quot;480&quot; cy=&quot;178&quot; r=&quot;20&quot; fill=&quot;#FFFFFF&quot; opacity=&quot;0.25&quot; /&gt;&#10;                &lt;rect x=&quot;518&quot; y=&quot;162&quot; width=&quot;330&quot; height=&quot;12&quot; rx=&quot;6&quot; fill=&quot;#FFFFFF&quot; opacity=&quot;0.85&quot; /&gt;&#10;                &lt;rect x=&quot;518&quot; y=&quot;184&quot; width=&quot;220&quot; height=&quot;10&quot; rx=&quot;5&quot; fill=&quot;#FFFFFF&quot; opacity=&quot;0.5&quot; /&gt;&#10;                &lt;rect x=&quot;920&quot; y=&quot;164&quot; width=&quot;150&quot; height=&quot;28&quot; rx=&quot;14&quot; fill=&quot;#E08A3C&quot; /&gt;&#10;                &lt;text x=&quot;995&quot; y=&quot;184&quot; textAnchor=&quot;middle&quot; fontSize=&quot;17&quot; fill=&quot;#FFFFFF&quot; fontFamily=&quot;PingFang SC&quot;&gt;审核中&lt;/text&gt;&#10;&#10;                &lt;text x=&quot;214&quot; y=&quot;252&quot; textAnchor=&quot;middle&quot; fontSize=&quot;18&quot; fill=&quot;#6B7C75&quot; fontFamily=&quot;PingFang SC&quot;&gt;别人提的问题&lt;/text&gt;&#10;                &lt;text x=&quot;765&quot; y=&quot;252&quot; textAnchor=&quot;middle&quot; fontSize=&quot;18&quot; fill=&quot;#6B7C75&quot; fontFamily=&quot;PingFang SC&quot;&gt;已公开的回复 · 可点赞&lt;/text&gt;&#10;            &lt;/svg&gt;&#10;        &lt;/Box&gt;&#10;&#10;        &lt;Box style={{&#10;            height: 214, marginTop: 14, flexDirection: 'row', gap: 20,&#10;            background: 'rgba(31,122,92,0.08)', borderRadius: 14, padding: 24,&#10;        }}&gt;&#10;            &lt;Box style={{ flex: 1, gap: 10 }}&gt;&#10;                &lt;Box style={{ flexDirection: 'row', gap: 14, alignItems: 'center' }}&gt;&#10;                    &lt;Box style={{ width: 40, height: 40, borderRadius: 20, background: '#1F7A5C', justifyContent: 'center', alignItems: 'center' }}&gt;&#10;                        &lt;FAIcon name='comments' style={{ fill: '#FFFFFF', width: 22, height: 22 }} /&gt;&#10;                    &lt;/Box&gt;&#10;                    &lt;Text style={{ fontSize: 20, color: '#1E3A32' }}&gt;&#10;                        &lt;span style={{ fontWeight: 'bold' }}&gt;逛&lt;/span&gt;：看别人都在问什么，这是现成的选题库和话题库&#10;                    &lt;/Text&gt;&#10;                &lt;/Box&gt;&#10;                &lt;Box style={{ flexDirection: 'row', gap: 14, alignItems: 'center' }}&gt;&#10;                    &lt;Box style={{ width: 40, height: 40, borderRadius: 20, background: '#1F7A5C', justifyContent: 'center', alignItems: 'center' }}&gt;&#10;                        &lt;FAIcon name='eye' style={{ fill: '#FFFFFF', width: 22, height: 22 }} /&gt;&#10;                    &lt;/Box&gt;&#10;                    &lt;Text style={{ fontSize: 20, color: '#1E3A32' }}&gt;&#10;                        &lt;span style={{ fontWeight: 'bold' }}&gt;看&lt;/span&gt;：看别人怎么回答，比自己从零憋一套说法快得多&#10;                    &lt;/Text&gt;&#10;                &lt;/Box&gt;&#10;                &lt;Box style={{ flexDirection: 'row', gap: 14, alignItems: 'center' }}&gt;&#10;                    &lt;Box style={{ width: 40, height: 40, borderRadius: 20, background: '#1F7A5C', justifyContent: 'center', alignItems: 'center' }}&gt;&#10;                        &lt;FAIcon name='thumbs-up' style={{ fill: '#FFFFFF', width: 22, height: 22 }} /&gt;&#10;                    &lt;/Box&gt;&#10;                    &lt;Text style={{ fontSize: 20, color: '#1E3A32' }}&gt;&#10;                        &lt;span style={{ fontWeight: 'bold' }}&gt;赞&lt;/span&gt;：觉得有用就点个赞，好内容会被更多人看到&#10;                    &lt;/Text&gt;&#10;                &lt;/Box&gt;&#10;                &lt;Box style={{ flexDirection: 'row', gap: 14, alignItems: 'center' }}&gt;&#10;                    &lt;Box style={{ width: 40, height: 40, borderRadius: 20, background: '#E08A3C', justifyContent: 'center', alignItems: 'center' }}&gt;&#10;                        &lt;FAIcon name='edit' style={{ fill: '#FFFFFF', width: 22, height: 22 }} /&gt;&#10;                    &lt;/Box&gt;&#10;                    &lt;Text style={{ fontSize: 20, color: '#1E3A32' }}&gt;&#10;                        &lt;span style={{ fontWeight: 'bold' }}&gt;发&lt;/span&gt;：自己也能回复，默认以「匿名用户」的身份发布&#10;                    &lt;/Text&gt;&#10;                &lt;/Box&gt;&#10;            &lt;/Box&gt;&#10;&#10;            &lt;Box style={{&#10;                width: 340, background: '#FFFFFF', borderRadius: 14, padding: 18, justifyContent: 'center',&#10;            }}&gt;&#10;                &lt;Box style={{ flexDirection: 'row', alignItems: 'center', gap: 10 }}&gt;&#10;                    &lt;FAIcon name='shield' style={{ fill: '#E08A3C', width: 24, height: 24 }} /&gt;&#10;                    &lt;Text style={{ fontSize: 21, fontWeight: 'bold', color: '#1E3A32' }}&gt;回复要先审核&lt;/Text&gt;&#10;                &lt;/Box&gt;&#10;                &lt;Text style={{ fontSize: 19, color: '#6B7C75', lineHeight: 1.55, marginTop: 10 }}&gt;&#10;                    新回复提交后是&quot;审核中&quot;，这段时间只有你自己看得见——不是没发出去。审核通过后才会对所有人生效。&#10;                &lt;/Text&gt;&#10;            &lt;/Box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长效使用与协同保障&lt;/Text&gt;&#10;        &lt;/Box&gt;&#10;        &lt;Text style={{ fontSize: 14, color: '#6B7C75' }}&gt;03 / 9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社区问答怎么用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45" name=""/>
          <p:cNvSpPr/>
          <p:nvPr/>
        </p:nvSpPr>
        <p:spPr>
          <a:xfrm rot="0" flipH="0" flipV="0">
            <a:off x="685800" y="1143000"/>
            <a:ext cx="10820400" cy="276225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4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38200" y="1295400"/>
            <a:ext cx="10515600" cy="2457450"/>
          </a:xfrm>
          <a:prstGeom prst="rect">
            <a:avLst/>
          </a:prstGeom>
          <a:ln/>
        </p:spPr>
      </p:pic>
      <p:sp>
        <p:nvSpPr>
          <p:cNvPr id="47" name=""/>
          <p:cNvSpPr/>
          <p:nvPr/>
        </p:nvSpPr>
        <p:spPr>
          <a:xfrm rot="0" flipH="0" flipV="0">
            <a:off x="685800" y="4038600"/>
            <a:ext cx="10820400" cy="2038350"/>
          </a:xfrm>
          <a:prstGeom prst="roundRect">
            <a:avLst>
              <a:gd name="adj" fmla="val 6542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48" name=""/>
          <p:cNvSpPr/>
          <p:nvPr/>
        </p:nvSpPr>
        <p:spPr>
          <a:xfrm rot="0" flipH="0" flipV="0">
            <a:off x="914400" y="42672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pic>
        <p:nvPicPr>
          <p:cNvPr id="4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000125" y="4352925"/>
            <a:ext cx="209550" cy="209550"/>
          </a:xfrm>
          <a:prstGeom prst="rect">
            <a:avLst/>
          </a:prstGeom>
          <a:ln/>
        </p:spPr>
      </p:pic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1428750" y="4343400"/>
            <a:ext cx="438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3A32"/>
                </a:solidFill>
                <a:latin typeface="Microsoft YaHei"/>
                <a:ea typeface="Microsoft YaHei"/>
              </a:rPr>
              <a:t>逛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：看别人都在问什么，这是现成的选题库和话题库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914400" y="47434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pic>
        <p:nvPicPr>
          <p:cNvPr id="5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1000125" y="4829175"/>
            <a:ext cx="209550" cy="209550"/>
          </a:xfrm>
          <a:prstGeom prst="rect">
            <a:avLst/>
          </a:prstGeom>
          <a:ln/>
        </p:spPr>
      </p:pic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428750" y="4819650"/>
            <a:ext cx="438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3A32"/>
                </a:solidFill>
                <a:latin typeface="Microsoft YaHei"/>
                <a:ea typeface="Microsoft YaHei"/>
              </a:rPr>
              <a:t>看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：看别人怎么回答，比自己从零憋一套说法快得多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914400" y="52197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pic>
        <p:nvPicPr>
          <p:cNvPr id="5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1000125" y="5305425"/>
            <a:ext cx="209550" cy="209550"/>
          </a:xfrm>
          <a:prstGeom prst="rect">
            <a:avLst/>
          </a:prstGeom>
          <a:ln/>
        </p:spPr>
      </p:pic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1428750" y="5295900"/>
            <a:ext cx="400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3A32"/>
                </a:solidFill>
                <a:latin typeface="Microsoft YaHei"/>
                <a:ea typeface="Microsoft YaHei"/>
              </a:rPr>
              <a:t>赞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：觉得有用就点个赞，好内容会被更多人看到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914400" y="56959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E08A3C"/>
          </a:solidFill>
          <a:ln/>
        </p:spPr>
        <p:txBody>
          <a:bodyPr/>
          <a:p/>
        </p:txBody>
      </p:sp>
      <p:pic>
        <p:nvPicPr>
          <p:cNvPr id="5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1000125" y="5781675"/>
            <a:ext cx="209550" cy="209550"/>
          </a:xfrm>
          <a:prstGeom prst="rect">
            <a:avLst/>
          </a:prstGeom>
          <a:ln/>
        </p:spPr>
      </p:pic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428750" y="5772150"/>
            <a:ext cx="438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3A32"/>
                </a:solidFill>
                <a:latin typeface="Microsoft YaHei"/>
                <a:ea typeface="Microsoft YaHei"/>
              </a:rPr>
              <a:t>发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：自己也能回复，默认以「匿名用户」的身份发布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8039100" y="4267200"/>
            <a:ext cx="3238500" cy="1704975"/>
          </a:xfrm>
          <a:prstGeom prst="roundRect">
            <a:avLst>
              <a:gd name="adj" fmla="val 7821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6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8210550" y="4448175"/>
            <a:ext cx="228600" cy="228600"/>
          </a:xfrm>
          <a:prstGeom prst="rect">
            <a:avLst/>
          </a:prstGeom>
          <a:ln/>
        </p:spPr>
      </p:pic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8534400" y="4438650"/>
            <a:ext cx="12001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3A32"/>
                </a:solidFill>
                <a:latin typeface="Microsoft YaHei"/>
                <a:ea typeface="Microsoft YaHei"/>
              </a:rPr>
              <a:t>回复要先审核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8210550" y="4781550"/>
            <a:ext cx="2895600" cy="1019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新回复提交后是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审核中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，这段时间只有你自己看得见——不是没发出去。审核通过后才会对所有人生效。</a:t>
            </a:r>
            <a:endParaRPr/>
          </a:p>
        </p:txBody>
      </p:sp>
      <p:pic>
        <p:nvPicPr>
          <p:cNvPr id="6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长效使用与协同保障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1163300" y="6286500"/>
            <a:ext cx="342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03 / 9</a:t>
            </a:r>
            <a:endParaRPr/>
          </a:p>
        </p:txBody>
      </p:sp>
    </p:spTree>
  </p:cSld>
</p:sld>
</file>

<file path=ppt/slides/slide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67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社区问答的审核与安全&lt;/Text&gt;&#10;        &lt;Box style={{ width: 56, height: 4, borderRadius: 2, background: '#1F7A5C', marginTop: 8 }} /&gt;&#10;    &lt;/Box&gt;&#10;&#10;    &lt;Box style={{ height: 528, flexDirection: 'row', gap: 28 }}&gt;&#10;        &lt;Box style={{ flex: 1, height: 528 }}&gt;&#10;            &lt;Text style={{ fontSize: 24, fontWeight: 'bold', color: '#1F7A5C', lineHeight: 1.4 }}&gt;&#10;                匿名 + 先审后公开，既保护你也保护大家&#10;            &lt;/Text&gt;&#10;            &lt;Box style={{ marginTop: 18, gap: 16 }}&gt;&#10;                &lt;Box style={{ flexDirection: 'row', gap: 12, alignItems: 'flex-start' }}&gt;&#10;                    &lt;FAIcon name='user-secret' style={{ fill: '#1F7A5C', width: 26, height: 26 }} /&gt;&#10;                    &lt;Box&gt;&#10;                        &lt;Text style={{ fontSize: 21, fontWeight: 'bold', color: '#1E3A32' }}&gt;回复默认匿名&lt;/Text&gt;&#10;                        &lt;Text style={{ fontSize: 19, color: '#6B7C75', lineHeight: 1.5 }}&gt;不暴露你是谁，放心参与讨论。&lt;/Text&gt;&#10;                    &lt;/Box&gt;&#10;                &lt;/Box&gt;&#10;                &lt;Box style={{ flexDirection: 'row', gap: 12, alignItems: 'flex-start' }}&gt;&#10;                    &lt;FAIcon name='eye-slash' style={{ fill: '#1F7A5C', width: 26, height: 26 }} /&gt;&#10;                    &lt;Box&gt;&#10;                        &lt;Text style={{ fontSize: 21, fontWeight: 'bold', color: '#1E3A32' }}&gt;先审后公开&lt;/Text&gt;&#10;                        &lt;Text style={{ fontSize: 19, color: '#6B7C75', lineHeight: 1.5 }}&gt;新回复审核中，只有你自己看得见。&lt;/Text&gt;&#10;                    &lt;/Box&gt;&#10;                &lt;/Box&gt;&#10;                &lt;Box style={{ flexDirection: 'row', gap: 12, alignItems: 'flex-start' }}&gt;&#10;                    &lt;FAIcon name='filter' style={{ fill: '#1F7A5C', width: 26, height: 26 }} /&gt;&#10;                    &lt;Box&gt;&#10;                        &lt;Text style={{ fontSize: 21, fontWeight: 'bold', color: '#1E3A32' }}&gt;屏蔽词机制&lt;/Text&gt;&#10;                        &lt;Text style={{ fontSize: 19, color: '#6B7C75', lineHeight: 1.5 }}&gt;过滤不当内容，社区环境更干净。&lt;/Text&gt;&#10;                    &lt;/Box&gt;&#10;                &lt;/Box&gt;&#10;            &lt;/Box&gt;&#10;            &lt;Box style={{ marginTop: 22, background: 'rgba(31,122,92,0.06)', borderRadius: 14, padding: 18 }}&gt;&#10;                &lt;Text style={{ fontSize: 19, color: '#1E3A32', lineHeight: 1.55 }}&gt;&#10;                    规则不是来管你的，是让你敢于提问、敢于分享——匿名与先审，把「说错话」的顾虑降到最低。&#10;                &lt;/Text&gt;&#10;            &lt;/Box&gt;&#10;        &lt;/Box&gt;&#10;&#10;        &lt;Box style={{ width: 520, height: 528, background: '#FFFFFF', borderRadius: 14, padding: 22, boxShadow: '0 4px 20px rgba(30,58,50,0.08)' }}&gt;&#10;            &lt;Text style={{ fontSize: 21, fontWeight: 'bold', color: '#1E3A32' }}&gt;一条回复的去向&lt;/Text&gt;&#10;            &lt;svg width=&quot;476&quot; height=&quot;440&quot; viewBox=&quot;0 0 476 440&quot; style={{ marginTop: 10 }}&gt;&#10;                &lt;rect x=&quot;40&quot; y=&quot;40&quot; width=&quot;150&quot; height=&quot;56&quot; rx=&quot;14&quot; fill=&quot;#1F7A5C&quot; /&gt;&#10;                &lt;text x=&quot;115&quot; y=&quot;74&quot; textAnchor=&quot;middle&quot; fontSize=&quot;21&quot; fill=&quot;#FFFFFF&quot; fontFamily=&quot;PingFang SC&quot;&gt;提交回复&lt;/text&gt;&#10;&#10;                &lt;line x1=&quot;190&quot; y1=&quot;68&quot; x2=&quot;240&quot; y2=&quot;68&quot; stroke=&quot;#A8D5BA&quot; strokeWidth=&quot;3&quot; /&gt;&#10;                &lt;path d=&quot;M240 68 l-10 -6 l0 12 z&quot; fill=&quot;#A8D5BA&quot; /&gt;&#10;&#10;                &lt;rect x=&quot;250&quot; y=&quot;40&quot; width=&quot;186&quot; height=&quot;56&quot; rx=&quot;14&quot; fill=&quot;#E08A3C&quot; /&gt;&#10;                &lt;text x=&quot;343&quot; y=&quot;74&quot; textAnchor=&quot;middle&quot; fontSize=&quot;21&quot; fill=&quot;#FFFFFF&quot; fontFamily=&quot;PingFang SC&quot;&gt;待审（仅自己可见）&lt;/text&gt;&#10;&#10;                &lt;line x1=&quot;343&quot; y1=&quot;96&quot; x2=&quot;343&quot; y2=&quot;160&quot; stroke=&quot;#A8D5BA&quot; strokeWidth=&quot;3&quot; /&gt;&#10;                &lt;path d=&quot;M343 160 l-6 -10 l12 0 z&quot; fill=&quot;#A8D5BA&quot; /&gt;&#10;&#10;                &lt;rect x=&quot;250&quot; y=&quot;170&quot; width=&quot;186&quot; height=&quot;56&quot; rx=&quot;14&quot; fill=&quot;#1F7A5C&quot; /&gt;&#10;                &lt;text x=&quot;343&quot; y=&quot;204&quot; textAnchor=&quot;middle&quot; fontSize=&quot;21&quot; fill=&quot;#FFFFFF&quot; fontFamily=&quot;PingFang SC&quot;&gt;审核通过 · 公开&lt;/text&gt;&#10;&#10;                &lt;rect x=&quot;200&quot; y=&quot;320&quot; width=&quot;240&quot; height=&quot;56&quot; rx=&quot;14&quot; fill=&quot;rgba(168,213,186,0.45)&quot; /&gt;&#10;                &lt;text x=&quot;320&quot; y=&quot;354&quot; textAnchor=&quot;middle&quot; fontSize=&quot;20&quot; fill=&quot;#1E3A32&quot; fontFamily=&quot;PingFang SC&quot;&gt;未过审 · 隐藏/不公开&lt;/text&gt;&#10;&#10;                &lt;line x1=&quot;343&quot; y1=&quot;226&quot; x2=&quot;343&quot; y2=&quot;300&quot; stroke=&quot;#A8D5BA&quot; strokeWidth=&quot;3&quot; strokeDasharray=&quot;6 5&quot; /&gt;&#10;                &lt;path d=&quot;M343 300 l-6 -10 l12 0 z&quot; fill=&quot;#A8D5BA&quot; /&gt;&#10;                &lt;line x1=&quot;343&quot; y1=&quot;300&quot; x2=&quot;320&quot; y2=&quot;320&quot; stroke=&quot;#A8D5BA&quot; strokeWidth=&quot;3&quot; strokeDasharray=&quot;6 5&quot; /&gt;&#10;&#10;                &lt;text x=&quot;90&quot; y=&quot;300&quot; fontSize=&quot;16&quot; fill=&quot;#6B7C75&quot; fontFamily=&quot;PingFang SC&quot;&gt;通过&lt;/text&gt;&#10;                &lt;text x=&quot;408&quot; y=&quot;300&quot; fontSize=&quot;16&quot; fill=&quot;#6B7C75&quot; fontFamily=&quot;PingFang SC&quot;&gt;未过&lt;/text&gt;&#10;            &lt;/svg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长效使用与协同保障&lt;/Text&gt;&#10;        &lt;/Box&gt;&#10;        &lt;Text style={{ fontSize: 14, color: '#6B7C75' }}&gt;04 / 9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社区问答的审核与安全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560070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1F7A5C"/>
                </a:solidFill>
                <a:latin typeface="Microsoft YaHei"/>
                <a:ea typeface="Microsoft YaHei"/>
              </a:rPr>
              <a:t>匿名</a:t>
            </a:r>
            <a:r>
              <a:rPr lang="en-US" sz="1800" b="1">
                <a:solidFill>
                  <a:srgbClr val="1F7A5C"/>
                </a:solidFill>
                <a:latin typeface="Microsoft YaHei"/>
                <a:ea typeface="Microsoft YaHei"/>
              </a:rPr>
              <a:t> + </a:t>
            </a:r>
            <a:r>
              <a:rPr lang="zh-CN" sz="1800" b="1">
                <a:solidFill>
                  <a:srgbClr val="1F7A5C"/>
                </a:solidFill>
                <a:latin typeface="Microsoft YaHei"/>
                <a:ea typeface="Microsoft YaHei"/>
              </a:rPr>
              <a:t>先审后公开，既保护你也保护大家</a:t>
            </a:r>
            <a:endParaRPr/>
          </a:p>
        </p:txBody>
      </p:sp>
      <p:pic>
        <p:nvPicPr>
          <p:cNvPr id="7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1704975"/>
            <a:ext cx="247650" cy="247650"/>
          </a:xfrm>
          <a:prstGeom prst="rect">
            <a:avLst/>
          </a:prstGeom>
          <a:ln/>
        </p:spPr>
      </p:pic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1047750" y="1704975"/>
            <a:ext cx="25336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3A32"/>
                </a:solidFill>
                <a:latin typeface="Microsoft YaHei"/>
                <a:ea typeface="Microsoft YaHei"/>
              </a:rPr>
              <a:t>回复默认匿名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1047750" y="1952625"/>
            <a:ext cx="253365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不暴露你是谁，放心参与讨论。</a:t>
            </a:r>
            <a:endParaRPr/>
          </a:p>
        </p:txBody>
      </p:sp>
      <p:pic>
        <p:nvPicPr>
          <p:cNvPr id="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85800" y="2438400"/>
            <a:ext cx="247650" cy="247650"/>
          </a:xfrm>
          <a:prstGeom prst="rect">
            <a:avLst/>
          </a:prstGeom>
          <a:ln/>
        </p:spPr>
      </p:pic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1047750" y="2438400"/>
            <a:ext cx="28956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3A32"/>
                </a:solidFill>
                <a:latin typeface="Microsoft YaHei"/>
                <a:ea typeface="Microsoft YaHei"/>
              </a:rPr>
              <a:t>先审后公开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1047750" y="2686050"/>
            <a:ext cx="28956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新回复审核中，只有你自己看得见。</a:t>
            </a:r>
            <a:endParaRPr/>
          </a:p>
        </p:txBody>
      </p:sp>
      <p:pic>
        <p:nvPicPr>
          <p:cNvPr id="7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85800" y="3171825"/>
            <a:ext cx="247650" cy="247650"/>
          </a:xfrm>
          <a:prstGeom prst="rect">
            <a:avLst/>
          </a:prstGeom>
          <a:ln/>
        </p:spPr>
      </p:pic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047750" y="3171825"/>
            <a:ext cx="27146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3A32"/>
                </a:solidFill>
                <a:latin typeface="Microsoft YaHei"/>
                <a:ea typeface="Microsoft YaHei"/>
              </a:rPr>
              <a:t>屏蔽词机制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1047750" y="3419475"/>
            <a:ext cx="2714625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过滤不当内容，社区环境更干净。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685800" y="3962400"/>
            <a:ext cx="5600700" cy="1019175"/>
          </a:xfrm>
          <a:prstGeom prst="roundRect">
            <a:avLst>
              <a:gd name="adj" fmla="val 13084"/>
            </a:avLst>
          </a:prstGeom>
          <a:solidFill>
            <a:srgbClr val="1F7A5C">
              <a:alpha val="6000"/>
            </a:srgbClr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857250" y="4133850"/>
            <a:ext cx="525780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规则不是来管你的，是让你敢于提问、敢于分享——匿名与先审，把「说错话」的顾虑降到最低。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6553200" y="1143000"/>
            <a:ext cx="4953000" cy="502920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6762750" y="1352550"/>
            <a:ext cx="45339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3A32"/>
                </a:solidFill>
                <a:latin typeface="Microsoft YaHei"/>
                <a:ea typeface="Microsoft YaHei"/>
              </a:rPr>
              <a:t>一条回复的去向</a:t>
            </a:r>
            <a:endParaRPr/>
          </a:p>
        </p:txBody>
      </p:sp>
      <p:pic>
        <p:nvPicPr>
          <p:cNvPr id="8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762750" y="1695450"/>
            <a:ext cx="4533900" cy="4191000"/>
          </a:xfrm>
          <a:prstGeom prst="rect">
            <a:avLst/>
          </a:prstGeom>
          <a:ln/>
        </p:spPr>
      </p:pic>
      <p:pic>
        <p:nvPicPr>
          <p:cNvPr id="8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长效使用与协同保障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11163300" y="6286500"/>
            <a:ext cx="342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04 / 9</a:t>
            </a:r>
            <a:endParaRPr/>
          </a:p>
        </p:txBody>
      </p:sp>
    </p:spTree>
  </p:cSld>
</p:sld>
</file>

<file path=ppt/slides/slide5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89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深度调理答疑与真人营养师&lt;/Text&gt;&#10;        &lt;Box style={{ width: 56, height: 4, borderRadius: 2, background: '#1F7A5C', marginTop: 8 }} /&gt;&#10;    &lt;/Box&gt;&#10;&#10;    &lt;Box style={{ height: 528, flexDirection: 'row', gap: 28 }}&gt;&#10;        &lt;Box style={{ width: 310 }}&gt;&#10;            &lt;Text style={{ fontSize: 26, fontWeight: 'bold', color: '#1F7A5C', lineHeight: 1.45 }}&gt;&#10;                只有你明确说要找人，&lt;br /&gt;才会真的转人工&#10;            &lt;/Text&gt;&#10;            &lt;Text style={{ fontSize: 20, color: '#6B7C75', lineHeight: 1.6, marginTop: 20 }}&gt;&#10;                系统只在&quot;深度调理答疑&quot;这类对话里识别明确的转人工意图。聊天时随口提一句&quot;你们有没有营养师&quot;，不会被误判成要排队。&#10;            &lt;/Text&gt;&#10;            &lt;Box style={{&#10;                marginTop: 20, background: 'rgba(31,122,92,0.08)', borderRadius: 14, padding: 16,&#10;            }}&gt;&#10;                &lt;Text style={{ fontSize: 19, color: '#1E3A32', lineHeight: 1.55 }}&gt;&#10;                    转人工之前你问过的有效问题，会一并带给营养师，不用从头再讲一遍。&#10;                &lt;/Text&gt;&#10;            &lt;/Box&gt;&#10;            &lt;Box style={{&#10;                marginTop: 16, background: '#FFFFFF', borderRadius: 14, padding: 16,&#10;                boxShadow: '0 4px 20px rgba(30,58,50,0.08)',&#10;            }}&gt;&#10;                &lt;Text style={{ fontSize: 19, color: '#6B7C75', lineHeight: 1.55 }}&gt;&#10;                    转人工期间如果觉得不需要了，可以主动挂起，AI 会立刻接回来。&#10;                &lt;/Text&gt;&#10;            &lt;/Box&gt;&#10;        &lt;/Box&gt;&#10;&#10;        &lt;Box style={{ flex: 1, gap: 12 }}&gt;&#10;            &lt;Box style={{&#10;                flexDirection: 'row', gap: 18, background: '#FFFFFF', borderRadius: 14, padding: 16,&#10;                height: 96, boxShadow: '0 4px 20px rgba(30,58,50,0.08)', alignItems: 'center',&#10;            }}&gt;&#10;                &lt;Box style={{ width: 46, height: 46, borderRadius: 23, background: '#1F7A5C', justifyContent: 'center', alignItems: 'center' }}&gt;&#10;                    &lt;Text style={{ fontSize: 22, fontWeight: 'bold', color: '#FFFFFF' }}&gt;1&lt;/Text&gt;&#10;                &lt;/Box&gt;&#10;                &lt;Box style={{ flex: 1 }}&gt;&#10;                    &lt;Text style={{ fontSize: 24, fontWeight: 'bold', color: '#1E3A32' }}&gt;怎么触发&lt;/Text&gt;&#10;                    &lt;Text style={{ fontSize: 19, color: '#6B7C75', lineHeight: 1.45, marginTop: 3 }}&gt;&#10;                        在深度调理答疑里明确说&quot;我想找营养师&quot;，系统才会启动转人工流程&#10;                    &lt;/Text&gt;&#10;                &lt;/Box&gt;&#10;            &lt;/Box&gt;&#10;&#10;            &lt;Box style={{&#10;                flexDirection: 'row', gap: 18, background: '#FFFFFF', borderRadius: 14, padding: 16,&#10;                height: 96, boxShadow: '0 4px 20px rgba(30,58,50,0.08)', alignItems: 'center',&#10;            }}&gt;&#10;                &lt;Box style={{ width: 46, height: 46, borderRadius: 23, background: '#1F7A5C', justifyContent: 'center', alignItems: 'center' }}&gt;&#10;                    &lt;Text style={{ fontSize: 22, fontWeight: 'bold', color: '#FFFFFF' }}&gt;2&lt;/Text&gt;&#10;                &lt;/Box&gt;&#10;                &lt;Box style={{ flex: 1 }}&gt;&#10;                    &lt;Text style={{ fontSize: 24, fontWeight: 'bold', color: '#1E3A32' }}&gt;先过一遍专用 AI&lt;/Text&gt;&#10;                    &lt;Text style={{ fontSize: 19, color: '#6B7C75', lineHeight: 1.45, marginTop: 3 }}&gt;&#10;                        营养咨询有专门的 AI 接住你，很多问题在这一步就解决了，根本不用排队&#10;                    &lt;/Text&gt;&#10;                &lt;/Box&gt;&#10;            &lt;/Box&gt;&#10;&#10;            &lt;Box style={{&#10;                flexDirection: 'row', gap: 18, background: '#FFFFFF', borderRadius: 14, padding: 16,&#10;                height: 96, boxShadow: '0 4px 20px rgba(30,58,50,0.08)', alignItems: 'center',&#10;            }}&gt;&#10;                &lt;Box style={{ width: 46, height: 46, borderRadius: 23, background: '#1F7A5C', justifyContent: 'center', alignItems: 'center' }}&gt;&#10;                    &lt;Text style={{ fontSize: 22, fontWeight: 'bold', color: '#FFFFFF' }}&gt;3&lt;/Text&gt;&#10;                &lt;/Box&gt;&#10;                &lt;Box style={{ flex: 1 }}&gt;&#10;                    &lt;Text style={{ fontSize: 24, fontWeight: 'bold', color: '#1E3A32' }}&gt;进入排队等待&lt;/Text&gt;&#10;                    &lt;Text style={{ fontSize: 19, color: '#6B7C75', lineHeight: 1.45, marginTop: 3 }}&gt;&#10;                        确认要找真人后进入排队，页面会提示你前面还有几位，请别关掉页面&#10;                    &lt;/Text&gt;&#10;                &lt;/Box&gt;&#10;            &lt;/Box&gt;&#10;&#10;            &lt;Box style={{&#10;                flexDirection: 'row', gap: 18, background: 'rgba(224,138,60,0.14)', borderRadius: 14, padding: 16,&#10;                height: 96, alignItems: 'center',&#10;            }}&gt;&#10;                &lt;Box style={{ width: 46, height: 46, borderRadius: 23, background: '#E08A3C', justifyContent: 'center', alignItems: 'center' }}&gt;&#10;                    &lt;Text style={{ fontSize: 22, fontWeight: 'bold', color: '#FFFFFF' }}&gt;4&lt;/Text&gt;&#10;                &lt;/Box&gt;&#10;                &lt;Box style={{ flex: 1 }}&gt;&#10;                    &lt;Text style={{ fontSize: 24, fontWeight: 'bold', color: '#1E3A32' }}&gt;等满 120 秒自动转留言&lt;/Text&gt;&#10;                    &lt;Text style={{ fontSize: 19, color: '#6B7C75', lineHeight: 1.45, marginTop: 3 }}&gt;&#10;                        没人接就自动变留言，同时恢复 AI 回答——不耽误你继续问别的，营养师回完再单独通知你&#10;                    &lt;/Text&gt;&#10;                &lt;/Box&gt;&#10;            &lt;/Box&gt;&#10;&#10;            &lt;Box style={{&#10;                flexDirection: 'row', gap: 18, background: '#FFFFFF', borderRadius: 14, padding: 16,&#10;                height: 96, boxShadow: '0 4px 20px rgba(30,58,50,0.08)', alignItems: 'center',&#10;            }}&gt;&#10;                &lt;Box style={{ width: 46, height: 46, borderRadius: 23, background: '#1F7A5C', justifyContent: 'center', alignItems: 'center' }}&gt;&#10;                    &lt;Text style={{ fontSize: 22, fontWeight: 'bold', color: '#FFFFFF' }}&gt;5&lt;/Text&gt;&#10;                &lt;/Box&gt;&#10;                &lt;Box style={{ flex: 1 }}&gt;&#10;                    &lt;Text style={{ fontSize: 24, fontWeight: 'bold', color: '#1E3A32' }}&gt;回复单独展示&lt;/Text&gt;&#10;                    &lt;Text style={{ fontSize: 19, color: '#6B7C75', lineHeight: 1.45, marginTop: 3 }}&gt;&#10;                        营养师的回答会单独出现在你的对话里，不会和之前的 AI 回答混在一起&#10;                    &lt;/Text&gt;&#10;                &lt;/Box&gt;&#10;            &lt;/Box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长效使用与协同保障&lt;/Text&gt;&#10;        &lt;/Box&gt;&#10;        &lt;Text style={{ fontSize: 14, color: '#6B7C75' }}&gt;05 / 9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深度调理答疑与真人营养师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952750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1F7A5C"/>
                </a:solidFill>
                <a:latin typeface="Microsoft YaHei"/>
                <a:ea typeface="Microsoft YaHei"/>
              </a:rPr>
              <a:t>只有你明确说要找人，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1F7A5C"/>
                </a:solidFill>
                <a:latin typeface="Microsoft YaHei"/>
                <a:ea typeface="Microsoft YaHei"/>
              </a:rPr>
              <a:t>才会真的转人工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685800" y="2200275"/>
            <a:ext cx="2952750" cy="1466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系统只在</a:t>
            </a:r>
            <a:r>
              <a:rPr lang="en-US" sz="1500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深度调理答疑</a:t>
            </a:r>
            <a:r>
              <a:rPr lang="en-US" sz="1500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这类对话里识别明确的转人工意图。聊天时随口提一句</a:t>
            </a:r>
            <a:r>
              <a:rPr lang="en-US" sz="1500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你们有没有营养师</a:t>
            </a:r>
            <a:r>
              <a:rPr lang="en-US" sz="1500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，不会被误判成要排队。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685800" y="3857625"/>
            <a:ext cx="2952750" cy="1323975"/>
          </a:xfrm>
          <a:prstGeom prst="roundRect">
            <a:avLst>
              <a:gd name="adj" fmla="val 10072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838200" y="4010025"/>
            <a:ext cx="2647950" cy="1019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转人工之前你问过的有效问题，会一并带给营养师，不用从头再讲一遍。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685800" y="5334000"/>
            <a:ext cx="2952750" cy="1323975"/>
          </a:xfrm>
          <a:prstGeom prst="roundRect">
            <a:avLst>
              <a:gd name="adj" fmla="val 10072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838200" y="5486400"/>
            <a:ext cx="2647950" cy="1019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转人工期间如果觉得不需要了，可以主动挂起，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AI 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会立刻接回来。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3905250" y="1143000"/>
            <a:ext cx="7600950" cy="9144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0" name=""/>
          <p:cNvSpPr/>
          <p:nvPr/>
        </p:nvSpPr>
        <p:spPr>
          <a:xfrm rot="0" flipH="0" flipV="0">
            <a:off x="4057650" y="1381125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4219575" y="1476375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4667250" y="1285875"/>
            <a:ext cx="6686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32"/>
                </a:solidFill>
                <a:latin typeface="Microsoft YaHei"/>
                <a:ea typeface="Microsoft YaHei"/>
              </a:rPr>
              <a:t>怎么触发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4667250" y="1590675"/>
            <a:ext cx="6686550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在深度调理答疑里明确说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我想找营养师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，系统才会启动转人工流程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3905250" y="2171700"/>
            <a:ext cx="7600950" cy="9144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5" name=""/>
          <p:cNvSpPr/>
          <p:nvPr/>
        </p:nvSpPr>
        <p:spPr>
          <a:xfrm rot="0" flipH="0" flipV="0">
            <a:off x="4057650" y="2409825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4219575" y="2505075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4667250" y="2314575"/>
            <a:ext cx="6686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32"/>
                </a:solidFill>
                <a:latin typeface="Microsoft YaHei"/>
                <a:ea typeface="Microsoft YaHei"/>
              </a:rPr>
              <a:t>先过一遍专用</a:t>
            </a:r>
            <a:r>
              <a:rPr lang="en-US" sz="1800" b="1">
                <a:solidFill>
                  <a:srgbClr val="1E3A32"/>
                </a:solidFill>
                <a:latin typeface="Microsoft YaHei"/>
                <a:ea typeface="Microsoft YaHei"/>
              </a:rPr>
              <a:t> AI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4667250" y="2619375"/>
            <a:ext cx="6686550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营养咨询有专门的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 AI 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接住你，很多问题在这一步就解决了，根本不用排队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3905250" y="3200400"/>
            <a:ext cx="7600950" cy="9144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0" name=""/>
          <p:cNvSpPr/>
          <p:nvPr/>
        </p:nvSpPr>
        <p:spPr>
          <a:xfrm rot="0" flipH="0" flipV="0">
            <a:off x="4057650" y="3438525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4219575" y="3533775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4667250" y="3343275"/>
            <a:ext cx="6686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32"/>
                </a:solidFill>
                <a:latin typeface="Microsoft YaHei"/>
                <a:ea typeface="Microsoft YaHei"/>
              </a:rPr>
              <a:t>进入排队等待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4667250" y="3648075"/>
            <a:ext cx="6686550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确认要找真人后进入排队，页面会提示你前面还有几位，请别关掉页面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3905250" y="4229100"/>
            <a:ext cx="7600950" cy="914400"/>
          </a:xfrm>
          <a:prstGeom prst="roundRect">
            <a:avLst>
              <a:gd name="adj" fmla="val 14583"/>
            </a:avLst>
          </a:prstGeom>
          <a:solidFill>
            <a:srgbClr val="E08A3C">
              <a:alpha val="14000"/>
            </a:srgbClr>
          </a:solidFill>
          <a:ln/>
        </p:spPr>
        <p:txBody>
          <a:bodyPr/>
          <a:p/>
        </p:txBody>
      </p:sp>
      <p:sp>
        <p:nvSpPr>
          <p:cNvPr id="115" name=""/>
          <p:cNvSpPr/>
          <p:nvPr/>
        </p:nvSpPr>
        <p:spPr>
          <a:xfrm rot="0" flipH="0" flipV="0">
            <a:off x="4057650" y="4467225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E08A3C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4219575" y="4562475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4667250" y="4219575"/>
            <a:ext cx="6686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32"/>
                </a:solidFill>
                <a:latin typeface="Microsoft YaHei"/>
                <a:ea typeface="Microsoft YaHei"/>
              </a:rPr>
              <a:t>等满</a:t>
            </a:r>
            <a:r>
              <a:rPr lang="en-US" sz="1800" b="1">
                <a:solidFill>
                  <a:srgbClr val="1E3A32"/>
                </a:solidFill>
                <a:latin typeface="Microsoft YaHei"/>
                <a:ea typeface="Microsoft YaHei"/>
              </a:rPr>
              <a:t> 120 </a:t>
            </a:r>
            <a:r>
              <a:rPr lang="zh-CN" sz="1800" b="1">
                <a:solidFill>
                  <a:srgbClr val="1E3A32"/>
                </a:solidFill>
                <a:latin typeface="Microsoft YaHei"/>
                <a:ea typeface="Microsoft YaHei"/>
              </a:rPr>
              <a:t>秒自动转留言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4667250" y="4524375"/>
            <a:ext cx="66865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没人接就自动变留言，同时恢复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 AI 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回答——不耽误你继续问别的，营养师回完再单独通知你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3905250" y="5257800"/>
            <a:ext cx="7600950" cy="9144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0" name=""/>
          <p:cNvSpPr/>
          <p:nvPr/>
        </p:nvSpPr>
        <p:spPr>
          <a:xfrm rot="0" flipH="0" flipV="0">
            <a:off x="4057650" y="5495925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4219575" y="5591175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4667250" y="5400675"/>
            <a:ext cx="6686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32"/>
                </a:solidFill>
                <a:latin typeface="Microsoft YaHei"/>
                <a:ea typeface="Microsoft YaHei"/>
              </a:rPr>
              <a:t>回复单独展示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4667250" y="5705475"/>
            <a:ext cx="6686550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营养师的回答会单独出现在你的对话里，不会和之前的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 AI 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回答混在一起</a:t>
            </a:r>
            <a:endParaRPr/>
          </a:p>
        </p:txBody>
      </p:sp>
      <p:pic>
        <p:nvPicPr>
          <p:cNvPr id="12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长效使用与协同保障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11163300" y="6286500"/>
            <a:ext cx="342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05 / 9</a:t>
            </a:r>
            <a:endParaRPr/>
          </a:p>
        </p:txBody>
      </p:sp>
    </p:spTree>
  </p:cSld>
</p:sld>
</file>

<file path=ppt/slides/slide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27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五个好习惯&lt;/Text&gt;&#10;        &lt;Box style={{ width: 56, height: 4, borderRadius: 2, background: '#1F7A5C', marginTop: 8 }} /&gt;&#10;    &lt;/Box&gt;&#10;&#10;    &lt;Box style={{ height: 528, flexDirection: 'row', gap: 28 }}&gt;&#10;        &lt;Box style={{ width: 320, justifyContent: 'center' }}&gt;&#10;            &lt;Text style={{ fontSize: 180, fontWeight: 'bold', color: '#E08A3C', lineHeight: 1, letterSpacing: -4 }}&gt;5&lt;/Text&gt;&#10;            &lt;Text style={{ fontSize: 30, fontWeight: 'bold', color: '#1E3A32', marginTop: 14 }}&gt;个好习惯&lt;/Text&gt;&#10;            &lt;Box style={{ width: 72, height: 5, borderRadius: 3, background: '#1F7A5C', marginTop: 20 }} /&gt;&#10;            &lt;Text style={{ fontSize: 20, color: '#6B7C75', lineHeight: 1.6, marginTop: 18 }}&gt;&#10;                做到其中三条，&lt;br /&gt;你就已经超过八成使用者&#10;            &lt;/Text&gt;&#10;        &lt;/Box&gt;&#10;&#10;        &lt;Box style={{ flex: 1, gap: 10 }}&gt;&#10;            &lt;Box style={{&#10;                flexDirection: 'row', gap: 16, background: '#FFFFFF', borderRadius: 14, padding: 16,&#10;                height: 97, boxShadow: '0 4px 20px rgba(30,58,50,0.08)', alignItems: 'center',&#10;            }}&gt;&#10;                &lt;Box style={{ width: 44, height: 44, borderRadius: 22, background: '#1F7A5C', justifyContent: 'center', alignItems: 'center' }}&gt;&#10;                    &lt;Text style={{ fontSize: 22, fontWeight: 'bold', color: '#FFFFFF' }}&gt;1&lt;/Text&gt;&#10;                &lt;/Box&gt;&#10;                &lt;Box style={{ flex: 1 }}&gt;&#10;                    &lt;Text style={{ fontSize: 24, fontWeight: 'bold', color: '#1E3A32' }}&gt;一次只问一件事&lt;/Text&gt;&#10;                    &lt;Text style={{ fontSize: 19, color: '#6B7C75', lineHeight: 1.45, marginTop: 3 }}&gt;&#10;                        问句越长，答案越散。拆成三句分开问，拿到三份准确的答案，比一份大而全的更有用。&#10;                    &lt;/Text&gt;&#10;                &lt;/Box&gt;&#10;            &lt;/Box&gt;&#10;&#10;            &lt;Box style={{&#10;                flexDirection: 'row', gap: 16, background: '#FFFFFF', borderRadius: 14, padding: 16,&#10;                height: 97, boxShadow: '0 4px 20px rgba(30,58,50,0.08)', alignItems: 'center',&#10;            }}&gt;&#10;                &lt;Box style={{ width: 44, height: 44, borderRadius: 22, background: '#1F7A5C', justifyContent: 'center', alignItems: 'center' }}&gt;&#10;                    &lt;Text style={{ fontSize: 22, fontWeight: 'bold', color: '#FFFFFF' }}&gt;2&lt;/Text&gt;&#10;                &lt;/Box&gt;&#10;                &lt;Box style={{ flex: 1 }}&gt;&#10;                    &lt;Text style={{ fontSize: 24, fontWeight: 'bold', color: '#1E3A32' }}&gt;把情况说在前头&lt;/Text&gt;&#10;                    &lt;Text style={{ fontSize: 19, color: '#6B7C75', lineHeight: 1.45, marginTop: 3 }}&gt;&#10;                        先说人群和现状，再说问题。同样的问句，加了背景之后答案的贴合度完全是两个级别。&#10;                    &lt;/Text&gt;&#10;                &lt;/Box&gt;&#10;            &lt;/Box&gt;&#10;&#10;            &lt;Box style={{&#10;                flexDirection: 'row', gap: 16, background: '#FFFFFF', borderRadius: 14, padding: 16,&#10;                height: 97, boxShadow: '0 4px 20px rgba(30,58,50,0.08)', alignItems: 'center',&#10;            }}&gt;&#10;                &lt;Box style={{ width: 44, height: 44, borderRadius: 22, background: '#1F7A5C', justifyContent: 'center', alignItems: 'center' }}&gt;&#10;                    &lt;Text style={{ fontSize: 22, fontWeight: 'bold', color: '#FFFFFF' }}&gt;3&lt;/Text&gt;&#10;                &lt;/Box&gt;&#10;                &lt;Box style={{ flex: 1 }}&gt;&#10;                    &lt;Text style={{ fontSize: 24, fontWeight: 'bold', color: '#1E3A32' }}&gt;先看结论，再看细节&lt;/Text&gt;&#10;                    &lt;Text style={{ fontSize: 19, color: '#6B7C75', lineHeight: 1.45, marginTop: 3 }}&gt;&#10;                        结论通常在回答的开头。先把结论抓住，再决定要不要往下读细节，能省掉一半阅读时间。&#10;                    &lt;/Text&gt;&#10;                &lt;/Box&gt;&#10;            &lt;/Box&gt;&#10;&#10;            &lt;Box style={{&#10;                flexDirection: 'row', gap: 16, background: '#FFFFFF', borderRadius: 14, padding: 16,&#10;                height: 97, boxShadow: '0 4px 20px rgba(30,58,50,0.08)', alignItems: 'center',&#10;            }}&gt;&#10;                &lt;Box style={{ width: 44, height: 44, borderRadius: 22, background: '#1F7A5C', justifyContent: 'center', alignItems: 'center' }}&gt;&#10;                    &lt;Text style={{ fontSize: 22, fontWeight: 'bold', color: '#FFFFFF' }}&gt;4&lt;/Text&gt;&#10;                &lt;/Box&gt;&#10;                &lt;Box style={{ flex: 1 }}&gt;&#10;                    &lt;Text style={{ fontSize: 24, fontWeight: 'bold', color: '#1E3A32' }}&gt;看案例先对相似度&lt;/Text&gt;&#10;                    &lt;Text style={{ fontSize: 19, color: '#6B7C75', lineHeight: 1.45, marginTop: 3 }}&gt;&#10;                        案例三问先过一遍：像不像、场景对不对、抄哪一点。过不了就果断跳过，别舍不得。&#10;                    &lt;/Text&gt;&#10;                &lt;/Box&gt;&#10;            &lt;/Box&gt;&#10;&#10;            &lt;Box style={{&#10;                flexDirection: 'row', gap: 16, background: 'rgba(224,138,60,0.14)', borderRadius: 14, padding: 16,&#10;                height: 97, alignItems: 'center',&#10;            }}&gt;&#10;                &lt;Box style={{ width: 44, height: 44, borderRadius: 22, background: '#E08A3C', justifyContent: 'center', alignItems: 'center' }}&gt;&#10;                    &lt;Text style={{ fontSize: 22, fontWeight: 'bold', color: '#FFFFFF' }}&gt;5&lt;/Text&gt;&#10;                &lt;/Box&gt;&#10;                &lt;Box style={{ flex: 1 }}&gt;&#10;                    &lt;Text style={{ fontSize: 24, fontWeight: 'bold', color: '#1E3A32' }}&gt;用完顺手点个赞&lt;/Text&gt;&#10;                    &lt;Text style={{ fontSize: 19, color: '#6B7C75', lineHeight: 1.45, marginTop: 3 }}&gt;&#10;                        你点下的每一次反馈，都在决定下一个人拿到的答案质量。点踩时写原因，价值更大。&#10;                    &lt;/Text&gt;&#10;                &lt;/Box&gt;&#10;            &lt;/Box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长效使用与协同保障&lt;/Text&gt;&#10;        &lt;/Box&gt;&#10;        &lt;Text style={{ fontSize: 14, color: '#6B7C75' }}&gt;06 / 9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五个好习惯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85800" y="1819275"/>
            <a:ext cx="3048000" cy="2057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0" b="1" spc="-300">
                <a:solidFill>
                  <a:srgbClr val="E08A3C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685800" y="4010025"/>
            <a:ext cx="3048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3A32"/>
                </a:solidFill>
                <a:latin typeface="Microsoft YaHei"/>
                <a:ea typeface="Microsoft YaHei"/>
              </a:rPr>
              <a:t>个好习惯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685800" y="4543425"/>
            <a:ext cx="685800" cy="47625"/>
          </a:xfrm>
          <a:prstGeom prst="roundRect">
            <a:avLst>
              <a:gd name="adj" fmla="val 6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685800" y="4762500"/>
            <a:ext cx="3048000" cy="733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做到其中三条，</a:t>
            </a:r>
            <a:endParaRPr/>
          </a:p>
          <a:p>
            <a:pPr>
              <a:lnSpc>
                <a:spcPct val="160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你就已经超过八成使用者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4000500" y="1143000"/>
            <a:ext cx="7505700" cy="923925"/>
          </a:xfrm>
          <a:prstGeom prst="roundRect">
            <a:avLst>
              <a:gd name="adj" fmla="val 14433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6" name=""/>
          <p:cNvSpPr/>
          <p:nvPr/>
        </p:nvSpPr>
        <p:spPr>
          <a:xfrm rot="0" flipH="0" flipV="0">
            <a:off x="4152900" y="140017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4305300" y="148590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4724400" y="1133475"/>
            <a:ext cx="6629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32"/>
                </a:solidFill>
                <a:latin typeface="Microsoft YaHei"/>
                <a:ea typeface="Microsoft YaHei"/>
              </a:rPr>
              <a:t>一次只问一件事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4724400" y="1438275"/>
            <a:ext cx="66294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问句越长，答案越散。拆成三句分开问，拿到三份准确的答案，比一份大而全的更有用。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4000500" y="2162175"/>
            <a:ext cx="7505700" cy="923925"/>
          </a:xfrm>
          <a:prstGeom prst="roundRect">
            <a:avLst>
              <a:gd name="adj" fmla="val 14433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1" name=""/>
          <p:cNvSpPr/>
          <p:nvPr/>
        </p:nvSpPr>
        <p:spPr>
          <a:xfrm rot="0" flipH="0" flipV="0">
            <a:off x="4152900" y="24193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4305300" y="2505075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4724400" y="2152650"/>
            <a:ext cx="6629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32"/>
                </a:solidFill>
                <a:latin typeface="Microsoft YaHei"/>
                <a:ea typeface="Microsoft YaHei"/>
              </a:rPr>
              <a:t>把情况说在前头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4724400" y="2457450"/>
            <a:ext cx="66294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先说人群和现状，再说问题。同样的问句，加了背景之后答案的贴合度完全是两个级别。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4000500" y="3181350"/>
            <a:ext cx="7505700" cy="923925"/>
          </a:xfrm>
          <a:prstGeom prst="roundRect">
            <a:avLst>
              <a:gd name="adj" fmla="val 14433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6" name=""/>
          <p:cNvSpPr/>
          <p:nvPr/>
        </p:nvSpPr>
        <p:spPr>
          <a:xfrm rot="0" flipH="0" flipV="0">
            <a:off x="4152900" y="34385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4305300" y="352425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4724400" y="3171825"/>
            <a:ext cx="6629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32"/>
                </a:solidFill>
                <a:latin typeface="Microsoft YaHei"/>
                <a:ea typeface="Microsoft YaHei"/>
              </a:rPr>
              <a:t>先看结论，再看细节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4724400" y="3476625"/>
            <a:ext cx="66294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结论通常在回答的开头。先把结论抓住，再决定要不要往下读细节，能省掉一半阅读时间。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4000500" y="4200525"/>
            <a:ext cx="7505700" cy="923925"/>
          </a:xfrm>
          <a:prstGeom prst="roundRect">
            <a:avLst>
              <a:gd name="adj" fmla="val 14433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1" name=""/>
          <p:cNvSpPr/>
          <p:nvPr/>
        </p:nvSpPr>
        <p:spPr>
          <a:xfrm rot="0" flipH="0" flipV="0">
            <a:off x="4152900" y="44577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4305300" y="4543425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4724400" y="4191000"/>
            <a:ext cx="6629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32"/>
                </a:solidFill>
                <a:latin typeface="Microsoft YaHei"/>
                <a:ea typeface="Microsoft YaHei"/>
              </a:rPr>
              <a:t>看案例先对相似度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4724400" y="4495800"/>
            <a:ext cx="66294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案例三问先过一遍：像不像、场景对不对、抄哪一点。过不了就果断跳过，别舍不得。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4000500" y="5219700"/>
            <a:ext cx="7505700" cy="923925"/>
          </a:xfrm>
          <a:prstGeom prst="roundRect">
            <a:avLst>
              <a:gd name="adj" fmla="val 14433"/>
            </a:avLst>
          </a:prstGeom>
          <a:solidFill>
            <a:srgbClr val="E08A3C">
              <a:alpha val="14000"/>
            </a:srgbClr>
          </a:solidFill>
          <a:ln/>
        </p:spPr>
        <p:txBody>
          <a:bodyPr/>
          <a:p/>
        </p:txBody>
      </p:sp>
      <p:sp>
        <p:nvSpPr>
          <p:cNvPr id="156" name=""/>
          <p:cNvSpPr/>
          <p:nvPr/>
        </p:nvSpPr>
        <p:spPr>
          <a:xfrm rot="0" flipH="0" flipV="0">
            <a:off x="4152900" y="547687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E08A3C"/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4305300" y="556260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4724400" y="5210175"/>
            <a:ext cx="6629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32"/>
                </a:solidFill>
                <a:latin typeface="Microsoft YaHei"/>
                <a:ea typeface="Microsoft YaHei"/>
              </a:rPr>
              <a:t>用完顺手点个赞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4724400" y="5514975"/>
            <a:ext cx="66294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你点下的每一次反馈，都在决定下一个人拿到的答案质量。点踩时写原因，价值更大。</a:t>
            </a:r>
            <a:endParaRPr/>
          </a:p>
        </p:txBody>
      </p:sp>
      <p:pic>
        <p:nvPicPr>
          <p:cNvPr id="16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长效使用与协同保障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11163300" y="6286500"/>
            <a:ext cx="342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06 / 9</a:t>
            </a:r>
            <a:endParaRPr/>
          </a:p>
        </p:txBody>
      </p:sp>
    </p:spTree>
  </p:cSld>
</p:sld>
</file>

<file path=ppt/slides/slide7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63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避坑清单&lt;/Text&gt;&#10;        &lt;Box style={{ width: 56, height: 4, borderRadius: 2, background: '#1F7A5C', marginTop: 8 }} /&gt;&#10;    &lt;/Box&gt;&#10;&#10;    &lt;Box style={{ height: 528, flexDirection: 'row', gap: 28 }}&gt;&#10;        &lt;Box style={{ width: 660, gap: 14 }}&gt;&#10;            &lt;Box style={{&#10;                background: '#FFFFFF', borderRadius: 14, padding: 18, height: 121,&#10;                boxShadow: '0 4px 20px rgba(30,58,50,0.08)',&#10;            }}&gt;&#10;                &lt;Box style={{ flexDirection: 'row', gap: 12, alignItems: 'center' }}&gt;&#10;                    &lt;FAIcon name='times-circle' style={{ fill: '#C9742B', width: 26, height: 26 }} /&gt;&#10;                    &lt;Text style={{ fontSize: 23, fontWeight: 'bold', color: '#C9742B' }}&gt;不要把 AI 的回答当诊断&lt;/Text&gt;&#10;                &lt;/Box&gt;&#10;                &lt;Text style={{ fontSize: 19, color: '#6B7C75', lineHeight: 1.5, marginTop: 8 }}&gt;&#10;                    &lt;span style={{ fontWeight: 'bold', color: '#1F7A5C' }}&gt;要说：&lt;/span&gt;这是参考信息，具体情况还请以专业人士的意见为准。对客户也要这么讲。&#10;                &lt;/Text&gt;&#10;            &lt;/Box&gt;&#10;&#10;            &lt;Box style={{&#10;                background: '#FFFFFF', borderRadius: 14, padding: 18, height: 121,&#10;                boxShadow: '0 4px 20px rgba(30,58,50,0.08)',&#10;            }}&gt;&#10;                &lt;Box style={{ flexDirection: 'row', gap: 12, alignItems: 'center' }}&gt;&#10;                    &lt;FAIcon name='times-circle' style={{ fill: '#C9742B', width: 26, height: 26 }} /&gt;&#10;                    &lt;Text style={{ fontSize: 23, fontWeight: 'bold', color: '#C9742B' }}&gt;不要在聊天里填客户敏感信息&lt;/Text&gt;&#10;                &lt;/Box&gt;&#10;                &lt;Text style={{ fontSize: 19, color: '#6B7C75', lineHeight: 1.5, marginTop: 8 }}&gt;&#10;                    &lt;span style={{ fontWeight: 'bold', color: '#1F7A5C' }}&gt;要说：&lt;/span&gt;只描述症状、年龄区间和诉求。身份证号、病历、住址这些，一句都别填。&#10;                &lt;/Text&gt;&#10;            &lt;/Box&gt;&#10;&#10;            &lt;Box style={{&#10;                background: '#FFFFFF', borderRadius: 14, padding: 18, height: 121,&#10;                boxShadow: '0 4px 20px rgba(30,58,50,0.08)',&#10;            }}&gt;&#10;                &lt;Box style={{ flexDirection: 'row', gap: 12, alignItems: 'center' }}&gt;&#10;                    &lt;FAIcon name='times-circle' style={{ fill: '#C9742B', width: 26, height: 26 }} /&gt;&#10;                    &lt;Text style={{ fontSize: 23, fontWeight: 'bold', color: '#C9742B' }}&gt;不要一次塞进五个问题&lt;/Text&gt;&#10;                &lt;/Box&gt;&#10;                &lt;Text style={{ fontSize: 19, color: '#6B7C75', lineHeight: 1.5, marginTop: 8 }}&gt;&#10;                    &lt;span style={{ fontWeight: 'bold', color: '#1F7A5C' }}&gt;要说：&lt;/span&gt;拆成五句，一句一句问。分开问拿到的五份答案，比一份和稀泥的更有用。&#10;                &lt;/Text&gt;&#10;            &lt;/Box&gt;&#10;&#10;            &lt;Box style={{&#10;                background: 'rgba(224,138,60,0.14)', borderRadius: 14, padding: 18, height: 121,&#10;            }}&gt;&#10;                &lt;Box style={{ flexDirection: 'row', gap: 12, alignItems: 'center' }}&gt;&#10;                    &lt;FAIcon name='times-circle' style={{ fill: '#C9742B', width: 26, height: 26 }} /&gt;&#10;                    &lt;Text style={{ fontSize: 23, fontWeight: 'bold', color: '#C9742B' }}&gt;不要整段复制却不说明来意&lt;/Text&gt;&#10;                &lt;/Box&gt;&#10;                &lt;Text style={{ fontSize: 19, color: '#6B7C75', lineHeight: 1.5, marginTop: 8 }}&gt;&#10;                    &lt;span style={{ fontWeight: 'bold', color: '#1F7A5C' }}&gt;要说：&lt;/span&gt;先写一句&quot;这段话我想让你改写成朋友圈文案&quot;，再把内容贴上去。&#10;                &lt;/Text&gt;&#10;            &lt;/Box&gt;&#10;        &lt;/Box&gt;&#10;&#10;        &lt;Box style={{ flex: 1 }}&gt;&#10;            &lt;svg width=&quot;448&quot; height=&quot;330&quot; viewBox=&quot;0 0 448 330&quot;&gt;&#10;                &lt;path d=&quot;M224 26 L354 74 V168 C354 244 296 300 224 322 C152 300 94 244 94 168 V74 Z&quot; fill=&quot;#E08A3C&quot; opacity=&quot;0.16&quot; /&gt;&#10;                &lt;path d=&quot;M224 44 L338 86 V168 C338 234 290 282 224 302 C158 282 110 234 110 168 V86 Z&quot; fill=&quot;#E08A3C&quot; opacity=&quot;0.85&quot; /&gt;&#10;                &lt;rect x=&quot;212&quot; y=&quot;112&quot; width=&quot;24&quot; height=&quot;104&quot; rx=&quot;12&quot; fill=&quot;#FFFFFF&quot; /&gt;&#10;                &lt;circle cx=&quot;224&quot; cy=&quot;248&quot; r=&quot;16&quot; fill=&quot;#FFFFFF&quot; /&gt;&#10;            &lt;/svg&gt;&#10;&#10;            &lt;Text style={{ fontSize: 26, fontWeight: 'bold', color: '#1E3A32', lineHeight: 1.45, marginTop: 12 }}&gt;&#10;                这四条不是限制，&lt;br /&gt;是保护你&#10;            &lt;/Text&gt;&#10;            &lt;Text style={{ fontSize: 19, color: '#6B7C75', lineHeight: 1.6, marginTop: 14 }}&gt;&#10;                踩过这四条里任意一条，轻则答案没法用，重则把不该留的信息留在了系统里。避开它们比学会任何技巧都重要。&#10;            &lt;/Text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长效使用与协同保障&lt;/Text&gt;&#10;        &lt;/Box&gt;&#10;        &lt;Text style={{ fontSize: 14, color: '#6B7C75' }}&gt;07 / 9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避坑清单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167" name=""/>
          <p:cNvSpPr/>
          <p:nvPr/>
        </p:nvSpPr>
        <p:spPr>
          <a:xfrm rot="0" flipH="0" flipV="0">
            <a:off x="685800" y="1143000"/>
            <a:ext cx="6286500" cy="1152525"/>
          </a:xfrm>
          <a:prstGeom prst="roundRect">
            <a:avLst>
              <a:gd name="adj" fmla="val 11570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16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1323975"/>
            <a:ext cx="247650" cy="247650"/>
          </a:xfrm>
          <a:prstGeom prst="rect">
            <a:avLst/>
          </a:prstGeom>
          <a:ln/>
        </p:spPr>
      </p:pic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1219200" y="1314450"/>
            <a:ext cx="23145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C9742B"/>
                </a:solidFill>
                <a:latin typeface="Microsoft YaHei"/>
                <a:ea typeface="Microsoft YaHei"/>
              </a:rPr>
              <a:t>不要把</a:t>
            </a:r>
            <a:r>
              <a:rPr lang="en-US" sz="1725" b="1">
                <a:solidFill>
                  <a:srgbClr val="C9742B"/>
                </a:solidFill>
                <a:latin typeface="Microsoft YaHei"/>
                <a:ea typeface="Microsoft YaHei"/>
              </a:rPr>
              <a:t> AI </a:t>
            </a:r>
            <a:r>
              <a:rPr lang="zh-CN" sz="1725" b="1">
                <a:solidFill>
                  <a:srgbClr val="C9742B"/>
                </a:solidFill>
                <a:latin typeface="Microsoft YaHei"/>
                <a:ea typeface="Microsoft YaHei"/>
              </a:rPr>
              <a:t>的回答当诊断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857250" y="1657350"/>
            <a:ext cx="59436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 b="1">
                <a:solidFill>
                  <a:srgbClr val="1F7A5C"/>
                </a:solidFill>
                <a:latin typeface="Microsoft YaHei"/>
                <a:ea typeface="Microsoft YaHei"/>
              </a:rPr>
              <a:t>要说：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这是参考信息，具体情况还请以专业人士的意见为准。对客户也要这么讲。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685800" y="2428875"/>
            <a:ext cx="6286500" cy="1152525"/>
          </a:xfrm>
          <a:prstGeom prst="roundRect">
            <a:avLst>
              <a:gd name="adj" fmla="val 11570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17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2609850"/>
            <a:ext cx="247650" cy="247650"/>
          </a:xfrm>
          <a:prstGeom prst="rect">
            <a:avLst/>
          </a:prstGeom>
          <a:ln/>
        </p:spPr>
      </p:pic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219200" y="2600325"/>
            <a:ext cx="28479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C9742B"/>
                </a:solidFill>
                <a:latin typeface="Microsoft YaHei"/>
                <a:ea typeface="Microsoft YaHei"/>
              </a:rPr>
              <a:t>不要在聊天里填客户敏感信息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857250" y="2943225"/>
            <a:ext cx="59436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 b="1">
                <a:solidFill>
                  <a:srgbClr val="1F7A5C"/>
                </a:solidFill>
                <a:latin typeface="Microsoft YaHei"/>
                <a:ea typeface="Microsoft YaHei"/>
              </a:rPr>
              <a:t>要说：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只描述症状、年龄区间和诉求。身份证号、病历、住址这些，一句都别填。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685800" y="3714750"/>
            <a:ext cx="6286500" cy="1152525"/>
          </a:xfrm>
          <a:prstGeom prst="roundRect">
            <a:avLst>
              <a:gd name="adj" fmla="val 11570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17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3895725"/>
            <a:ext cx="247650" cy="247650"/>
          </a:xfrm>
          <a:prstGeom prst="rect">
            <a:avLst/>
          </a:prstGeom>
          <a:ln/>
        </p:spPr>
      </p:pic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1219200" y="3886200"/>
            <a:ext cx="21907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C9742B"/>
                </a:solidFill>
                <a:latin typeface="Microsoft YaHei"/>
                <a:ea typeface="Microsoft YaHei"/>
              </a:rPr>
              <a:t>不要一次塞进五个问题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857250" y="4229100"/>
            <a:ext cx="594360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 b="1">
                <a:solidFill>
                  <a:srgbClr val="1F7A5C"/>
                </a:solidFill>
                <a:latin typeface="Microsoft YaHei"/>
                <a:ea typeface="Microsoft YaHei"/>
              </a:rPr>
              <a:t>要说：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拆成五句，一句一句问。分开问拿到的五份答案，比一份和稀泥的更有用。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685800" y="5000625"/>
            <a:ext cx="6286500" cy="1152525"/>
          </a:xfrm>
          <a:prstGeom prst="roundRect">
            <a:avLst>
              <a:gd name="adj" fmla="val 11570"/>
            </a:avLst>
          </a:prstGeom>
          <a:solidFill>
            <a:srgbClr val="E08A3C">
              <a:alpha val="14000"/>
            </a:srgbClr>
          </a:solidFill>
          <a:ln/>
        </p:spPr>
        <p:txBody>
          <a:bodyPr/>
          <a:p/>
        </p:txBody>
      </p:sp>
      <p:pic>
        <p:nvPicPr>
          <p:cNvPr id="1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5181600"/>
            <a:ext cx="247650" cy="247650"/>
          </a:xfrm>
          <a:prstGeom prst="rect">
            <a:avLst/>
          </a:prstGeom>
          <a:ln/>
        </p:spPr>
      </p:pic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1219200" y="5172075"/>
            <a:ext cx="26289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C9742B"/>
                </a:solidFill>
                <a:latin typeface="Microsoft YaHei"/>
                <a:ea typeface="Microsoft YaHei"/>
              </a:rPr>
              <a:t>不要整段复制却不说明来意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857250" y="5514975"/>
            <a:ext cx="59436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 b="1">
                <a:solidFill>
                  <a:srgbClr val="1F7A5C"/>
                </a:solidFill>
                <a:latin typeface="Microsoft YaHei"/>
                <a:ea typeface="Microsoft YaHei"/>
              </a:rPr>
              <a:t>要说：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先写一句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这段话我想让你改写成朋友圈文案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，再把内容贴上去。</a:t>
            </a:r>
            <a:endParaRPr/>
          </a:p>
        </p:txBody>
      </p:sp>
      <p:pic>
        <p:nvPicPr>
          <p:cNvPr id="18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239000" y="1143000"/>
            <a:ext cx="4267200" cy="3143250"/>
          </a:xfrm>
          <a:prstGeom prst="rect">
            <a:avLst/>
          </a:prstGeom>
          <a:ln/>
        </p:spPr>
      </p:pic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7239000" y="4400550"/>
            <a:ext cx="4267200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1E3A32"/>
                </a:solidFill>
                <a:latin typeface="Microsoft YaHei"/>
                <a:ea typeface="Microsoft YaHei"/>
              </a:rPr>
              <a:t>这四条不是限制，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1E3A32"/>
                </a:solidFill>
                <a:latin typeface="Microsoft YaHei"/>
                <a:ea typeface="Microsoft YaHei"/>
              </a:rPr>
              <a:t>是保护你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7239000" y="5400675"/>
            <a:ext cx="4267200" cy="1047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踩过这四条里任意一条，轻则答案没法用，重则把不该留的信息留在了系统里。避开它们比学会任何技巧都重要。</a:t>
            </a:r>
            <a:endParaRPr/>
          </a:p>
        </p:txBody>
      </p:sp>
      <p:pic>
        <p:nvPicPr>
          <p:cNvPr id="18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长效使用与协同保障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11163300" y="6286500"/>
            <a:ext cx="342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07 / 9</a:t>
            </a:r>
            <a:endParaRPr/>
          </a:p>
        </p:txBody>
      </p:sp>
    </p:spTree>
  </p:cSld>
</p:sld>
</file>

<file path=ppt/slides/slide8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89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从入门到熟练的 30 天&lt;/Text&gt;&#10;        &lt;Box style={{ width: 56, height: 4, borderRadius: 2, background: '#1F7A5C', marginTop: 8 }} /&gt;&#10;    &lt;/Box&gt;&#10;&#10;    &lt;Box style={{ height: 528, flexDirection: 'row', gap: 28 }}&gt;&#10;        &lt;Box style={{ width: 605 }}&gt;&#10;            &lt;svg width=&quot;605&quot; height=&quot;528&quot; viewBox=&quot;0 0 605 528&quot;&gt;&#10;                &lt;circle cx=&quot;470&quot; cy=&quot;90&quot; r=&quot;66&quot; fill=&quot;#E08A3C&quot; opacity=&quot;0.2&quot; /&gt;&#10;&#10;                &lt;path d=&quot;M40 470 H180 V400 H40 Z&quot; fill=&quot;rgba(168,213,186,0.5)&quot; /&gt;&#10;                &lt;path d=&quot;M180 470 H340 V330 H180 Z&quot; fill=&quot;#1F7A5C&quot; opacity=&quot;0.55&quot; /&gt;&#10;                &lt;path d=&quot;M340 470 H520 V210 H340 Z&quot; fill=&quot;#1F7A5C&quot; /&gt;&#10;                &lt;path d=&quot;M520 470 H580 V150 H520 Z&quot; fill=&quot;#E08A3C&quot; /&gt;&#10;&#10;                &lt;circle cx=&quot;110&quot; cy=&quot;440&quot; r=&quot;20&quot; fill=&quot;#FFFFFF&quot; opacity=&quot;0.85&quot; /&gt;&#10;                &lt;text x=&quot;110&quot; y=&quot;448&quot; textAnchor=&quot;middle&quot; fontSize=&quot;20&quot; fontWeight=&quot;bold&quot; fill=&quot;#1F7A5C&quot; fontFamily=&quot;PingFang SC&quot;&gt;1&lt;/text&gt;&#10;                &lt;circle cx=&quot;260&quot; cy=&quot;410&quot; r=&quot;20&quot; fill=&quot;#FFFFFF&quot; opacity=&quot;0.85&quot; /&gt;&#10;                &lt;text x=&quot;260&quot; y=&quot;418&quot; textAnchor=&quot;middle&quot; fontSize=&quot;20&quot; fontWeight=&quot;bold&quot; fill=&quot;#1F7A5C&quot; fontFamily=&quot;PingFang SC&quot;&gt;7&lt;/text&gt;&#10;                &lt;circle cx=&quot;430&quot; cy=&quot;380&quot; r=&quot;20&quot; fill=&quot;#FFFFFF&quot; opacity=&quot;0.85&quot; /&gt;&#10;                &lt;text x=&quot;430&quot; y=&quot;388&quot; textAnchor=&quot;middle&quot; fontSize=&quot;18&quot; fontWeight=&quot;bold&quot; fill=&quot;#1F7A5C&quot; fontFamily=&quot;PingFang SC&quot;&gt;30&lt;/text&gt;&#10;&#10;                &lt;path d=&quot;M550 150 v-56&quot; stroke=&quot;#E08A3C&quot; strokeWidth=&quot;5&quot; strokeLinecap=&quot;round&quot; /&gt;&#10;                &lt;path d=&quot;M550 94 l44 16 l-44 16 z&quot; fill=&quot;#E08A3C&quot; /&gt;&#10;&#10;                &lt;text x=&quot;110&quot; y=&quot;500&quot; textAnchor=&quot;middle&quot; fontSize=&quot;21&quot; fontWeight=&quot;bold&quot; fill=&quot;#1E3A32&quot; fontFamily=&quot;PingFang SC&quot;&gt;第 1 天&lt;/text&gt;&#10;                &lt;text x=&quot;260&quot; y=&quot;500&quot; textAnchor=&quot;middle&quot; fontSize=&quot;21&quot; fontWeight=&quot;bold&quot; fill=&quot;#1E3A32&quot; fontFamily=&quot;PingFang SC&quot;&gt;第 7 天&lt;/text&gt;&#10;                &lt;text x=&quot;430&quot; y=&quot;500&quot; textAnchor=&quot;middle&quot; fontSize=&quot;21&quot; fontWeight=&quot;bold&quot; fill=&quot;#1E3A32&quot; fontFamily=&quot;PingFang SC&quot;&gt;第 30 天&lt;/text&gt;&#10;                &lt;text x=&quot;556&quot; y=&quot;500&quot; textAnchor=&quot;middle&quot; fontSize=&quot;18&quot; fill=&quot;#6B7C75&quot; fontFamily=&quot;PingFang SC&quot;&gt;之后&lt;/text&gt;&#10;&#10;                &lt;text x=&quot;110&quot; y=&quot;386&quot; textAnchor=&quot;middle&quot; fontSize=&quot;17&quot; fill=&quot;#6B7C75&quot; fontFamily=&quot;PingFang SC&quot;&gt;敢用&lt;/text&gt;&#10;                &lt;text x=&quot;260&quot; y=&quot;316&quot; textAnchor=&quot;middle&quot; fontSize=&quot;17&quot; fill=&quot;#FFFFFF&quot; opacity=&quot;0.9&quot; fontFamily=&quot;PingFang SC&quot;&gt;会问&lt;/text&gt;&#10;                &lt;text x=&quot;430&quot; y=&quot;196&quot; textAnchor=&quot;middle&quot; fontSize=&quot;17&quot; fill=&quot;#FFFFFF&quot; opacity=&quot;0.9&quot; fontFamily=&quot;PingFang SC&quot;&gt;自己找答案&lt;/text&gt;&#10;            &lt;/svg&gt;&#10;        &lt;/Box&gt;&#10;&#10;        &lt;Box style={{ flex: 1, gap: 12 }}&gt;&#10;            &lt;Box style={{&#10;                background: '#FFFFFF', borderRadius: 14, padding: 16,&#10;                boxShadow: '0 4px 20px rgba(30,58,50,0.08)',&#10;            }}&gt;&#10;                &lt;Box style={{ flexDirection: 'row', alignItems: 'center', gap: 10 }}&gt;&#10;                    &lt;Box style={{ background: 'rgba(31,122,92,0.12)', borderRadius: 12, paddingLeft: 12, paddingRight: 12, paddingTop: 5, paddingBottom: 5 }}&gt;&#10;                        &lt;Text style={{ fontSize: 18, fontWeight: 'bold', color: '#1F7A5C' }}&gt;第 1 天&lt;/Text&gt;&#10;                    &lt;/Box&gt;&#10;                    &lt;Text style={{ fontSize: 24, fontWeight: 'bold', color: '#1E3A32' }}&gt;敢用&lt;/Text&gt;&#10;                &lt;/Box&gt;&#10;                &lt;Text style={{ fontSize: 19, color: '#6B7C75', lineHeight: 1.55, marginTop: 10 }}&gt;&#10;                    把首页四个区域各走一遍，照着示例问题发出第一句话，看一次完整的回答长什么样。&#10;                &lt;/Text&gt;&#10;            &lt;/Box&gt;&#10;&#10;            &lt;Box style={{&#10;                background: '#FFFFFF', borderRadius: 14, padding: 16,&#10;                boxShadow: '0 4px 20px rgba(30,58,50,0.08)',&#10;            }}&gt;&#10;                &lt;Box style={{ flexDirection: 'row', alignItems: 'center', gap: 10 }}&gt;&#10;                    &lt;Box style={{ background: 'rgba(31,122,92,0.12)', borderRadius: 12, paddingLeft: 12, paddingRight: 12, paddingTop: 5, paddingBottom: 5 }}&gt;&#10;                        &lt;Text style={{ fontSize: 18, fontWeight: 'bold', color: '#1F7A5C' }}&gt;第 7 天&lt;/Text&gt;&#10;                    &lt;/Box&gt;&#10;                    &lt;Text style={{ fontSize: 24, fontWeight: 'bold', color: '#1E3A32' }}&gt;会问&lt;/Text&gt;&#10;                &lt;/Box&gt;&#10;                &lt;Text style={{ fontSize: 19, color: '#6B7C75', lineHeight: 1.55, marginTop: 10 }}&gt;&#10;                    提问时自然带上人群、场景和困扰；卡住时会去热门问题和示例问题里找灵感，而不是干坐着。&#10;                &lt;/Text&gt;&#10;            &lt;/Box&gt;&#10;&#10;            &lt;Box style={{&#10;                background: 'rgba(224,138,60,0.14)', borderRadius: 14, padding: 16,&#10;            }}&gt;&#10;                &lt;Box style={{ flexDirection: 'row', alignItems: 'center', gap: 10 }}&gt;&#10;                    &lt;Box style={{ background: '#E08A3C', borderRadius: 12, paddingLeft: 12, paddingRight: 12, paddingTop: 5, paddingBottom: 5 }}&gt;&#10;                        &lt;Text style={{ fontSize: 18, fontWeight: 'bold', color: '#FFFFFF' }}&gt;第 30 天&lt;/Text&gt;&#10;                    &lt;/Box&gt;&#10;                    &lt;Text style={{ fontSize: 24, fontWeight: 'bold', color: '#1E3A32' }}&gt;自己找答案&lt;/Text&gt;&#10;                &lt;/Box&gt;&#10;                &lt;Text style={{ fontSize: 19, color: '#6B7C75', lineHeight: 1.55, marginTop: 10 }}&gt;&#10;                    先看资讯和产品，再带着背景提问；会用品案例三问筛案例；会在社区里翻别人的经验。&#10;                &lt;/Text&gt;&#10;            &lt;/Box&gt;&#10;&#10;            &lt;Box style={{&#10;                marginTop: 'auto', background: '#1F7A5C', borderRadius: 14, padding: 16,&#10;            }}&gt;&#10;                &lt;Text style={{ fontSize: 20, color: '#FFFFFF', lineHeight: 1.55, fontWeight: 'bold' }}&gt;&#10;                    熟练不是问得多，是每次都比上次问得准&#10;                &lt;/Text&gt;&#10;            &lt;/Box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长效使用与协同保障&lt;/Text&gt;&#10;        &lt;/Box&gt;&#10;        &lt;Text style={{ fontSize: 14, color: '#6B7C75' }}&gt;08 / 9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从入门到熟练的</a:t>
            </a:r>
            <a:r>
              <a:rPr lang="en-US" sz="2700" b="1">
                <a:solidFill>
                  <a:srgbClr val="1E3A32"/>
                </a:solidFill>
                <a:latin typeface="Microsoft YaHei"/>
                <a:ea typeface="Microsoft YaHei"/>
              </a:rPr>
              <a:t> 30 </a:t>
            </a: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pic>
        <p:nvPicPr>
          <p:cNvPr id="19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1143000"/>
            <a:ext cx="5762625" cy="5029200"/>
          </a:xfrm>
          <a:prstGeom prst="rect">
            <a:avLst/>
          </a:prstGeom>
          <a:ln/>
        </p:spPr>
      </p:pic>
      <p:sp>
        <p:nvSpPr>
          <p:cNvPr id="194" name=""/>
          <p:cNvSpPr/>
          <p:nvPr/>
        </p:nvSpPr>
        <p:spPr>
          <a:xfrm rot="0" flipH="0" flipV="0">
            <a:off x="6715125" y="1143000"/>
            <a:ext cx="4791075" cy="1381125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5" name=""/>
          <p:cNvSpPr/>
          <p:nvPr/>
        </p:nvSpPr>
        <p:spPr>
          <a:xfrm rot="0" flipH="0" flipV="0">
            <a:off x="6867525" y="1295400"/>
            <a:ext cx="771525" cy="304800"/>
          </a:xfrm>
          <a:prstGeom prst="roundRect">
            <a:avLst>
              <a:gd name="adj" fmla="val 37500"/>
            </a:avLst>
          </a:prstGeom>
          <a:solidFill>
            <a:srgbClr val="1F7A5C">
              <a:alpha val="12000"/>
            </a:srgbClr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6981825" y="1343025"/>
            <a:ext cx="5429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7A5C"/>
                </a:solidFill>
                <a:latin typeface="Microsoft YaHei"/>
                <a:ea typeface="Microsoft YaHei"/>
              </a:rPr>
              <a:t>第</a:t>
            </a:r>
            <a:r>
              <a:rPr lang="en-US" sz="1350" b="1">
                <a:solidFill>
                  <a:srgbClr val="1F7A5C"/>
                </a:solidFill>
                <a:latin typeface="Microsoft YaHei"/>
                <a:ea typeface="Microsoft YaHei"/>
              </a:rPr>
              <a:t> 1 </a:t>
            </a:r>
            <a:r>
              <a:rPr lang="zh-CN" sz="1350" b="1">
                <a:solidFill>
                  <a:srgbClr val="1F7A5C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7734300" y="1314450"/>
            <a:ext cx="457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32"/>
                </a:solidFill>
                <a:latin typeface="Microsoft YaHei"/>
                <a:ea typeface="Microsoft YaHei"/>
              </a:rPr>
              <a:t>敢用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6867525" y="1695450"/>
            <a:ext cx="4486275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把首页四个区域各走一遍，照着示例问题发出第一句话，看一次完整的回答长什么样。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6715125" y="2638425"/>
            <a:ext cx="4791075" cy="1381125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00" name=""/>
          <p:cNvSpPr/>
          <p:nvPr/>
        </p:nvSpPr>
        <p:spPr>
          <a:xfrm rot="0" flipH="0" flipV="0">
            <a:off x="6867525" y="2790825"/>
            <a:ext cx="771525" cy="304800"/>
          </a:xfrm>
          <a:prstGeom prst="roundRect">
            <a:avLst>
              <a:gd name="adj" fmla="val 37500"/>
            </a:avLst>
          </a:prstGeom>
          <a:solidFill>
            <a:srgbClr val="1F7A5C">
              <a:alpha val="12000"/>
            </a:srgbClr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6981825" y="2838450"/>
            <a:ext cx="5429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7A5C"/>
                </a:solidFill>
                <a:latin typeface="Microsoft YaHei"/>
                <a:ea typeface="Microsoft YaHei"/>
              </a:rPr>
              <a:t>第</a:t>
            </a:r>
            <a:r>
              <a:rPr lang="en-US" sz="1350" b="1">
                <a:solidFill>
                  <a:srgbClr val="1F7A5C"/>
                </a:solidFill>
                <a:latin typeface="Microsoft YaHei"/>
                <a:ea typeface="Microsoft YaHei"/>
              </a:rPr>
              <a:t> 7 </a:t>
            </a:r>
            <a:r>
              <a:rPr lang="zh-CN" sz="1350" b="1">
                <a:solidFill>
                  <a:srgbClr val="1F7A5C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7734300" y="2809875"/>
            <a:ext cx="457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32"/>
                </a:solidFill>
                <a:latin typeface="Microsoft YaHei"/>
                <a:ea typeface="Microsoft YaHei"/>
              </a:rPr>
              <a:t>会问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6867525" y="3190875"/>
            <a:ext cx="4486275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提问时自然带上人群、场景和困扰；卡住时会去热门问题和示例问题里找灵感，而不是干坐着。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6715125" y="4133850"/>
            <a:ext cx="4791075" cy="1381125"/>
          </a:xfrm>
          <a:prstGeom prst="roundRect">
            <a:avLst>
              <a:gd name="adj" fmla="val 9655"/>
            </a:avLst>
          </a:prstGeom>
          <a:solidFill>
            <a:srgbClr val="E08A3C">
              <a:alpha val="14000"/>
            </a:srgbClr>
          </a:solidFill>
          <a:ln/>
        </p:spPr>
        <p:txBody>
          <a:bodyPr/>
          <a:p/>
        </p:txBody>
      </p:sp>
      <p:sp>
        <p:nvSpPr>
          <p:cNvPr id="205" name=""/>
          <p:cNvSpPr/>
          <p:nvPr/>
        </p:nvSpPr>
        <p:spPr>
          <a:xfrm rot="0" flipH="0" flipV="0">
            <a:off x="6867525" y="4286250"/>
            <a:ext cx="866775" cy="304800"/>
          </a:xfrm>
          <a:prstGeom prst="roundRect">
            <a:avLst>
              <a:gd name="adj" fmla="val 37500"/>
            </a:avLst>
          </a:prstGeom>
          <a:solidFill>
            <a:srgbClr val="E08A3C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6981825" y="4333875"/>
            <a:ext cx="6381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 30 </a:t>
            </a: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7829550" y="4305300"/>
            <a:ext cx="1143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32"/>
                </a:solidFill>
                <a:latin typeface="Microsoft YaHei"/>
                <a:ea typeface="Microsoft YaHei"/>
              </a:rPr>
              <a:t>自己找答案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6867525" y="4686300"/>
            <a:ext cx="4486275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先看资讯和产品，再带着背景提问；会用品案例三问筛案例；会在社区里翻别人的经验。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6715125" y="5629275"/>
            <a:ext cx="4791075" cy="666750"/>
          </a:xfrm>
          <a:prstGeom prst="roundRect">
            <a:avLst>
              <a:gd name="adj" fmla="val 2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6867525" y="5781675"/>
            <a:ext cx="4486275" cy="3619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熟练不是问得多，是每次都比上次问得准</a:t>
            </a:r>
            <a:endParaRPr/>
          </a:p>
        </p:txBody>
      </p:sp>
      <p:pic>
        <p:nvPicPr>
          <p:cNvPr id="21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长效使用与协同保障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11163300" y="6286500"/>
            <a:ext cx="342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08 / 9</a:t>
            </a:r>
            <a:endParaRPr/>
          </a:p>
        </p:txBody>
      </p:sp>
    </p:spTree>
  </p:cSld>
</p:sld>
</file>

<file path=ppt/slides/slide9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14" name="" descr="&lt;Slide style={{&#10;    background: 'linear-gradient(135deg, #F2F8F4 0%, #DCEDE3 100%)',&#10;    padding: 0,&#10;}}&gt;&#10;    &lt;Box style={{ position: 'absolute', bottom: 0, left: 0, width: '100%', height: 320 }}&gt;&#10;        &lt;svg width=&quot;1280&quot; height=&quot;320&quot; viewBox=&quot;0 0 1280 320&quot;&gt;&#10;            &lt;circle cx=&quot;640&quot; cy=&quot;150&quot; r=&quot;150&quot; fill=&quot;#E08A3C&quot; opacity=&quot;0.14&quot; /&gt;&#10;            &lt;path d=&quot;M0 210 C220 150 400 236 640 190 C880 144 1060 220 1280 176 L1280 320 L0 320 Z&quot; fill=&quot;#A8D5BA&quot; opacity=&quot;0.45&quot; /&gt;&#10;            &lt;path d=&quot;M0 258 C240 210 420 282 660 244 C900 206 1080 268 1280 236 L1280 320 L0 320 Z&quot; fill=&quot;#1F7A5C&quot; opacity=&quot;0.3&quot; /&gt;&#10;            &lt;path d=&quot;M0 296 C260 266 440 308 680 288 C920 268 1100 300 1280 286 L1280 320 L0 320 Z&quot; fill=&quot;#1F7A5C&quot; opacity=&quot;0.42&quot; /&gt;&#10;        &lt;/svg&gt;&#10;    &lt;/Box&gt;&#10;&#10;    &lt;Box style={{ width: '100%', height: '100%', alignItems: 'center', justifyContent: 'center', paddingLeft: 72, paddingRight: 72 }}&gt;&#10;        &lt;Box style={{ flexDirection: 'row', alignItems: 'center', gap: 14 }}&gt;&#10;            &lt;Box style={{ width: 46, height: 46, borderRadius: 23, background: '#1F7A5C', justifyContent: 'center', alignItems: 'center' }}&gt;&#10;                &lt;svg width=&quot;26&quot; height=&quot;26&quot; viewBox=&quot;0 0 24 24&quot;&gt;&#10;                    &lt;path d=&quot;M12 21C12 21 4 17 4 10C4 6 7 3 12 3C17 3 20 6 20 10C20 17 12 21 12 21Z&quot; fill=&quot;#FFFFFF&quot; /&gt;&#10;                    &lt;path d=&quot;M12 21V6&quot; stroke=&quot;#1F7A5C&quot; strokeWidth=&quot;1.8&quot; fill=&quot;none&quot; /&gt;&#10;                &lt;/svg&gt;&#10;            &lt;/Box&gt;&#10;            &lt;Text style={{ fontSize: 22, color: '#1F7A5C', fontWeight: 'bold', letterSpacing: 1 }}&gt;AI宝儿智能体&lt;/Text&gt;&#10;        &lt;/Box&gt;&#10;&#10;        &lt;Text style={{ fontSize: 54, fontWeight: 'bold', color: '#1E3A32', lineHeight: 1.3, textAlign: 'center', marginTop: 40 }}&gt;&#10;            先点进去，先问一句，&lt;br /&gt;再继续追问。&#10;        &lt;/Text&gt;&#10;&#10;        &lt;Box style={{ width: 96, height: 5, borderRadius: 3, background: '#E08A3C', marginTop: 30 }} /&gt;&#10;&#10;        &lt;Text style={{ fontSize: 26, color: '#1E3A32', lineHeight: 1.55, textAlign: 'center', marginTop: 28 }}&gt;&#10;            AI宝儿不是让你学技术，&lt;br /&gt;是帮你把想问的说清楚、把想说的写明白&#10;        &lt;/Text&gt;&#10;&#10;        &lt;Text style={{ fontSize: 20, color: '#6B7C75', lineHeight: 1.5, textAlign: 'center', marginTop: 26 }}&gt;&#10;            不会没关系，慢慢问，就会越来越熟&#10;        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2F8F4"/>
              </a:gs>
              <a:gs pos="100000">
                <a:srgbClr val="DCEDE3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16" name=""/>
          <p:cNvSpPr/>
          <p:nvPr/>
        </p:nvSpPr>
        <p:spPr>
          <a:xfrm rot="0" flipH="0" flipV="0">
            <a:off x="5153025" y="116205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pic>
        <p:nvPicPr>
          <p:cNvPr id="21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248275" y="1257300"/>
            <a:ext cx="247650" cy="247650"/>
          </a:xfrm>
          <a:prstGeom prst="rect">
            <a:avLst/>
          </a:prstGeom>
          <a:ln/>
        </p:spPr>
      </p:pic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5724525" y="1257300"/>
            <a:ext cx="13239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 spc="75">
                <a:solidFill>
                  <a:srgbClr val="1F7A5C"/>
                </a:solidFill>
                <a:latin typeface="Microsoft YaHei"/>
                <a:ea typeface="Microsoft YaHei"/>
              </a:rPr>
              <a:t>AI</a:t>
            </a:r>
            <a:r>
              <a:rPr lang="zh-CN" sz="1650" b="1" spc="75">
                <a:solidFill>
                  <a:srgbClr val="1F7A5C"/>
                </a:solidFill>
                <a:latin typeface="Microsoft YaHei"/>
                <a:ea typeface="Microsoft YaHei"/>
              </a:rPr>
              <a:t>宝儿智能体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3524250" y="1981200"/>
            <a:ext cx="5143500" cy="160972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4050" b="1">
                <a:solidFill>
                  <a:srgbClr val="1E3A32"/>
                </a:solidFill>
                <a:latin typeface="Microsoft YaHei"/>
                <a:ea typeface="Microsoft YaHei"/>
              </a:rPr>
              <a:t>先点进去，先问一句，</a:t>
            </a:r>
            <a:endParaRPr/>
          </a:p>
          <a:p>
            <a:pPr algn="ctr">
              <a:lnSpc>
                <a:spcPct val="130000"/>
              </a:lnSpc>
            </a:pPr>
            <a:r>
              <a:rPr lang="zh-CN" sz="4050" b="1">
                <a:solidFill>
                  <a:srgbClr val="1E3A32"/>
                </a:solidFill>
                <a:latin typeface="Microsoft YaHei"/>
                <a:ea typeface="Microsoft YaHei"/>
              </a:rPr>
              <a:t>再继续追问。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5638800" y="3876675"/>
            <a:ext cx="914400" cy="47625"/>
          </a:xfrm>
          <a:prstGeom prst="roundRect">
            <a:avLst>
              <a:gd name="adj" fmla="val 60000"/>
            </a:avLst>
          </a:prstGeom>
          <a:solidFill>
            <a:srgbClr val="E08A3C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3867150" y="4191000"/>
            <a:ext cx="4457700" cy="923925"/>
          </a:xfrm>
          <a:prstGeom prst="rect"/>
        </p:spPr>
        <p:txBody>
          <a:bodyPr wrap="none" lIns="0" tIns="0" rIns="0" bIns="0"/>
          <a:p>
            <a:pPr algn="ctr">
              <a:lnSpc>
                <a:spcPct val="155000"/>
              </a:lnSpc>
            </a:pPr>
            <a:r>
              <a:rPr lang="en-US" sz="1950">
                <a:solidFill>
                  <a:srgbClr val="1E3A32"/>
                </a:solidFill>
                <a:latin typeface="Microsoft YaHei"/>
                <a:ea typeface="Microsoft YaHei"/>
              </a:rPr>
              <a:t>AI</a:t>
            </a:r>
            <a:r>
              <a:rPr lang="zh-CN" sz="1950">
                <a:solidFill>
                  <a:srgbClr val="1E3A32"/>
                </a:solidFill>
                <a:latin typeface="Microsoft YaHei"/>
                <a:ea typeface="Microsoft YaHei"/>
              </a:rPr>
              <a:t>宝儿不是让你学技术，</a:t>
            </a:r>
            <a:endParaRPr/>
          </a:p>
          <a:p>
            <a:pPr algn="ctr">
              <a:lnSpc>
                <a:spcPct val="155000"/>
              </a:lnSpc>
            </a:pPr>
            <a:r>
              <a:rPr lang="zh-CN" sz="1950">
                <a:solidFill>
                  <a:srgbClr val="1E3A32"/>
                </a:solidFill>
                <a:latin typeface="Microsoft YaHei"/>
                <a:ea typeface="Microsoft YaHei"/>
              </a:rPr>
              <a:t>是帮你把想问的说清楚、把想说的写明白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4572000" y="5362575"/>
            <a:ext cx="3048000" cy="342900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不会没关系，慢慢问，就会越来越熟</a:t>
            </a:r>
            <a:endParaRPr/>
          </a:p>
        </p:txBody>
      </p:sp>
      <p:pic>
        <p:nvPicPr>
          <p:cNvPr id="22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0" y="3810000"/>
            <a:ext cx="12192000" cy="3048000"/>
          </a:xfrm>
          <a:prstGeom prst="rect">
            <a:avLst/>
          </a:prstGeom>
          <a:ln/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2026-08-31T16:35:54Z</dcterms:created>
  <dcterms:modified xsi:type="dcterms:W3CDTF">2026-08-31T16:35:54Z</dcterms:modified>
</cp:coreProperties>
</file>