
<file path=[Content_Types].xml><?xml version="1.0" encoding="utf-8"?>
<Types xmlns="http://schemas.openxmlformats.org/package/2006/content-types">
  <Default Extension="svg" ContentType="image/svg+xml"/>
  <Default Extension="xml" ContentType="application/xml"/>
  <Default Extension="rels" ContentType="application/vnd.openxmlformats-package.relationships+xml"/>
  <Override PartName="/ppt/theme/theme1.xml" ContentType="application/vnd.openxmlformats-officedocument.theme+xml"/>
  <Override PartName="/ppt/slides/slide9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s/slide6.xml" ContentType="application/vnd.openxmlformats-officedocument.presentationml.slide+xml"/>
  <Override PartName="/ppt/slides/slide11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theme/theme2.xml" ContentType="application/vnd.openxmlformats-officedocument.theme+xml"/>
  <Override PartName="/ppt/slides/slide13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1">
  <p:sldMasterIdLst>
    <p:sldMasterId id="2147483648" r:id="rId0"/>
  </p:sldMasterIdLst>
  <p:notesMasterIdLst>
    <p:notesMasterId r:id="rId1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8" Type="http://schemas.openxmlformats.org/officeDocument/2006/relationships/slide" Target="slides/slide8.xml" /><Relationship Id="rId7" Type="http://schemas.openxmlformats.org/officeDocument/2006/relationships/slide" Target="slides/slide7.xml" /><Relationship Id="rId4" Type="http://schemas.openxmlformats.org/officeDocument/2006/relationships/slide" Target="slides/slide4.xml" /><Relationship Id="rId3" Type="http://schemas.openxmlformats.org/officeDocument/2006/relationships/slide" Target="slides/slide3.xml" /><Relationship Id="rId9" Type="http://schemas.openxmlformats.org/officeDocument/2006/relationships/slide" Target="slides/slide9.xml" /><Relationship Id="rId17" Type="http://schemas.openxmlformats.org/officeDocument/2006/relationships/viewProps" Target="viewProps.xml" /><Relationship Id="rId10" Type="http://schemas.openxmlformats.org/officeDocument/2006/relationships/slide" Target="slides/slide10.xml" /><Relationship Id="rId14" Type="http://schemas.openxmlformats.org/officeDocument/2006/relationships/notesMaster" Target="notesMasters/notesMaster1.xml" /><Relationship Id="rId13" Type="http://schemas.openxmlformats.org/officeDocument/2006/relationships/slide" Target="slides/slide13.xml" /><Relationship Id="rId1" Type="http://schemas.openxmlformats.org/officeDocument/2006/relationships/slide" Target="slides/slide1.xml" /><Relationship Id="rId2" Type="http://schemas.openxmlformats.org/officeDocument/2006/relationships/slide" Target="slides/slide2.xml" /><Relationship Id="rId11" Type="http://schemas.openxmlformats.org/officeDocument/2006/relationships/slide" Target="slides/slide11.xml" /><Relationship Id="rId6" Type="http://schemas.openxmlformats.org/officeDocument/2006/relationships/slide" Target="slides/slide6.xml" /><Relationship Id="rId12" Type="http://schemas.openxmlformats.org/officeDocument/2006/relationships/slide" Target="slides/slide12.xml" /><Relationship Id="rId5" Type="http://schemas.openxmlformats.org/officeDocument/2006/relationships/slide" Target="slides/slide5.xml" /><Relationship Id="rId16" Type="http://schemas.openxmlformats.org/officeDocument/2006/relationships/tableStyles" Target="tableStyles.xml" /><Relationship Id="rId15" Type="http://schemas.openxmlformats.org/officeDocument/2006/relationships/presProps" Target="presProps.xml" /><Relationship Id="rId0" Type="http://schemas.openxmlformats.org/officeDocument/2006/relationships/slideMaster" Target="slideMasters/slideMaster1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1.xml" /><Relationship Id="rId0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3" Type="http://schemas.openxmlformats.org/officeDocument/2006/relationships/image" Target="media/image3.svg" /><Relationship Id="rId1" Type="http://schemas.openxmlformats.org/officeDocument/2006/relationships/image" Target="media/image1.svg" /><Relationship Id="rId2" Type="http://schemas.openxmlformats.org/officeDocument/2006/relationships/image" Target="media/image2.sv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2" Type="http://schemas.openxmlformats.org/officeDocument/2006/relationships/image" Target="media/image11.svg" /><Relationship Id="rId3" Type="http://schemas.openxmlformats.org/officeDocument/2006/relationships/image" Target="media/image4.svg" /><Relationship Id="rId1" Type="http://schemas.openxmlformats.org/officeDocument/2006/relationships/image" Target="media/image10.sv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5" Type="http://schemas.openxmlformats.org/officeDocument/2006/relationships/image" Target="media/image4.svg" /><Relationship Id="rId2" Type="http://schemas.openxmlformats.org/officeDocument/2006/relationships/image" Target="media/image13.svg" /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14.svg" /><Relationship Id="rId1" Type="http://schemas.openxmlformats.org/officeDocument/2006/relationships/image" Target="media/image12.svg" /><Relationship Id="rId4" Type="http://schemas.openxmlformats.org/officeDocument/2006/relationships/image" Target="media/image15.svg" /></Relationships>
</file>

<file path=ppt/slides/_rels/slide4.xml.rels><?xml version="1.0" encoding="UTF-8" standalone="yes"?><Relationships xmlns="http://schemas.openxmlformats.org/package/2006/relationships"><Relationship Id="rId2" Type="http://schemas.openxmlformats.org/officeDocument/2006/relationships/image" Target="media/image4.svg" /><Relationship Id="rId1" Type="http://schemas.openxmlformats.org/officeDocument/2006/relationships/image" Target="media/image16.sv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5" Type="http://schemas.openxmlformats.org/officeDocument/2006/relationships/image" Target="media/image4.svg" /><Relationship Id="rId4" Type="http://schemas.openxmlformats.org/officeDocument/2006/relationships/image" Target="media/image20.svg" /><Relationship Id="rId3" Type="http://schemas.openxmlformats.org/officeDocument/2006/relationships/image" Target="media/image19.svg" /><Relationship Id="rId2" Type="http://schemas.openxmlformats.org/officeDocument/2006/relationships/image" Target="media/image18.svg" /><Relationship Id="rId1" Type="http://schemas.openxmlformats.org/officeDocument/2006/relationships/image" Target="media/image17.sv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3" Type="http://schemas.openxmlformats.org/officeDocument/2006/relationships/image" Target="media/image4.svg" /><Relationship Id="rId2" Type="http://schemas.openxmlformats.org/officeDocument/2006/relationships/image" Target="media/image18.svg" /><Relationship Id="rId1" Type="http://schemas.openxmlformats.org/officeDocument/2006/relationships/image" Target="media/image21.sv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3" Type="http://schemas.openxmlformats.org/officeDocument/2006/relationships/image" Target="media/image4.svg" /><Relationship Id="rId2" Type="http://schemas.openxmlformats.org/officeDocument/2006/relationships/image" Target="media/image18.svg" /><Relationship Id="rId1" Type="http://schemas.openxmlformats.org/officeDocument/2006/relationships/image" Target="media/image22.sv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6" Type="http://schemas.openxmlformats.org/officeDocument/2006/relationships/image" Target="media/image4.svg" /><Relationship Id="rId5" Type="http://schemas.openxmlformats.org/officeDocument/2006/relationships/image" Target="media/image27.svg" /><Relationship Id="rId3" Type="http://schemas.openxmlformats.org/officeDocument/2006/relationships/image" Target="media/image25.svg" /><Relationship Id="rId2" Type="http://schemas.openxmlformats.org/officeDocument/2006/relationships/image" Target="media/image24.svg" /><Relationship Id="rId1" Type="http://schemas.openxmlformats.org/officeDocument/2006/relationships/image" Target="media/image23.svg" /><Relationship Id="rId4" Type="http://schemas.openxmlformats.org/officeDocument/2006/relationships/image" Target="media/image26.sv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4.sv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2" Type="http://schemas.openxmlformats.org/officeDocument/2006/relationships/image" Target="media/image4.svg" /><Relationship Id="rId1" Type="http://schemas.openxmlformats.org/officeDocument/2006/relationships/image" Target="media/image5.sv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3" Type="http://schemas.openxmlformats.org/officeDocument/2006/relationships/image" Target="media/image4.svg" /><Relationship Id="rId2" Type="http://schemas.openxmlformats.org/officeDocument/2006/relationships/image" Target="media/image7.svg" /><Relationship Id="rId1" Type="http://schemas.openxmlformats.org/officeDocument/2006/relationships/image" Target="media/image6.sv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3" Type="http://schemas.openxmlformats.org/officeDocument/2006/relationships/image" Target="media/image4.svg" /><Relationship Id="rId2" Type="http://schemas.openxmlformats.org/officeDocument/2006/relationships/image" Target="media/image9.svg" /><Relationship Id="rId1" Type="http://schemas.openxmlformats.org/officeDocument/2006/relationships/image" Target="media/image8.svg" /><Relationship Id="rId0" Type="http://schemas.openxmlformats.org/officeDocument/2006/relationships/slideLayout" Target="../slideLayouts/slideLayout1.xml" /></Relationships>
</file>

<file path=ppt/slides/slide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" name="" descr="&lt;Slide style={{&#10;    background: 'linear-gradient(135deg, #F2F8F4 0%, #DCEDE3 100%)',&#10;    padding: 0,&#10;}}&gt;&#10;    &lt;Box style={{ flexDirection: 'row', width: '100%', height: '100%' }}&gt;&#10;        &lt;Box style={{ width: 660, height: '100%', paddingLeft: 72, paddingRight: 24, paddingTop: 132 }}&gt;&#10;            &lt;Box style={{ flexDirection: 'row', alignItems: 'center', gap: 14 }}&gt;&#10;                &lt;Box style={{ width: 46, height: 46, borderRadius: 23, background: '#1F7A5C', justifyContent: 'center', alignItems: 'center' }}&gt;&#10;                    &lt;svg width=&quot;26&quot; height=&quot;26&quot; viewBox=&quot;0 0 24 24&quot;&gt;&#10;                        &lt;path d=&quot;M12 21C12 21 4 17 4 10C4 6 7 3 12 3C17 3 20 6 20 10C20 17 12 21 12 21Z&quot; fill=&quot;#FFFFFF&quot; /&gt;&#10;                        &lt;path d=&quot;M12 21V6&quot; stroke=&quot;#1F7A5C&quot; strokeWidth=&quot;1.8&quot; fill=&quot;none&quot; /&gt;&#10;                    &lt;/svg&gt;&#10;                &lt;/Box&gt;&#10;                &lt;Text style={{ fontSize: 22, color: '#1F7A5C', fontWeight: 'bold', letterSpacing: 1 }}&gt;AI宝儿智能体&lt;/Text&gt;&#10;            &lt;/Box&gt;&#10;&#10;            &lt;Text style={{ fontSize: 20, color: '#1F7A5C', fontWeight: 'bold', marginTop: 40, letterSpacing: 1 }}&gt;&#10;                第 2 套 / 共 3 套 · 终端用户培训&#10;            &lt;/Text&gt;&#10;&#10;            &lt;Text style={{ fontSize: 72, fontWeight: 'bold', color: '#1E3A32', lineHeight: 1.15, marginTop: 14 }}&gt;&#10;                内容&lt;br /&gt;与案例参考&#10;            &lt;/Text&gt;&#10;&#10;            &lt;Box style={{ width: 96, height: 5, borderRadius: 3, background: '#E08A3C', marginTop: 24 }} /&gt;&#10;&#10;            &lt;Text style={{ fontSize: 26, color: '#1E3A32', lineHeight: 1.55, marginTop: 24 }}&gt;&#10;                把现成内容变成&lt;span style={{ color: '#C9742B', fontWeight: 'bold' }}&gt;更好的问题&lt;/span&gt;&lt;br /&gt;&#10;                用资讯 / 产品 / 历史 / 案例，让答案更贴你的情况&#10;            &lt;/Text&gt;&#10;&#10;            &lt;Box style={{&#10;                flexDirection: 'row', alignItems: 'center', gap: 18, marginTop: 44,&#10;                background: 'rgba(255,255,255,0.72)', borderRadius: 14, padding: 18, width: 470,&#10;            }}&gt;&#10;                &lt;FAIcon name='book' style={{ fill: '#1F7A5C', width: 26, height: 26 }} /&gt;&#10;                &lt;Text style={{ fontSize: 20, color: '#1E3A32' }}&gt;&#10;                    13 页 · 讲练结合 · 已完成第 1 套&#10;                &lt;/Text&gt;&#10;            &lt;/Box&gt;&#10;        &lt;/Box&gt;&#10;&#10;        &lt;Box style={{ flex: 1, height: '100%' }}&gt;&#10;            &lt;svg width=&quot;620&quot; height=&quot;720&quot; viewBox=&quot;0 0 620 720&quot;&gt;&#10;                &lt;circle cx=&quot;452&quot; cy=&quot;168&quot; r=&quot;132&quot; fill=&quot;#E08A3C&quot; opacity=&quot;0.26&quot; /&gt;&#10;                &lt;circle cx=&quot;452&quot; cy=&quot;168&quot; r=&quot;88&quot; fill=&quot;#E08A3C&quot; opacity=&quot;0.2&quot; /&gt;&#10;                &lt;path d=&quot;M0 500 Q150 402 300 484 T620 448 L620 720 L0 720 Z&quot; fill=&quot;#A8D5BA&quot; opacity=&quot;0.55&quot; /&gt;&#10;                &lt;path d=&quot;M0 566 Q190 486 380 548 T620 522 L620 720 L0 720 Z&quot; fill=&quot;#1F7A5C&quot; opacity=&quot;0.26&quot; /&gt;&#10;                &lt;path d=&quot;M0 638 Q170 588 350 630 T620 604 L620 720 L0 720 Z&quot; fill=&quot;#1F7A5C&quot; opacity=&quot;0.46&quot; /&gt;&#10;                &lt;path d=&quot;M120 470 q30 -46 74 -58 q-8 50 -74 58Z&quot; fill=&quot;#1F7A5C&quot; opacity=&quot;0.55&quot; /&gt;&#10;                &lt;path d=&quot;M212 512 q26 -40 64 -50 q-7 44 -64 50Z&quot; fill=&quot;#1F7A5C&quot; opacity=&quot;0.4&quot; /&gt;&#10;                &lt;path d=&quot;M470 300 q34 -52 84 -66 q-9 57 -84 66Z&quot; fill=&quot;#1F7A5C&quot; opacity=&quot;0.32&quot; /&gt;&#10;                &lt;path d=&quot;M60 452 L120 470&quot; stroke=&quot;#1F7A5C&quot; strokeWidth=&quot;4&quot; opacity=&quot;0.45&quot; fill=&quot;none&quot; /&gt;&#10;                &lt;path d=&quot;M470 300 L470 250&quot; stroke=&quot;#1F7A5C&quot; strokeWidth=&quot;4&quot; opacity=&quot;0.35&quot; fill=&quot;none&quot; /&gt;&#10;            &lt;/svg&gt;&#10;        &lt;/Box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F2F8F4"/>
              </a:gs>
              <a:gs pos="100000">
                <a:srgbClr val="DCEDE3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685800" y="12573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81050" y="1352550"/>
            <a:ext cx="247650" cy="247650"/>
          </a:xfrm>
          <a:prstGeom prst="rect">
            <a:avLst/>
          </a:prstGeom>
          <a:ln/>
        </p:spPr>
      </p:pic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1257300" y="1352550"/>
            <a:ext cx="13239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 spc="75">
                <a:solidFill>
                  <a:srgbClr val="1F7A5C"/>
                </a:solidFill>
                <a:latin typeface="Microsoft YaHei"/>
                <a:ea typeface="Microsoft YaHei"/>
              </a:rPr>
              <a:t>AI</a:t>
            </a:r>
            <a:r>
              <a:rPr lang="zh-CN" sz="1650" b="1" spc="75">
                <a:solidFill>
                  <a:srgbClr val="1F7A5C"/>
                </a:solidFill>
                <a:latin typeface="Microsoft YaHei"/>
                <a:ea typeface="Microsoft YaHei"/>
              </a:rPr>
              <a:t>宝儿智能体</a:t>
            </a:r>
            <a:endParaRPr/>
          </a:p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685800" y="2076450"/>
            <a:ext cx="53721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第</a:t>
            </a:r>
            <a:r>
              <a:rPr lang="en-US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 2 </a:t>
            </a:r>
            <a:r>
              <a:rPr lang="zh-CN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套</a:t>
            </a:r>
            <a:r>
              <a:rPr lang="en-US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 / </a:t>
            </a:r>
            <a:r>
              <a:rPr lang="zh-CN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共</a:t>
            </a:r>
            <a:r>
              <a:rPr lang="en-US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 3 </a:t>
            </a:r>
            <a:r>
              <a:rPr lang="zh-CN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套</a:t>
            </a:r>
            <a:r>
              <a:rPr lang="en-US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 · </a:t>
            </a:r>
            <a:r>
              <a:rPr lang="zh-CN" sz="1500" b="1" spc="75">
                <a:solidFill>
                  <a:srgbClr val="1F7A5C"/>
                </a:solidFill>
                <a:latin typeface="Microsoft YaHei"/>
                <a:ea typeface="Microsoft YaHei"/>
              </a:rPr>
              <a:t>终端用户培训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85800" y="2438400"/>
            <a:ext cx="5372100" cy="1895475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5400" b="1">
                <a:solidFill>
                  <a:srgbClr val="1E3A32"/>
                </a:solidFill>
                <a:latin typeface="Microsoft YaHei"/>
                <a:ea typeface="Microsoft YaHei"/>
              </a:rPr>
              <a:t>内容</a:t>
            </a:r>
            <a:endParaRPr/>
          </a:p>
          <a:p>
            <a:pPr>
              <a:lnSpc>
                <a:spcPct val="114999"/>
              </a:lnSpc>
            </a:pPr>
            <a:r>
              <a:rPr lang="zh-CN" sz="5400" b="1">
                <a:solidFill>
                  <a:srgbClr val="1E3A32"/>
                </a:solidFill>
                <a:latin typeface="Microsoft YaHei"/>
                <a:ea typeface="Microsoft YaHei"/>
              </a:rPr>
              <a:t>与案例参考</a:t>
            </a:r>
            <a:endParaRPr/>
          </a:p>
        </p:txBody>
      </p:sp>
      <p:sp>
        <p:nvSpPr>
          <p:cNvPr id="8" name=""/>
          <p:cNvSpPr/>
          <p:nvPr/>
        </p:nvSpPr>
        <p:spPr>
          <a:xfrm rot="0" flipH="0" flipV="0">
            <a:off x="685800" y="4562475"/>
            <a:ext cx="914400" cy="47625"/>
          </a:xfrm>
          <a:prstGeom prst="roundRect">
            <a:avLst>
              <a:gd name="adj" fmla="val 6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685800" y="4838700"/>
            <a:ext cx="5372100" cy="9239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950">
                <a:solidFill>
                  <a:srgbClr val="1E3A32"/>
                </a:solidFill>
                <a:latin typeface="Microsoft YaHei"/>
                <a:ea typeface="Microsoft YaHei"/>
              </a:rPr>
              <a:t>把现成内容变成</a:t>
            </a:r>
            <a:r>
              <a:rPr lang="zh-CN" sz="1950" b="1">
                <a:solidFill>
                  <a:srgbClr val="C9742B"/>
                </a:solidFill>
                <a:latin typeface="Microsoft YaHei"/>
                <a:ea typeface="Microsoft YaHei"/>
              </a:rPr>
              <a:t>更好的问题</a:t>
            </a:r>
            <a:endParaRPr/>
          </a:p>
          <a:p>
            <a:pPr>
              <a:lnSpc>
                <a:spcPct val="155000"/>
              </a:lnSpc>
            </a:pPr>
            <a:r>
              <a:rPr lang="zh-CN" sz="1950">
                <a:solidFill>
                  <a:srgbClr val="1E3A32"/>
                </a:solidFill>
                <a:latin typeface="Microsoft YaHei"/>
                <a:ea typeface="Microsoft YaHei"/>
              </a:rPr>
              <a:t>用资讯</a:t>
            </a:r>
            <a:r>
              <a:rPr lang="en-US" sz="1950">
                <a:solidFill>
                  <a:srgbClr val="1E3A32"/>
                </a:solidFill>
                <a:latin typeface="Microsoft YaHei"/>
                <a:ea typeface="Microsoft YaHei"/>
              </a:rPr>
              <a:t> / </a:t>
            </a:r>
            <a:r>
              <a:rPr lang="zh-CN" sz="1950">
                <a:solidFill>
                  <a:srgbClr val="1E3A32"/>
                </a:solidFill>
                <a:latin typeface="Microsoft YaHei"/>
                <a:ea typeface="Microsoft YaHei"/>
              </a:rPr>
              <a:t>产品</a:t>
            </a:r>
            <a:r>
              <a:rPr lang="en-US" sz="1950">
                <a:solidFill>
                  <a:srgbClr val="1E3A32"/>
                </a:solidFill>
                <a:latin typeface="Microsoft YaHei"/>
                <a:ea typeface="Microsoft YaHei"/>
              </a:rPr>
              <a:t> / </a:t>
            </a:r>
            <a:r>
              <a:rPr lang="zh-CN" sz="1950">
                <a:solidFill>
                  <a:srgbClr val="1E3A32"/>
                </a:solidFill>
                <a:latin typeface="Microsoft YaHei"/>
                <a:ea typeface="Microsoft YaHei"/>
              </a:rPr>
              <a:t>历史</a:t>
            </a:r>
            <a:r>
              <a:rPr lang="en-US" sz="1950">
                <a:solidFill>
                  <a:srgbClr val="1E3A32"/>
                </a:solidFill>
                <a:latin typeface="Microsoft YaHei"/>
                <a:ea typeface="Microsoft YaHei"/>
              </a:rPr>
              <a:t> / </a:t>
            </a:r>
            <a:r>
              <a:rPr lang="zh-CN" sz="1950">
                <a:solidFill>
                  <a:srgbClr val="1E3A32"/>
                </a:solidFill>
                <a:latin typeface="Microsoft YaHei"/>
                <a:ea typeface="Microsoft YaHei"/>
              </a:rPr>
              <a:t>案例，让答案更贴你的情况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685800" y="6181725"/>
            <a:ext cx="4476750" cy="590550"/>
          </a:xfrm>
          <a:prstGeom prst="roundRect">
            <a:avLst>
              <a:gd name="adj" fmla="val 22581"/>
            </a:avLst>
          </a:prstGeom>
          <a:solidFill>
            <a:srgbClr val="FFFFFF">
              <a:alpha val="72000"/>
            </a:srgbClr>
          </a:solidFill>
          <a:ln/>
        </p:spPr>
        <p:txBody>
          <a:bodyPr/>
          <a:p/>
        </p:txBody>
      </p:sp>
      <p:pic>
        <p:nvPicPr>
          <p:cNvPr id="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857250" y="6353175"/>
            <a:ext cx="247650" cy="247650"/>
          </a:xfrm>
          <a:prstGeom prst="rect">
            <a:avLst/>
          </a:prstGeom>
          <a:ln/>
        </p:spPr>
      </p:pic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1276350" y="6362700"/>
            <a:ext cx="27241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13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页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讲练结合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·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已完成第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1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套</a:t>
            </a:r>
            <a:endParaRPr/>
          </a:p>
        </p:txBody>
      </p:sp>
      <p:pic>
        <p:nvPicPr>
          <p:cNvPr id="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286500" y="0"/>
            <a:ext cx="5905500" cy="6858000"/>
          </a:xfrm>
          <a:prstGeom prst="rect">
            <a:avLst/>
          </a:prstGeom>
          <a:ln/>
        </p:spPr>
      </p:pic>
    </p:spTree>
  </p:cSld>
</p:sld>
</file>

<file path=ppt/slides/slide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19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为什么「先读再问」&lt;/Text&gt;&#10;        &lt;Box style={{ width: 56, height: 4, borderRadius: 2, background: '#1F7A5C', marginTop: 8 }} /&gt;&#10;    &lt;/Box&gt;&#10;&#10;    &lt;Box style={{ height: 528, flexDirection: 'row', gap: 28 }}&gt;&#10;        &lt;Box style={{ flex: 1, height: 528, background: '#FFFFFF', borderRadius: 14, padding: 24, boxShadow: '0 4px 20px rgba(30,58,50,0.08)' }}&gt;&#10;            &lt;Box style={{ flexDirection: 'row', alignItems: 'center', gap: 12 }}&gt;&#10;                &lt;Box style={{ width: 40, height: 40, borderRadius: 20, background: 'rgba(168,213,186,0.4)', justifyContent: 'center', alignItems: 'center' }}&gt;&#10;                    &lt;FAIcon name='comment' style={{ fill: '#1F7A5C', width: 22, height: 22 }} /&gt;&#10;                &lt;/Box&gt;&#10;                &lt;Text style={{ fontSize: 23, fontWeight: 'bold', color: '#1E3A32' }}&gt;直接问：信息少&lt;/Text&gt;&#10;            &lt;/Box&gt;&#10;            &lt;Box style={{ marginTop: 18, background: 'rgba(31,122,92,0.06)', borderRadius: 12, padding: 18 }}&gt;&#10;                &lt;Text style={{ fontSize: 21, color: '#1E3A32', lineHeight: 1.55 }}&gt;&#10;                    「XX 怎么用？」&#10;                &lt;/Text&gt;&#10;            &lt;/Box&gt;&#10;            &lt;Text style={{ fontSize: 20, color: '#6B7C75', lineHeight: 1.6, marginTop: 16 }}&gt;&#10;                问句里没有背景，AI 拿到的信息少，只能给通用答案，常常答非你所需。&#10;            &lt;/Text&gt;&#10;            &lt;Text style={{ fontSize: 20, color: '#6B7C75', lineHeight: 1.6, marginTop: 12 }}&gt;&#10;                你可能还要来回追问好几轮，才把情况说清。&#10;            &lt;/Text&gt;&#10;        &lt;/Box&gt;&#10;&#10;        &lt;Box style={{ flex: 1, height: 528, background: '#FFFFFF', borderRadius: 14, padding: 24, boxShadow: '0 4px 20px rgba(30,58,50,0.08)' }}&gt;&#10;            &lt;Box style={{ flexDirection: 'row', alignItems: 'center', gap: 12 }}&gt;&#10;                &lt;Box style={{ width: 40, height: 40, borderRadius: 20, background: '#1F7A5C', justifyContent: 'center', alignItems: 'center' }}&gt;&#10;                    &lt;FAIcon name='book' style={{ fill: '#FFFFFF', width: 22, height: 22 }} /&gt;&#10;                &lt;/Box&gt;&#10;                &lt;Text style={{ fontSize: 23, fontWeight: 'bold', color: '#1F7A5C' }}&gt;先读后问：信息多&lt;/Text&gt;&#10;            &lt;/Box&gt;&#10;            &lt;Box style={{ marginTop: 18, background: 'rgba(31,122,92,0.06)', borderRadius: 12, padding: 18 }}&gt;&#10;                &lt;Text style={{ fontSize: 21, color: '#1E3A32', lineHeight: 1.55 }}&gt;&#10;                    「我看资讯说 XX 适合 A 情况，我属于 A，具体怎么用？」&#10;                &lt;/Text&gt;&#10;            &lt;/Box&gt;&#10;            &lt;Text style={{ fontSize: 20, color: '#1E3A32', lineHeight: 1.6, marginTop: 16 }}&gt;&#10;                问句自带背景词，AI 拿到的信息多，答案更贴你的情况。&#10;            &lt;/Text&gt;&#10;            &lt;Text style={{ fontSize: 20, color: '#1E3A32', lineHeight: 1.6, marginTop: 12 }}&gt;&#10;                资讯、产品、案例都是「喂料」，不是答案本身——它们给提问提供背景。&#10;            &lt;/Text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内容与案例参考&lt;/Text&gt;&#10;        &lt;/Box&gt;&#10;        &lt;Text style={{ fontSize: 14, color: '#6B7C75' }}&gt;02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为什么「先读再问」</a:t>
            </a:r>
            <a:endParaRPr/>
          </a:p>
        </p:txBody>
      </p:sp>
      <p:sp>
        <p:nvSpPr>
          <p:cNvPr id="122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23" name=""/>
          <p:cNvSpPr/>
          <p:nvPr/>
        </p:nvSpPr>
        <p:spPr>
          <a:xfrm rot="0" flipH="0" flipV="0">
            <a:off x="685800" y="1143000"/>
            <a:ext cx="5276850" cy="5029200"/>
          </a:xfrm>
          <a:prstGeom prst="roundRect">
            <a:avLst>
              <a:gd name="adj" fmla="val 265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24" name=""/>
          <p:cNvSpPr/>
          <p:nvPr/>
        </p:nvSpPr>
        <p:spPr>
          <a:xfrm rot="0" flipH="0" flipV="0">
            <a:off x="914400" y="13716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A8D5BA">
              <a:alpha val="40000"/>
            </a:srgbClr>
          </a:solidFill>
          <a:ln/>
        </p:spPr>
        <p:txBody>
          <a:bodyPr/>
          <a:p/>
        </p:txBody>
      </p:sp>
      <p:pic>
        <p:nvPicPr>
          <p:cNvPr id="1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000125" y="1457325"/>
            <a:ext cx="209550" cy="209550"/>
          </a:xfrm>
          <a:prstGeom prst="rect">
            <a:avLst/>
          </a:prstGeom>
          <a:ln/>
        </p:spPr>
      </p:pic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1409700" y="1428750"/>
            <a:ext cx="1533525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E3A32"/>
                </a:solidFill>
                <a:latin typeface="Microsoft YaHei"/>
                <a:ea typeface="Microsoft YaHei"/>
              </a:rPr>
              <a:t>直接问：信息少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914400" y="1924050"/>
            <a:ext cx="4819650" cy="723900"/>
          </a:xfrm>
          <a:prstGeom prst="roundRect">
            <a:avLst>
              <a:gd name="adj" fmla="val 15789"/>
            </a:avLst>
          </a:prstGeom>
          <a:solidFill>
            <a:srgbClr val="1F7A5C">
              <a:alpha val="6000"/>
            </a:srgbClr>
          </a:solidFill>
          <a:ln/>
        </p:spPr>
        <p:txBody>
          <a:bodyPr/>
          <a:p/>
        </p:txBody>
      </p:sp>
      <p:sp>
        <p:nvSpPr>
          <p:cNvPr id="128" name="" descr="{&quot;isTemplate&quot;:true,&quot;type&quot;:&quot;text&quot;}"/>
          <p:cNvSpPr txBox="1"/>
          <p:nvPr/>
        </p:nvSpPr>
        <p:spPr>
          <a:xfrm rot="0" flipH="0" flipV="0">
            <a:off x="1085850" y="2095500"/>
            <a:ext cx="4476750" cy="38100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「</a:t>
            </a:r>
            <a:r>
              <a:rPr lang="en-US" sz="1575">
                <a:solidFill>
                  <a:srgbClr val="1E3A32"/>
                </a:solidFill>
                <a:latin typeface="Microsoft YaHei"/>
                <a:ea typeface="Microsoft YaHei"/>
              </a:rPr>
              <a:t>XX </a:t>
            </a: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怎么用？」</a:t>
            </a:r>
            <a:endParaRPr/>
          </a:p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914400" y="2800350"/>
            <a:ext cx="48196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问句里没有背景，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AI 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拿到的信息少，只能给通用答案，常常答非你所需。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914400" y="3648075"/>
            <a:ext cx="481965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你可能还要来回追问好几轮，才把情况说清。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6229350" y="1143000"/>
            <a:ext cx="5276850" cy="5029200"/>
          </a:xfrm>
          <a:prstGeom prst="roundRect">
            <a:avLst>
              <a:gd name="adj" fmla="val 265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32" name=""/>
          <p:cNvSpPr/>
          <p:nvPr/>
        </p:nvSpPr>
        <p:spPr>
          <a:xfrm rot="0" flipH="0" flipV="0">
            <a:off x="6457950" y="137160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13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543675" y="1457325"/>
            <a:ext cx="209550" cy="209550"/>
          </a:xfrm>
          <a:prstGeom prst="rect">
            <a:avLst/>
          </a:prstGeom>
          <a:ln/>
        </p:spPr>
      </p:pic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6953250" y="1428750"/>
            <a:ext cx="175260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F7A5C"/>
                </a:solidFill>
                <a:latin typeface="Microsoft YaHei"/>
                <a:ea typeface="Microsoft YaHei"/>
              </a:rPr>
              <a:t>先读后问：信息多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6457950" y="1924050"/>
            <a:ext cx="4819650" cy="1095375"/>
          </a:xfrm>
          <a:prstGeom prst="roundRect">
            <a:avLst>
              <a:gd name="adj" fmla="val 10435"/>
            </a:avLst>
          </a:prstGeom>
          <a:solidFill>
            <a:srgbClr val="1F7A5C">
              <a:alpha val="6000"/>
            </a:srgbClr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6629400" y="2095500"/>
            <a:ext cx="4476750" cy="7524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「我看资讯说</a:t>
            </a:r>
            <a:r>
              <a:rPr lang="en-US" sz="1575">
                <a:solidFill>
                  <a:srgbClr val="1E3A32"/>
                </a:solidFill>
                <a:latin typeface="Microsoft YaHei"/>
                <a:ea typeface="Microsoft YaHei"/>
              </a:rPr>
              <a:t> XX </a:t>
            </a: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适合</a:t>
            </a:r>
            <a:r>
              <a:rPr lang="en-US" sz="1575">
                <a:solidFill>
                  <a:srgbClr val="1E3A32"/>
                </a:solidFill>
                <a:latin typeface="Microsoft YaHei"/>
                <a:ea typeface="Microsoft YaHei"/>
              </a:rPr>
              <a:t> A </a:t>
            </a: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情况，我属于</a:t>
            </a:r>
            <a:r>
              <a:rPr lang="en-US" sz="1575">
                <a:solidFill>
                  <a:srgbClr val="1E3A32"/>
                </a:solidFill>
                <a:latin typeface="Microsoft YaHei"/>
                <a:ea typeface="Microsoft YaHei"/>
              </a:rPr>
              <a:t> A</a:t>
            </a: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，具体怎么用？」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6457950" y="3171825"/>
            <a:ext cx="4819650" cy="3714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问句自带背景词，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AI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拿到的信息多，答案更贴你的情况。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6457950" y="3657600"/>
            <a:ext cx="4819650" cy="7334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资讯、产品、案例都是「喂料」，不是答案本身——它们给提问提供背景。</a:t>
            </a:r>
            <a:endParaRPr/>
          </a:p>
        </p:txBody>
      </p:sp>
      <p:pic>
        <p:nvPicPr>
          <p:cNvPr id="13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内容与案例参考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02 / 13</a:t>
            </a:r>
            <a:endParaRPr/>
          </a:p>
        </p:txBody>
      </p:sp>
    </p:spTree>
  </p:cSld>
</p:sld>
</file>

<file path=ppt/slides/slide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42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内容版图概览&lt;/Text&gt;&#10;        &lt;Box style={{ width: 56, height: 4, borderRadius: 2, background: '#1F7A5C', marginTop: 8 }} /&gt;&#10;    &lt;/Box&gt;&#10;&#10;    &lt;Box style={{ height: 528 }}&gt;&#10;        &lt;Text style={{ fontSize: 21, color: '#1E3A32', lineHeight: 1.5 }}&gt;&#10;            四类内容各管什么——先有地图，再进细节，用的时候不迷路。&#10;        &lt;/Text&gt;&#10;        &lt;Box style={{ flexDirection: 'row', gap: 20, marginTop: 12 }}&gt;&#10;            &lt;Box style={{ flex: 1, height: 310, background: '#FFFFFF', borderRadius: 14, padding: 22, boxShadow: '0 4px 20px rgba(30,58,50,0.08)' }}&gt;&#10;                &lt;Box style={{ flexDirection: 'row', alignItems: 'center', gap: 12 }}&gt;&#10;                    &lt;Box style={{ width: 42, height: 42, borderRadius: 21, background: '#1F7A5C', justifyContent: 'center', alignItems: 'center' }}&gt;&#10;                        &lt;FAIcon name='newspaper' style={{ fill: '#FFFFFF', width: 24, height: 24 }} /&gt;&#10;                    &lt;/Box&gt;&#10;                    &lt;Text style={{ fontSize: 23, fontWeight: 'bold', color: '#1E3A32' }}&gt;资讯&lt;/Text&gt;&#10;                &lt;/Box&gt;&#10;                &lt;Text style={{ fontSize: 20, color: '#1E3A32', lineHeight: 1.55, marginTop: 14 }}&gt;&#10;                    行业 / 科普文章，帮你建立基础认知。&#10;                &lt;/Text&gt;&#10;                &lt;Box style={{ marginTop: 'auto', background: 'rgba(31,122,92,0.06)', borderRadius: 10, padding: 12 }}&gt;&#10;                    &lt;Text style={{ fontSize: 17, color: '#6B7C75' }}&gt;出现位置：首页资讯流 → 阅读详情&lt;/Text&gt;&#10;                &lt;/Box&gt;&#10;            &lt;/Box&gt;&#10;            &lt;Box style={{ flex: 1, height: 310, background: '#FFFFFF', borderRadius: 14, padding: 22, boxShadow: '0 4px 20px rgba(30,58,50,0.08)' }}&gt;&#10;                &lt;Box style={{ flexDirection: 'row', alignItems: 'center', gap: 12 }}&gt;&#10;                    &lt;Box style={{ width: 42, height: 42, borderRadius: 21, background: '#1F7A5C', justifyContent: 'center', alignItems: 'center' }}&gt;&#10;                        &lt;FAIcon name='box' style={{ fill: '#FFFFFF', width: 24, height: 24 }} /&gt;&#10;                    &lt;/Box&gt;&#10;                    &lt;Text style={{ fontSize: 23, fontWeight: 'bold', color: '#1E3A32' }}&gt;产品&lt;/Text&gt;&#10;                &lt;/Box&gt;&#10;                &lt;Text style={{ fontSize: 20, color: '#1E3A32', lineHeight: 1.55, marginTop: 14 }}&gt;&#10;                    资料与用法，解「是什么 / 怎么用」。&#10;                &lt;/Text&gt;&#10;                &lt;Box style={{ marginTop: 'auto', background: 'rgba(31,122,92,0.06)', borderRadius: 10, padding: 12 }}&gt;&#10;                    &lt;Text style={{ fontSize: 17, color: '#6B7C75' }}&gt;出现位置：快捷入口「产品资料查询」&lt;/Text&gt;&#10;                &lt;/Box&gt;&#10;            &lt;/Box&gt;&#10;        &lt;/Box&gt;&#10;        &lt;Box style={{ flexDirection: 'row', gap: 20, marginTop: 16 }}&gt;&#10;            &lt;Box style={{ flex: 1, height: 120, background: '#FFFFFF', borderRadius: 14, padding: 18, boxShadow: '0 4px 20px rgba(30,58,50,0.08)' }}&gt;&#10;                &lt;Box style={{ flexDirection: 'row', alignItems: 'center', gap: 12 }}&gt;&#10;                    &lt;FAIcon name='history' style={{ fill: '#1F7A5C', width: 26, height: 26 }} /&gt;&#10;                    &lt;Text style={{ fontSize: 22, fontWeight: 'bold', color: '#1E3A32' }}&gt;历史&lt;/Text&gt;&#10;                &lt;/Box&gt;&#10;                &lt;Text style={{ fontSize: 19, color: '#1E3A32', lineHeight: 1.5, marginTop: 8 }}&gt;&#10;                    你聊过的都留着，随时回看。&#10;                &lt;/Text&gt;&#10;            &lt;/Box&gt;&#10;            &lt;Box style={{ flex: 1, height: 120, background: '#FFFFFF', borderRadius: 14, padding: 18, boxShadow: '0 4px 20px rgba(30,58,50,0.08)' }}&gt;&#10;                &lt;Box style={{ flexDirection: 'row', alignItems: 'center', gap: 12 }}&gt;&#10;                    &lt;FAIcon name='copy' style={{ fill: '#E08A3C', width: 26, height: 26 }} /&gt;&#10;                    &lt;Text style={{ fontSize: 22, fontWeight: 'bold', color: '#1E3A32' }}&gt;案例&lt;/Text&gt;&#10;                &lt;/Box&gt;&#10;                &lt;Text style={{ fontSize: 19, color: '#1E3A32', lineHeight: 1.5, marginTop: 8 }}&gt;&#10;                    别人的经验，回答后自动出现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内容与案例参考&lt;/Text&gt;&#10;        &lt;/Box&gt;&#10;        &lt;Text style={{ fontSize: 14, color: '#6B7C75' }}&gt;03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内容版图概览</a:t>
            </a:r>
            <a:endParaRPr/>
          </a:p>
        </p:txBody>
      </p:sp>
      <p:sp>
        <p:nvSpPr>
          <p:cNvPr id="145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108204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四类内容各管什么——先有地图，再进细节，用的时候不迷路。</a:t>
            </a:r>
            <a:endParaRPr/>
          </a:p>
        </p:txBody>
      </p:sp>
      <p:sp>
        <p:nvSpPr>
          <p:cNvPr id="147" name=""/>
          <p:cNvSpPr/>
          <p:nvPr/>
        </p:nvSpPr>
        <p:spPr>
          <a:xfrm rot="0" flipH="0" flipV="0">
            <a:off x="685800" y="1619250"/>
            <a:ext cx="5314950" cy="295275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48" name=""/>
          <p:cNvSpPr/>
          <p:nvPr/>
        </p:nvSpPr>
        <p:spPr>
          <a:xfrm rot="0" flipH="0" flipV="0">
            <a:off x="895350" y="18288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14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981075" y="1914525"/>
            <a:ext cx="228600" cy="228600"/>
          </a:xfrm>
          <a:prstGeom prst="rect">
            <a:avLst/>
          </a:prstGeom>
          <a:ln/>
        </p:spPr>
      </p:pic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1409700" y="1895475"/>
            <a:ext cx="4381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E3A32"/>
                </a:solidFill>
                <a:latin typeface="Microsoft YaHei"/>
                <a:ea typeface="Microsoft YaHei"/>
              </a:rPr>
              <a:t>资讯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895350" y="2362200"/>
            <a:ext cx="4895850" cy="3619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行业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科普文章，帮你建立基础认知。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895350" y="3933825"/>
            <a:ext cx="4895850" cy="428625"/>
          </a:xfrm>
          <a:prstGeom prst="roundRect">
            <a:avLst>
              <a:gd name="adj" fmla="val 22222"/>
            </a:avLst>
          </a:prstGeom>
          <a:solidFill>
            <a:srgbClr val="1F7A5C">
              <a:alpha val="6000"/>
            </a:srgbClr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1009650" y="4048125"/>
            <a:ext cx="4667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B7C75"/>
                </a:solidFill>
                <a:latin typeface="Microsoft YaHei"/>
                <a:ea typeface="Microsoft YaHei"/>
              </a:rPr>
              <a:t>出现位置：首页资讯流</a:t>
            </a:r>
            <a:r>
              <a:rPr lang="en-US" sz="1275">
                <a:solidFill>
                  <a:srgbClr val="6B7C75"/>
                </a:solidFill>
                <a:latin typeface="Microsoft YaHei"/>
                <a:ea typeface="Microsoft YaHei"/>
              </a:rPr>
              <a:t> → </a:t>
            </a:r>
            <a:r>
              <a:rPr lang="zh-CN" sz="1275">
                <a:solidFill>
                  <a:srgbClr val="6B7C75"/>
                </a:solidFill>
                <a:latin typeface="Microsoft YaHei"/>
                <a:ea typeface="Microsoft YaHei"/>
              </a:rPr>
              <a:t>阅读详情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191250" y="1619250"/>
            <a:ext cx="5314950" cy="295275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155" name=""/>
          <p:cNvSpPr/>
          <p:nvPr/>
        </p:nvSpPr>
        <p:spPr>
          <a:xfrm rot="0" flipH="0" flipV="0">
            <a:off x="6400800" y="1828800"/>
            <a:ext cx="400050" cy="4000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15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486525" y="1914525"/>
            <a:ext cx="228600" cy="228600"/>
          </a:xfrm>
          <a:prstGeom prst="rect">
            <a:avLst/>
          </a:prstGeom>
          <a:ln/>
        </p:spPr>
      </p:pic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6915150" y="1895475"/>
            <a:ext cx="438150" cy="266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725" b="1">
                <a:solidFill>
                  <a:srgbClr val="1E3A32"/>
                </a:solidFill>
                <a:latin typeface="Microsoft YaHei"/>
                <a:ea typeface="Microsoft YaHei"/>
              </a:rPr>
              <a:t>产品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400800" y="2362200"/>
            <a:ext cx="4895850" cy="3619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资料与用法，解「是什么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怎么用」。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6400800" y="3933825"/>
            <a:ext cx="4895850" cy="428625"/>
          </a:xfrm>
          <a:prstGeom prst="roundRect">
            <a:avLst>
              <a:gd name="adj" fmla="val 22222"/>
            </a:avLst>
          </a:prstGeom>
          <a:solidFill>
            <a:srgbClr val="1F7A5C">
              <a:alpha val="6000"/>
            </a:srgbClr>
          </a:solidFill>
          <a:ln/>
        </p:spPr>
        <p:txBody>
          <a:bodyPr/>
          <a:p/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6515100" y="4048125"/>
            <a:ext cx="46672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6B7C75"/>
                </a:solidFill>
                <a:latin typeface="Microsoft YaHei"/>
                <a:ea typeface="Microsoft YaHei"/>
              </a:rPr>
              <a:t>出现位置：快捷入口「产品资料查询」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685800" y="4724400"/>
            <a:ext cx="531495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6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857250" y="4905375"/>
            <a:ext cx="247650" cy="247650"/>
          </a:xfrm>
          <a:prstGeom prst="rect">
            <a:avLst/>
          </a:prstGeom>
          <a:ln/>
        </p:spPr>
      </p:pic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219200" y="48958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32"/>
                </a:solidFill>
                <a:latin typeface="Microsoft YaHei"/>
                <a:ea typeface="Microsoft YaHei"/>
              </a:rPr>
              <a:t>历史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857250" y="5229225"/>
            <a:ext cx="497205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你聊过的都留着，随时回看。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6191250" y="4724400"/>
            <a:ext cx="5314950" cy="114300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6362700" y="4905375"/>
            <a:ext cx="247650" cy="247650"/>
          </a:xfrm>
          <a:prstGeom prst="rect">
            <a:avLst/>
          </a:prstGeom>
          <a:ln/>
        </p:spPr>
      </p:pic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6724650" y="48958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E3A32"/>
                </a:solidFill>
                <a:latin typeface="Microsoft YaHei"/>
                <a:ea typeface="Microsoft YaHei"/>
              </a:rPr>
              <a:t>案例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6362700" y="5229225"/>
            <a:ext cx="497205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别人的经验，回答后自动出现。</a:t>
            </a:r>
            <a:endParaRPr/>
          </a:p>
        </p:txBody>
      </p:sp>
      <p:pic>
        <p:nvPicPr>
          <p:cNvPr id="16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内容与案例参考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03 / 13</a:t>
            </a:r>
            <a:endParaRPr/>
          </a:p>
        </p:txBody>
      </p:sp>
    </p:spTree>
  </p:cSld>
</p:sld>
</file>

<file path=ppt/slides/slide4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72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资讯模块怎么读&lt;/Text&gt;&#10;        &lt;Box style={{ width: 56, height: 4, borderRadius: 2, background: '#1F7A5C', marginTop: 8 }} /&gt;&#10;    &lt;/Box&gt;&#10;&#10;    &lt;Box style={{ height: 528 }}&gt;&#10;        &lt;Box style={{ height: 290, background: '#FFFFFF', borderRadius: 14, padding: 16, boxShadow: '0 4px 20px rgba(30,58,50,0.08)' }}&gt;&#10;            &lt;svg width=&quot;1104&quot; height=&quot;258&quot; viewBox=&quot;0 0 1104 258&quot;&gt;&#10;                &lt;rect x=&quot;14&quot; y=&quot;30&quot; width=&quot;230&quot; height=&quot;200&quot; rx=&quot;16&quot; fill=&quot;rgba(168,213,186,0.35)&quot; /&gt;&#10;                &lt;path d=&quot;M14 120 l58 -46 l44 34 l34 -26 l94 58 v76 a16 16 0 0 1 -16 16 h-198 a16 16 0 0 1 -16 -16 z&quot; fill=&quot;#1F7A5C&quot; opacity=&quot;0.35&quot; /&gt;&#10;                &lt;rect x=&quot;34&quot; y=&quot;150&quot; width=&quot;150&quot; height=&quot;14&quot; rx=&quot;7&quot; fill=&quot;#1F7A5C&quot; /&gt;&#10;                &lt;rect x=&quot;34&quot; y=&quot;180&quot; width=&quot;190&quot; height=&quot;10&quot; rx=&quot;5&quot; fill=&quot;#FFFFFF&quot; opacity=&quot;0.85&quot; /&gt;&#10;                &lt;rect x=&quot;34&quot; y=&quot;200&quot; width=&quot;160&quot; height=&quot;10&quot; rx=&quot;5&quot; fill=&quot;#FFFFFF&quot; opacity=&quot;0.6&quot; /&gt;&#10;&#10;                &lt;rect x=&quot;274&quot; y=&quot;30&quot; width=&quot;230&quot; height=&quot;200&quot; rx=&quot;16&quot; fill=&quot;rgba(168,213,186,0.35)&quot; /&gt;&#10;                &lt;path d=&quot;M274 120 l58 -46 l44 34 l34 -26 l94 58 v76 a16 16 0 0 1 -16 16 h-198 a16 16 0 0 1 -16 -16 z&quot; fill=&quot;#1F7A5C&quot; opacity=&quot;0.35&quot; /&gt;&#10;                &lt;rect x=&quot;294&quot; y=&quot;150&quot; width=&quot;176&quot; height=&quot;14&quot; rx=&quot;7&quot; fill=&quot;#1F7A5C&quot; /&gt;&#10;                &lt;rect x=&quot;294&quot; y=&quot;180&quot; width=&quot;190&quot; height=&quot;10&quot; rx=&quot;5&quot; fill=&quot;#FFFFFF&quot; opacity=&quot;0.85&quot; /&gt;&#10;                &lt;rect x=&quot;294&quot; y=&quot;200&quot; width=&quot;140&quot; height=&quot;10&quot; rx=&quot;5&quot; fill=&quot;#FFFFFF&quot; opacity=&quot;0.6&quot; /&gt;&#10;&#10;                &lt;rect x=&quot;534&quot; y=&quot;30&quot; width=&quot;230&quot; height=&quot;200&quot; rx=&quot;16&quot; fill=&quot;#1F7A5C&quot; /&gt;&#10;                &lt;path d=&quot;M534 120 l58 -46 l44 34 l34 -26 l94 58 v76 a16 16 0 0 1 -16 16 h-198 a16 16 0 0 1 -16 -16 z&quot; fill=&quot;#FFFFFF&quot; opacity=&quot;0.22&quot; /&gt;&#10;                &lt;rect x=&quot;554&quot; y=&quot;150&quot; width=&quot;164&quot; height=&quot;14&quot; rx=&quot;7&quot; fill=&quot;#FFFFFF&quot; /&gt;&#10;                &lt;rect x=&quot;554&quot; y=&quot;180&quot; width=&quot;190&quot; height=&quot;10&quot; rx=&quot;5&quot; fill=&quot;#FFFFFF&quot; opacity=&quot;0.7&quot; /&gt;&#10;                &lt;rect x=&quot;554&quot; y=&quot;200&quot; width=&quot;150&quot; height=&quot;10&quot; rx=&quot;5&quot; fill=&quot;#FFFFFF&quot; opacity=&quot;0.45&quot; /&gt;&#10;&#10;                &lt;path d=&quot;M790 130 L846 130&quot; stroke=&quot;#A8D5BA&quot; strokeWidth=&quot;6&quot; strokeLinecap=&quot;round&quot; /&gt;&#10;                &lt;path d=&quot;M834 118 L852 130 L834 142 Z&quot; fill=&quot;#A8D5BA&quot; /&gt;&#10;&#10;                &lt;path d=&quot;M872 44 H1070 A18 18 0 0 1 1088 62 V146 A18 18 0 0 1 1070 164 H960 L930 196 V164 H872 A18 18 0 0 1 854 146 V62 A18 18 0 0 1 872 44 Z&quot; fill=&quot;rgba(31,122,92,0.1)&quot; /&gt;&#10;                &lt;text x=&quot;880&quot; y=&quot;84&quot; fontSize=&quot;20&quot; fill=&quot;#1E3A32&quot; fontFamily=&quot;PingFang SC&quot;&gt;这段话我不太明白&lt;/text&gt;&#10;                &lt;text x=&quot;880&quot; y=&quot;116&quot; fontSize=&quot;20&quot; fill=&quot;#1E3A32&quot; fontFamily=&quot;PingFang SC&quot;&gt;能说简单一点吗？&lt;/text&gt;&#10;                &lt;rect x=&quot;964&quot; y=&quot;130&quot; width=&quot;106&quot; height=&quot;40&quot; rx=&quot;20&quot; fill=&quot;#E08A3C&quot; /&gt;&#10;                &lt;text x=&quot;1017&quot; y=&quot;157&quot; textAnchor=&quot;middle&quot; fontSize=&quot;19&quot; fill=&quot;#FFFFFF&quot; fontFamily=&quot;PingFang SC&quot;&gt;发送&lt;/text&gt;&#10;&#10;                &lt;text x=&quot;129&quot; y=&quot;252&quot; textAnchor=&quot;middle&quot; fontSize=&quot;18&quot; fill=&quot;#6B7C75&quot; fontFamily=&quot;PingFang SC&quot;&gt;发现页列表&lt;/text&gt;&#10;                &lt;text x=&quot;389&quot; y=&quot;252&quot; textAnchor=&quot;middle&quot; fontSize=&quot;18&quot; fill=&quot;#6B7C75&quot; fontFamily=&quot;PingFang SC&quot;&gt;首页轮播精选&lt;/text&gt;&#10;                &lt;text x=&quot;649&quot; y=&quot;252&quot; textAnchor=&quot;middle&quot; fontSize=&quot;18&quot; fill=&quot;#6B7C75&quot; fontFamily=&quot;PingFang SC&quot;&gt;点开后的正文&lt;/text&gt;&#10;                &lt;text x=&quot;960&quot; y=&quot;252&quot; textAnchor=&quot;middle&quot; fontSize=&quot;18&quot; fill=&quot;#6B7C75&quot; fontFamily=&quot;PingFang SC&quot;&gt;带着问题回来问&lt;/text&gt;&#10;            &lt;/svg&gt;&#10;        &lt;/Box&gt;&#10;&#10;        &lt;Box style={{&#10;            height: 214, marginTop: 14, flexDirection: 'row', gap: 20,&#10;            background: 'rgba(31,122,92,0.08)', borderRadius: 14, padding: 24,&#10;        }}&gt;&#10;            &lt;Box style={{ flex: 1, gap: 12 }}&gt;&#10;                &lt;Box style={{ flexDirection: 'row', gap: 14, alignItems: 'center' }}&gt;&#10;                    &lt;Box style={{ width: 38, height: 38, borderRadius: 19, background: '#1F7A5C', justifyContent: 'center', alignItems: 'center' }}&gt;&#10;                        &lt;Text style={{ fontSize: 20, fontWeight: 'bold', color: '#FFFFFF' }}&gt;1&lt;/Text&gt;&#10;                    &lt;/Box&gt;&#10;                    &lt;Text style={{ fontSize: 21, color: '#1E3A32' }}&gt;&#10;                        &lt;span style={{ fontWeight: 'bold' }}&gt;浏览&lt;/span&gt;：发现页和首页轮播各扫一遍，只看标题，不急着点开&#10;                    &lt;/Text&gt;&#10;                &lt;/Box&gt;&#10;                &lt;Box style={{ flexDirection: 'row', gap: 14, alignItems: 'center' }}&gt;&#10;                    &lt;Box style={{ width: 38, height: 38, borderRadius: 19, background: '#1F7A5C', justifyContent: 'center', alignItems: 'center' }}&gt;&#10;                        &lt;Text style={{ fontSize: 20, fontWeight: 'bold', color: '#FFFFFF' }}&gt;2&lt;/Text&gt;&#10;                    &lt;/Box&gt;&#10;                    &lt;Text style={{ fontSize: 21, color: '#1E3A32' }}&gt;&#10;                        &lt;span style={{ fontWeight: 'bold' }}&gt;阅读&lt;/span&gt;：点开感兴趣的，重点抓结论句和小标题，细节可以跳&#10;                    &lt;/Text&gt;&#10;                &lt;/Box&gt;&#10;                &lt;Box style={{ flexDirection: 'row', gap: 14, alignItems: 'center' }}&gt;&#10;                    &lt;Box style={{ width: 38, height: 38, borderRadius: 19, background: '#E08A3C', justifyContent: 'center', alignItems: 'center' }}&gt;&#10;                        &lt;Text style={{ fontSize: 20, fontWeight: 'bold', color: '#FFFFFF' }}&gt;3&lt;/Text&gt;&#10;                    &lt;/Box&gt;&#10;                    &lt;Text style={{ fontSize: 21, color: '#1E3A32' }}&gt;&#10;                        &lt;span style={{ fontWeight: 'bold' }}&gt;回来提问&lt;/span&gt;：看不懂的那句话直接复制进输入框，加一句&quot;这段我不太明白&quot;&#10;                    &lt;/Text&gt;&#10;                &lt;/Box&gt;&#10;            &lt;/Box&gt;&#10;&#10;            &lt;Box style={{&#10;                width: 340, background: '#FFFFFF', borderRadius: 14, padding: 18, justifyContent: 'center',&#10;            }}&gt;&#10;                &lt;Text style={{ fontSize: 21, fontWeight: 'bold', color: '#1F7A5C', lineHeight: 1.5 }}&gt;&#10;                    先看内容再提问，问题会更具体&#10;                &lt;/Text&gt;&#10;                &lt;Text style={{ fontSize: 19, color: '#6B7C75', lineHeight: 1.55, marginTop: 10 }}&gt;&#10;                    读过一遍之后，你的问句里会自然带上文章里的词，AI 拿到的背景越多，答案就越贴你的情况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内容与案例参考&lt;/Text&gt;&#10;        &lt;/Box&gt;&#10;        &lt;Text style={{ fontSize: 14, color: '#6B7C75' }}&gt;04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资讯模块怎么读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76" name=""/>
          <p:cNvSpPr/>
          <p:nvPr/>
        </p:nvSpPr>
        <p:spPr>
          <a:xfrm rot="0" flipH="0" flipV="0">
            <a:off x="685800" y="1143000"/>
            <a:ext cx="10820400" cy="276225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17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1295400"/>
            <a:ext cx="10515600" cy="2457450"/>
          </a:xfrm>
          <a:prstGeom prst="rect">
            <a:avLst/>
          </a:prstGeom>
          <a:ln/>
        </p:spPr>
      </p:pic>
      <p:sp>
        <p:nvSpPr>
          <p:cNvPr id="178" name=""/>
          <p:cNvSpPr/>
          <p:nvPr/>
        </p:nvSpPr>
        <p:spPr>
          <a:xfrm rot="0" flipH="0" flipV="0">
            <a:off x="685800" y="4038600"/>
            <a:ext cx="10820400" cy="2038350"/>
          </a:xfrm>
          <a:prstGeom prst="roundRect">
            <a:avLst>
              <a:gd name="adj" fmla="val 654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914400" y="42672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038225" y="4333875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1409700" y="4324350"/>
            <a:ext cx="5200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32"/>
                </a:solidFill>
                <a:latin typeface="Microsoft YaHei"/>
                <a:ea typeface="Microsoft YaHei"/>
              </a:rPr>
              <a:t>浏览</a:t>
            </a: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：发现页和首页轮播各扫一遍，只看标题，不急着点开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914400" y="474345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1038225" y="4810125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409700" y="4800600"/>
            <a:ext cx="5200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32"/>
                </a:solidFill>
                <a:latin typeface="Microsoft YaHei"/>
                <a:ea typeface="Microsoft YaHei"/>
              </a:rPr>
              <a:t>阅读</a:t>
            </a: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：点开感兴趣的，重点抓结论句和小标题，细节可以跳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914400" y="5219700"/>
            <a:ext cx="361950" cy="36195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1038225" y="5286375"/>
            <a:ext cx="114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1409700" y="5276850"/>
            <a:ext cx="63436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E3A32"/>
                </a:solidFill>
                <a:latin typeface="Microsoft YaHei"/>
                <a:ea typeface="Microsoft YaHei"/>
              </a:rPr>
              <a:t>回来提问</a:t>
            </a: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：看不懂的那句话直接复制进输入框，加一句</a:t>
            </a:r>
            <a:r>
              <a:rPr lang="en-US" sz="1575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575">
                <a:solidFill>
                  <a:srgbClr val="1E3A32"/>
                </a:solidFill>
                <a:latin typeface="Microsoft YaHei"/>
                <a:ea typeface="Microsoft YaHei"/>
              </a:rPr>
              <a:t>这段我不太明白</a:t>
            </a:r>
            <a:r>
              <a:rPr lang="en-US" sz="1575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188" name=""/>
          <p:cNvSpPr/>
          <p:nvPr/>
        </p:nvSpPr>
        <p:spPr>
          <a:xfrm rot="0" flipH="0" flipV="0">
            <a:off x="8039100" y="4267200"/>
            <a:ext cx="3238500" cy="1819275"/>
          </a:xfrm>
          <a:prstGeom prst="roundRect">
            <a:avLst>
              <a:gd name="adj" fmla="val 7330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89" name="" descr="{&quot;isTemplate&quot;:true,&quot;type&quot;:&quot;text&quot;}"/>
          <p:cNvSpPr txBox="1"/>
          <p:nvPr/>
        </p:nvSpPr>
        <p:spPr>
          <a:xfrm rot="0" flipH="0" flipV="0">
            <a:off x="8210550" y="4438650"/>
            <a:ext cx="2895600" cy="3619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75" b="1">
                <a:solidFill>
                  <a:srgbClr val="1F7A5C"/>
                </a:solidFill>
                <a:latin typeface="Microsoft YaHei"/>
                <a:ea typeface="Microsoft YaHei"/>
              </a:rPr>
              <a:t>先看内容再提问，问题会更具体</a:t>
            </a:r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210550" y="4895850"/>
            <a:ext cx="289560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读过一遍之后，你的问句里会自然带上文章里的词，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AI 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拿到的背景越多，答案就越贴你的情况。</a:t>
            </a:r>
            <a:endParaRPr/>
          </a:p>
        </p:txBody>
      </p:sp>
      <p:pic>
        <p:nvPicPr>
          <p:cNvPr id="19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内容与案例参考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04 / 13</a:t>
            </a:r>
            <a:endParaRPr/>
          </a:p>
        </p:txBody>
      </p:sp>
    </p:spTree>
  </p:cSld>
</p:sld>
</file>

<file path=ppt/slides/slide5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94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为什么「先读后问」更好&lt;/Text&gt;&#10;        &lt;Box style={{ width: 56, height: 4, borderRadius: 2, background: '#1F7A5C', marginTop: 8 }} /&gt;&#10;    &lt;/Box&gt;&#10;&#10;    &lt;Box style={{ height: 528, flexDirection: 'row', gap: 28 }}&gt;&#10;        &lt;Box style={{ width: 270, justifyContent: 'center' }}&gt;&#10;            &lt;Text style={{ fontSize: 180, fontWeight: 'bold', color: '#E08A3C', lineHeight: 1, letterSpacing: -4 }}&gt;2&lt;/Text&gt;&#10;            &lt;Text style={{ fontSize: 30, fontWeight: 'bold', color: '#1E3A32', marginTop: 14 }}&gt;种问法&lt;/Text&gt;&#10;            &lt;Text style={{ fontSize: 30, fontWeight: 'bold', color: '#1E3A32' }}&gt;两种结果&lt;/Text&gt;&#10;            &lt;Box style={{ width: 72, height: 5, borderRadius: 3, background: '#1F7A5C', marginTop: 20 }} /&gt;&#10;            &lt;Text style={{ fontSize: 20, color: '#6B7C75', lineHeight: 1.6, marginTop: 18 }}&gt;&#10;                少读三分钟，&lt;br /&gt;往往要多问四轮&#10;            &lt;/Text&gt;&#10;        &lt;/Box&gt;&#10;&#10;        &lt;Box style={{ flex: 1, flexDirection: 'row', gap: 20 }}&gt;&#10;            &lt;Box style={{&#10;                width: 540, height: 528, background: '#FFFFFF', borderRadius: 14, padding: 26,&#10;                boxShadow: '0 4px 20px rgba(30,58,50,0.08)',&#10;            }}&gt;&#10;                &lt;Box style={{ flexDirection: 'row', alignItems: 'center', gap: 12 }}&gt;&#10;                    &lt;Box style={{ width: 44, height: 44, borderRadius: 22, background: '#1F7A5C', justifyContent: 'center', alignItems: 'center' }}&gt;&#10;                        &lt;FAIcon name='book-open' style={{ fill: '#FFFFFF', width: 24, height: 24 }} /&gt;&#10;                    &lt;/Box&gt;&#10;                    &lt;Text style={{ fontSize: 27, fontWeight: 'bold', color: '#1F7A5C' }}&gt;先读一篇，再提问&lt;/Text&gt;&#10;                &lt;/Box&gt;&#10;&#10;                &lt;Box style={{ marginTop: 20, background: 'rgba(31,122,92,0.08)', borderRadius: 12, padding: 16 }}&gt;&#10;                    &lt;Text style={{ fontSize: 20, color: '#1E3A32', lineHeight: 1.55 }}&gt;&#10;                        「我看到文章里说要按周期调理，我这种经常出差、作息不规律的情况，周期要怎么安排？」&#10;                    &lt;/Text&gt;&#10;                &lt;/Box&gt;&#10;&#10;                &lt;Box style={{ marginTop: 20, gap: 12 }}&gt;&#10;                    &lt;Box style={{ flexDirection: 'row', gap: 12, alignItems: 'flex-start' }}&gt;&#10;                        &lt;FAIcon name='check-circle' style={{ fill: '#1F7A5C', width: 24, height: 24 }} /&gt;&#10;                        &lt;Text style={{ fontSize: 20, color: '#1E3A32', lineHeight: 1.55, flex: 1 }}&gt;&#10;                            问句里自带背景词：出差、作息、周期&#10;                        &lt;/Text&gt;&#10;                    &lt;/Box&gt;&#10;                    &lt;Box style={{ flexDirection: 'row', gap: 12, alignItems: 'flex-start' }}&gt;&#10;                        &lt;FAIcon name='check-circle' style={{ fill: '#1F7A5C', width: 24, height: 24 }} /&gt;&#10;                        &lt;Text style={{ fontSize: 20, color: '#1E3A32', lineHeight: 1.55, flex: 1 }}&gt;&#10;                            AI 一上来就知道你的场景，第一轮就给得出能直接用的答案&#10;                        &lt;/Text&gt;&#10;                    &lt;/Box&gt;&#10;                    &lt;Box style={{ flexDirection: 'row', gap: 12, alignItems: 'flex-start' }}&gt;&#10;                        &lt;FAIcon name='check-circle' style={{ fill: '#1F7A5C', width: 24, height: 24 }} /&gt;&#10;                        &lt;Text style={{ fontSize: 20, color: '#1E3A32', lineHeight: 1.55, flex: 1 }}&gt;&#10;                            拿到的答案可以直接转给客户，不用自己再加工一遍&#10;                        &lt;/Text&gt;&#10;                    &lt;/Box&gt;&#10;                &lt;/Box&gt;&#10;&#10;                &lt;Box style={{ marginTop: 'auto', background: '#1F7A5C', borderRadius: 12, padding: 16 }}&gt;&#10;                    &lt;Text style={{ fontSize: 21, fontWeight: 'bold', color: '#FFFFFF' }}&gt;&#10;                        通常 1–2 轮就能问到位&#10;                    &lt;/Text&gt;&#10;                &lt;/Box&gt;&#10;            &lt;/Box&gt;&#10;&#10;            &lt;Box style={{&#10;                flex: 1, height: 528, background: 'rgba(107,124,117,0.1)', borderRadius: 14, padding: 24,&#10;            }}&gt;&#10;                &lt;Box style={{ flexDirection: 'row', alignItems: 'center', gap: 12 }}&gt;&#10;                    &lt;Box style={{ width: 44, height: 44, borderRadius: 22, background: '#6B7C75', justifyContent: 'center', alignItems: 'center' }}&gt;&#10;                        &lt;FAIcon name='comment' style={{ fill: '#FFFFFF', width: 24, height: 24 }} /&gt;&#10;                    &lt;/Box&gt;&#10;                    &lt;Text style={{ fontSize: 25, fontWeight: 'bold', color: '#6B7C75' }}&gt;上来就问&lt;/Text&gt;&#10;                &lt;/Box&gt;&#10;&#10;                &lt;Box style={{ marginTop: 20, background: '#FFFFFF', borderRadius: 12, padding: 16 }}&gt;&#10;                    &lt;Text style={{ fontSize: 20, color: '#6B7C75', lineHeight: 1.55 }}&gt;&#10;                        「这个产品怎么吃？」&#10;                    &lt;/Text&gt;&#10;                &lt;/Box&gt;&#10;&#10;                &lt;Box style={{ marginTop: 20, gap: 12 }}&gt;&#10;                    &lt;Box style={{ flexDirection: 'row', gap: 12, alignItems: 'flex-start' }}&gt;&#10;                        &lt;FAIcon name='times-circle' style={{ fill: '#6B7C75', width: 24, height: 24 }} /&gt;&#10;                        &lt;Text style={{ fontSize: 19, color: '#6B7C75', lineHeight: 1.55, flex: 1 }}&gt;&#10;                            没有任何背景，AI 只能给通用说法&#10;                        &lt;/Text&gt;&#10;                    &lt;/Box&gt;&#10;                    &lt;Box style={{ flexDirection: 'row', gap: 12, alignItems: 'flex-start' }}&gt;&#10;                        &lt;FAIcon name='times-circle' style={{ fill: '#6B7C75', width: 24, height: 24 }} /&gt;&#10;                        &lt;Text style={{ fontSize: 19, color: '#6B7C75', lineHeight: 1.55, flex: 1 }}&gt;&#10;                            你得自己补充好几轮，它才知道你到底是谁&#10;                        &lt;/Text&gt;&#10;                    &lt;/Box&gt;&#10;                    &lt;Box style={{ flexDirection: 'row', gap: 12, alignItems: 'flex-start' }}&gt;&#10;                        &lt;FAIcon name='times-circle' style={{ fill: '#6B7C75', width: 24, height: 24 }} /&gt;&#10;                        &lt;Text style={{ fontSize: 19, color: '#6B7C75', lineHeight: 1.55, flex: 1 }}&gt;&#10;                            问到后面容易忘了最初要问什么&#10;                        &lt;/Text&gt;&#10;                    &lt;/Box&gt;&#10;                &lt;/Box&gt;&#10;&#10;                &lt;Box style={{ marginTop: 'auto', background: '#6B7C75', borderRadius: 12, padding: 16 }}&gt;&#10;                    &lt;Text style={{ fontSize: 21, fontWeight: 'bold', color: '#FFFFFF' }}&gt;&#10;                        通常要 3–4 轮&#10;                    &lt;/Text&gt;&#10;                &lt;/Box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内容与案例参考&lt;/Text&gt;&#10;        &lt;/Box&gt;&#10;        &lt;Text style={{ fontSize: 14, color: '#6B7C75' }}&gt;05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为什么「先读后问」更好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685800" y="1647825"/>
            <a:ext cx="2571750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 spc="-300">
                <a:solidFill>
                  <a:srgbClr val="E08A3C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199" name="" descr="{&quot;isTemplate&quot;:true,&quot;type&quot;:&quot;text&quot;}"/>
          <p:cNvSpPr txBox="1"/>
          <p:nvPr/>
        </p:nvSpPr>
        <p:spPr>
          <a:xfrm rot="0" flipH="0" flipV="0">
            <a:off x="685800" y="3838575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32"/>
                </a:solidFill>
                <a:latin typeface="Microsoft YaHei"/>
                <a:ea typeface="Microsoft YaHei"/>
              </a:rPr>
              <a:t>种问法</a:t>
            </a:r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685800" y="4181475"/>
            <a:ext cx="2571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32"/>
                </a:solidFill>
                <a:latin typeface="Microsoft YaHei"/>
                <a:ea typeface="Microsoft YaHei"/>
              </a:rPr>
              <a:t>两种结果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685800" y="4714875"/>
            <a:ext cx="685800" cy="47625"/>
          </a:xfrm>
          <a:prstGeom prst="roundRect">
            <a:avLst>
              <a:gd name="adj" fmla="val 6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685800" y="4933950"/>
            <a:ext cx="2571750" cy="733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少读三分钟，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往往要多问四轮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3524250" y="1143000"/>
            <a:ext cx="5143500" cy="5029200"/>
          </a:xfrm>
          <a:prstGeom prst="roundRect">
            <a:avLst>
              <a:gd name="adj" fmla="val 265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04" name=""/>
          <p:cNvSpPr/>
          <p:nvPr/>
        </p:nvSpPr>
        <p:spPr>
          <a:xfrm rot="0" flipH="0" flipV="0">
            <a:off x="3771900" y="139065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2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3867150" y="1485900"/>
            <a:ext cx="228600" cy="228600"/>
          </a:xfrm>
          <a:prstGeom prst="rect">
            <a:avLst/>
          </a:prstGeom>
          <a:ln/>
        </p:spPr>
      </p:pic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4305300" y="1447800"/>
            <a:ext cx="2057400" cy="3143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025" b="1">
                <a:solidFill>
                  <a:srgbClr val="1F7A5C"/>
                </a:solidFill>
                <a:latin typeface="Microsoft YaHei"/>
                <a:ea typeface="Microsoft YaHei"/>
              </a:rPr>
              <a:t>先读一篇，再提问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3771900" y="2000250"/>
            <a:ext cx="4648200" cy="1019175"/>
          </a:xfrm>
          <a:prstGeom prst="roundRect">
            <a:avLst>
              <a:gd name="adj" fmla="val 11215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924300" y="2152650"/>
            <a:ext cx="43434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「我看到文章里说要按周期调理，我这种经常出差、作息不规律的情况，周期要怎么安排？」</a:t>
            </a:r>
            <a:endParaRPr/>
          </a:p>
        </p:txBody>
      </p:sp>
      <p:pic>
        <p:nvPicPr>
          <p:cNvPr id="2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71900" y="3209925"/>
            <a:ext cx="228600" cy="228600"/>
          </a:xfrm>
          <a:prstGeom prst="rect">
            <a:avLst/>
          </a:prstGeom>
          <a:ln/>
        </p:spPr>
      </p:pic>
      <p:sp>
        <p:nvSpPr>
          <p:cNvPr id="210" name="" descr="{&quot;isTemplate&quot;:true,&quot;type&quot;:&quot;text&quot;}"/>
          <p:cNvSpPr txBox="1"/>
          <p:nvPr/>
        </p:nvSpPr>
        <p:spPr>
          <a:xfrm rot="0" flipH="0" flipV="0">
            <a:off x="4114800" y="3209925"/>
            <a:ext cx="4305300" cy="361950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问句里自带背景词：出差、作息、周期</a:t>
            </a:r>
            <a:endParaRPr/>
          </a:p>
        </p:txBody>
      </p:sp>
      <p:pic>
        <p:nvPicPr>
          <p:cNvPr id="2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71900" y="3686175"/>
            <a:ext cx="228600" cy="228600"/>
          </a:xfrm>
          <a:prstGeom prst="rect">
            <a:avLst/>
          </a:prstGeom>
          <a:ln/>
        </p:spPr>
      </p:pic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4114800" y="3686175"/>
            <a:ext cx="43053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AI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一上来就知道你的场景，第一轮就给得出能直接用的答案</a:t>
            </a:r>
            <a:endParaRPr/>
          </a:p>
        </p:txBody>
      </p:sp>
      <p:pic>
        <p:nvPicPr>
          <p:cNvPr id="21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3771900" y="4514850"/>
            <a:ext cx="228600" cy="228600"/>
          </a:xfrm>
          <a:prstGeom prst="rect">
            <a:avLst/>
          </a:prstGeom>
          <a:ln/>
        </p:spPr>
      </p:pic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4114800" y="4514850"/>
            <a:ext cx="43053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拿到的答案可以直接转给客户，不用自己再加工一遍</a:t>
            </a:r>
            <a:endParaRPr/>
          </a:p>
        </p:txBody>
      </p:sp>
      <p:sp>
        <p:nvSpPr>
          <p:cNvPr id="215" name=""/>
          <p:cNvSpPr/>
          <p:nvPr/>
        </p:nvSpPr>
        <p:spPr>
          <a:xfrm rot="0" flipH="0" flipV="0">
            <a:off x="3771900" y="5372100"/>
            <a:ext cx="4648200" cy="552450"/>
          </a:xfrm>
          <a:prstGeom prst="roundRect">
            <a:avLst>
              <a:gd name="adj" fmla="val 2069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3924300" y="5524500"/>
            <a:ext cx="434340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通常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 1–2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轮就能问到位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8858250" y="1143000"/>
            <a:ext cx="2647950" cy="5029200"/>
          </a:xfrm>
          <a:prstGeom prst="roundRect">
            <a:avLst>
              <a:gd name="adj" fmla="val 5036"/>
            </a:avLst>
          </a:prstGeom>
          <a:solidFill>
            <a:srgbClr val="6B7C75">
              <a:alpha val="10000"/>
            </a:srgbClr>
          </a:solidFill>
          <a:ln/>
        </p:spPr>
        <p:txBody>
          <a:bodyPr/>
          <a:p/>
        </p:txBody>
      </p:sp>
      <p:sp>
        <p:nvSpPr>
          <p:cNvPr id="218" name=""/>
          <p:cNvSpPr/>
          <p:nvPr/>
        </p:nvSpPr>
        <p:spPr>
          <a:xfrm rot="0" flipH="0" flipV="0">
            <a:off x="9086850" y="1371600"/>
            <a:ext cx="419100" cy="419100"/>
          </a:xfrm>
          <a:prstGeom prst="roundRect">
            <a:avLst>
              <a:gd name="adj" fmla="val 50000"/>
            </a:avLst>
          </a:prstGeom>
          <a:solidFill>
            <a:srgbClr val="6B7C75"/>
          </a:solidFill>
          <a:ln/>
        </p:spPr>
        <p:txBody>
          <a:bodyPr/>
          <a:p/>
        </p:txBody>
      </p:sp>
      <p:pic>
        <p:nvPicPr>
          <p:cNvPr id="21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9182100" y="1466850"/>
            <a:ext cx="228600" cy="228600"/>
          </a:xfrm>
          <a:prstGeom prst="rect">
            <a:avLst/>
          </a:prstGeom>
          <a:ln/>
        </p:spPr>
      </p:pic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9620250" y="1438275"/>
            <a:ext cx="95250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6B7C75"/>
                </a:solidFill>
                <a:latin typeface="Microsoft YaHei"/>
                <a:ea typeface="Microsoft YaHei"/>
              </a:rPr>
              <a:t>上来就问</a:t>
            </a:r>
            <a:endParaRPr/>
          </a:p>
        </p:txBody>
      </p:sp>
      <p:sp>
        <p:nvSpPr>
          <p:cNvPr id="221" name=""/>
          <p:cNvSpPr/>
          <p:nvPr/>
        </p:nvSpPr>
        <p:spPr>
          <a:xfrm rot="0" flipH="0" flipV="0">
            <a:off x="9086850" y="1981200"/>
            <a:ext cx="2190750" cy="1019175"/>
          </a:xfrm>
          <a:prstGeom prst="roundRect">
            <a:avLst>
              <a:gd name="adj" fmla="val 11215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2" name="" descr="{&quot;isTemplate&quot;:true,&quot;type&quot;:&quot;text&quot;}"/>
          <p:cNvSpPr txBox="1"/>
          <p:nvPr/>
        </p:nvSpPr>
        <p:spPr>
          <a:xfrm rot="0" flipH="0" flipV="0">
            <a:off x="9239250" y="2133600"/>
            <a:ext cx="18859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「这个产品怎么吃？」</a:t>
            </a:r>
            <a:endParaRPr/>
          </a:p>
        </p:txBody>
      </p:sp>
      <p:pic>
        <p:nvPicPr>
          <p:cNvPr id="22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086850" y="3190875"/>
            <a:ext cx="228600" cy="228600"/>
          </a:xfrm>
          <a:prstGeom prst="rect">
            <a:avLst/>
          </a:prstGeom>
          <a:ln/>
        </p:spPr>
      </p:pic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9429750" y="3190875"/>
            <a:ext cx="18478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没有任何背景，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AI 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只能给通用说法</a:t>
            </a:r>
            <a:endParaRPr/>
          </a:p>
        </p:txBody>
      </p:sp>
      <p:pic>
        <p:nvPicPr>
          <p:cNvPr id="22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086850" y="3981450"/>
            <a:ext cx="228600" cy="228600"/>
          </a:xfrm>
          <a:prstGeom prst="rect">
            <a:avLst/>
          </a:prstGeom>
          <a:ln/>
        </p:spPr>
      </p:pic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9429750" y="3981450"/>
            <a:ext cx="18478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你得自己补充好几轮，它才知道你到底是谁</a:t>
            </a:r>
            <a:endParaRPr/>
          </a:p>
        </p:txBody>
      </p:sp>
      <p:pic>
        <p:nvPicPr>
          <p:cNvPr id="22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9086850" y="4772025"/>
            <a:ext cx="228600" cy="228600"/>
          </a:xfrm>
          <a:prstGeom prst="rect">
            <a:avLst/>
          </a:prstGeom>
          <a:ln/>
        </p:spPr>
      </p:pic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9429750" y="4772025"/>
            <a:ext cx="18478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问到后面容易忘了最初要问什么</a:t>
            </a:r>
            <a:endParaRPr/>
          </a:p>
        </p:txBody>
      </p:sp>
      <p:sp>
        <p:nvSpPr>
          <p:cNvPr id="229" name=""/>
          <p:cNvSpPr/>
          <p:nvPr/>
        </p:nvSpPr>
        <p:spPr>
          <a:xfrm rot="0" flipH="0" flipV="0">
            <a:off x="9086850" y="5391150"/>
            <a:ext cx="2190750" cy="552450"/>
          </a:xfrm>
          <a:prstGeom prst="roundRect">
            <a:avLst>
              <a:gd name="adj" fmla="val 20690"/>
            </a:avLst>
          </a:prstGeom>
          <a:solidFill>
            <a:srgbClr val="6B7C75"/>
          </a:solidFill>
          <a:ln/>
        </p:spPr>
        <p:txBody>
          <a:bodyPr/>
          <a:p/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9239250" y="5543550"/>
            <a:ext cx="18859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通常要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> 3–4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轮</a:t>
            </a:r>
            <a:endParaRPr/>
          </a:p>
        </p:txBody>
      </p:sp>
      <p:pic>
        <p:nvPicPr>
          <p:cNvPr id="23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内容与案例参考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05 / 13</a:t>
            </a:r>
            <a:endParaRPr/>
          </a:p>
        </p:txBody>
      </p:sp>
    </p:spTree>
  </p:cSld>
</p:sld>
</file>

<file path=ppt/slides/slide6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34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产品模块怎么看&lt;/Text&gt;&#10;        &lt;Box style={{ width: 56, height: 4, borderRadius: 2, background: '#1F7A5C', marginTop: 8 }} /&gt;&#10;    &lt;/Box&gt;&#10;&#10;    &lt;Box style={{ height: 528, flexDirection: 'row', gap: 28 }}&gt;&#10;        &lt;Box style={{ width: 310 }}&gt;&#10;            &lt;Text style={{ fontSize: 26, fontWeight: 'bold', color: '#1F7A5C', lineHeight: 1.45 }}&gt;&#10;                产品资料是提问的&lt;br /&gt;&quot;参考答案&quot;&#10;            &lt;/Text&gt;&#10;            &lt;Text style={{ fontSize: 20, color: '#6B7C75', lineHeight: 1.6, marginTop: 20 }}&gt;&#10;                产品模块里是公司整理好的标准说法。先把这些看过一遍，你问出来的问题会更专业，也更接近客户真正会问的那种。&#10;            &lt;/Text&gt;&#10;            &lt;Text style={{ fontSize: 20, color: '#6B7C75', lineHeight: 1.6, marginTop: 16 }}&gt;&#10;                更重要的是：看过标准说法之后，你一眼就能发现 AI 回答里有没有跑偏。&#10;            &lt;/Text&gt;&#10;            &lt;Box style={{&#10;                marginTop: 24, background: 'rgba(31,122,92,0.08)', borderRadius: 14, padding: 16,&#10;            }}&gt;&#10;                &lt;Text style={{ fontSize: 19, color: '#1E3A32', lineHeight: 1.55 }}&gt;&#10;                    别问&quot;介绍一下这个产品&quot;，这种问法拿到的答案最没有信息量。&#10;                &lt;/Text&gt;&#10;            &lt;/Box&gt;&#10;        &lt;/Box&gt;&#10;&#10;        &lt;Box style={{ flex: 1, gap: 14 }}&gt;&#10;            &lt;Box style={{&#10;                flexDirection: 'row', gap: 18, background: '#FFFFFF', borderRadius: 14, padding: 20,&#10;                height: 130, boxShadow: '0 4px 20px rgba(30,58,50,0.08)',&#10;            }}&gt;&#10;                &lt;Box style={{ width: 50, height: 50, borderRadius: 25, background: '#1F7A5C', justifyContent: 'center', alignItems: 'center' }}&gt;&#10;                    &lt;Text style={{ fontSize: 24, fontWeight: 'bold', color: '#FFFFFF' }}&gt;1&lt;/Text&gt;&#10;                &lt;/Box&gt;&#10;                &lt;Box style={{ flex: 1, justifyContent: 'center' }}&gt;&#10;                    &lt;Text style={{ fontSize: 25, fontWeight: 'bold', color: '#1E3A32' }}&gt;先看分类&lt;/Text&gt;&#10;                    &lt;Text style={{ fontSize: 19, color: '#6B7C75', lineHeight: 1.55, marginTop: 6 }}&gt;&#10;                        按分类找到你要了解的那条产品线，先看清公司一共有哪些品类、各自定位是什么，别一上来就搜一个名字。&#10;                    &lt;/Text&gt;&#10;                &lt;/Box&gt;&#10;            &lt;/Box&gt;&#10;&#10;            &lt;Box style={{&#10;                flexDirection: 'row', gap: 18, background: '#FFFFFF', borderRadius: 14, padding: 20,&#10;                height: 130, boxShadow: '0 4px 20px rgba(30,58,50,0.08)',&#10;            }}&gt;&#10;                &lt;Box style={{ width: 50, height: 50, borderRadius: 25, background: '#1F7A5C', justifyContent: 'center', alignItems: 'center' }}&gt;&#10;                    &lt;Text style={{ fontSize: 24, fontWeight: 'bold', color: '#FFFFFF' }}&gt;2&lt;/Text&gt;&#10;                &lt;/Box&gt;&#10;                &lt;Box style={{ flex: 1, justifyContent: 'center' }}&gt;&#10;                    &lt;Text style={{ fontSize: 25, fontWeight: 'bold', color: '#1E3A32' }}&gt;再看亮点&lt;/Text&gt;&#10;                    &lt;Text style={{ fontSize: 19, color: '#6B7C75', lineHeight: 1.55, marginTop: 6 }}&gt;&#10;                        产品卡上被高亮出来的那几句，通常就是客户最常问、也最容易卡住的点，值得单独记一下。&#10;                    &lt;/Text&gt;&#10;                &lt;/Box&gt;&#10;            &lt;/Box&gt;&#10;&#10;            &lt;Box style={{&#10;                flexDirection: 'row', gap: 18, background: 'rgba(224,138,60,0.14)', borderRadius: 14, padding: 20,&#10;                height: 130,&#10;            }}&gt;&#10;                &lt;Box style={{ width: 50, height: 50, borderRadius: 25, background: '#E08A3C', justifyContent: 'center', alignItems: 'center' }}&gt;&#10;                    &lt;Text style={{ fontSize: 24, fontWeight: 'bold', color: '#FFFFFF' }}&gt;3&lt;/Text&gt;&#10;                &lt;/Box&gt;&#10;                &lt;Box style={{ flex: 1, justifyContent: 'center' }}&gt;&#10;                    &lt;Text style={{ fontSize: 25, fontWeight: 'bold', color: '#1E3A32' }}&gt;拎一点去问&lt;/Text&gt;&#10;                    &lt;Text style={{ fontSize: 19, color: '#6B7C75', lineHeight: 1.55, marginTop: 6 }}&gt;&#10;                        把最关心的那一点单独拎出来提问。问一句&quot;这个产品适合哪些人&quot;，比问&quot;介绍一下这个产品&quot;有用得多。&#10;                    &lt;/Text&gt;&#10;                &lt;/Box&gt;&#10;            &lt;/Box&gt;&#10;&#10;            &lt;Box style={{ height: 110, background: '#FFFFFF', borderRadius: 14, padding: 18, boxShadow: '0 4px 20px rgba(30,58,50,0.08)' }}&gt;&#10;                &lt;Text style={{ fontSize: 21, fontWeight: 'bold', color: '#1F7A5C' }}&gt;看完产品卡，推荐这样问&lt;/Text&gt;&#10;                &lt;Box style={{ flexDirection: 'row', gap: 12, marginTop: 12 }}&gt;&#10;                    &lt;Box style={{ background: 'rgba(31,122,92,0.08)', borderRadius: 12, padding: 10 }}&gt;&#10;                        &lt;Text style={{ fontSize: 19, color: '#1E3A32' }}&gt;适合哪些人？&lt;/Text&gt;&#10;                    &lt;/Box&gt;&#10;                    &lt;Box style={{ background: 'rgba(31,122,92,0.08)', borderRadius: 12, padding: 10 }}&gt;&#10;                        &lt;Text style={{ fontSize: 19, color: '#1E3A32' }}&gt;主要特点是什么？&lt;/Text&gt;&#10;                    &lt;/Box&gt;&#10;                    &lt;Box style={{ background: 'rgba(31,122,92,0.08)', borderRadius: 12, padding: 10 }}&gt;&#10;                        &lt;Text style={{ fontSize: 19, color: '#1E3A32' }}&gt;我该重点看哪一点？&lt;/Text&gt;&#10;                    &lt;/Box&gt;&#10;                &lt;/Box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内容与案例参考&lt;/Text&gt;&#10;        &lt;/Box&gt;&#10;        &lt;Text style={{ fontSize: 14, color: '#6B7C75' }}&gt;06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产品模块怎么看</a:t>
            </a:r>
            <a:endParaRPr/>
          </a:p>
        </p:txBody>
      </p:sp>
      <p:sp>
        <p:nvSpPr>
          <p:cNvPr id="237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38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5275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产品资料是提问的</a:t>
            </a:r>
            <a:endParaRPr/>
          </a:p>
          <a:p>
            <a:pPr>
              <a:lnSpc>
                <a:spcPct val="145000"/>
              </a:lnSpc>
            </a:pPr>
            <a:r>
              <a:rPr lang="en-US" sz="1950" b="1">
                <a:solidFill>
                  <a:srgbClr val="1F7A5C"/>
                </a:solidFill>
                <a:latin typeface="Microsoft YaHei"/>
                <a:ea typeface="Microsoft YaHei"/>
              </a:rPr>
              <a:t>"</a:t>
            </a: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参考答案</a:t>
            </a:r>
            <a:r>
              <a:rPr lang="en-US" sz="1950" b="1">
                <a:solidFill>
                  <a:srgbClr val="1F7A5C"/>
                </a:solidFill>
                <a:latin typeface="Microsoft YaHei"/>
                <a:ea typeface="Microsoft YaHei"/>
              </a:rPr>
              <a:t>"</a:t>
            </a:r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685800" y="2200275"/>
            <a:ext cx="295275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产品模块里是公司整理好的标准说法。先把这些看过一遍，你问出来的问题会更专业，也更接近客户真正会问的那种。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685800" y="3819525"/>
            <a:ext cx="2952750" cy="11049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更重要的是：看过标准说法之后，你一眼就能发现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 AI 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回答里有没有跑偏。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685800" y="5153025"/>
            <a:ext cx="2952750" cy="981075"/>
          </a:xfrm>
          <a:prstGeom prst="roundRect">
            <a:avLst>
              <a:gd name="adj" fmla="val 1359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838200" y="5305425"/>
            <a:ext cx="26479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别问</a:t>
            </a:r>
            <a:r>
              <a:rPr lang="en-US" sz="1425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介绍一下这个产品</a:t>
            </a:r>
            <a:r>
              <a:rPr lang="en-US" sz="1425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，这种问法拿到的答案最没有信息量。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3905250" y="1143000"/>
            <a:ext cx="7600950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4" name=""/>
          <p:cNvSpPr/>
          <p:nvPr/>
        </p:nvSpPr>
        <p:spPr>
          <a:xfrm rot="0" flipH="0" flipV="0">
            <a:off x="4095750" y="133350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4267200" y="1438275"/>
            <a:ext cx="133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4743450" y="1333500"/>
            <a:ext cx="65722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先看分类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4743450" y="1676400"/>
            <a:ext cx="65722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按分类找到你要了解的那条产品线，先看清公司一共有哪些品类、各自定位是什么，别一上来就搜一个名字。</a:t>
            </a:r>
            <a:endParaRPr/>
          </a:p>
        </p:txBody>
      </p:sp>
      <p:sp>
        <p:nvSpPr>
          <p:cNvPr id="248" name=""/>
          <p:cNvSpPr/>
          <p:nvPr/>
        </p:nvSpPr>
        <p:spPr>
          <a:xfrm rot="0" flipH="0" flipV="0">
            <a:off x="3905250" y="2514600"/>
            <a:ext cx="7600950" cy="1238250"/>
          </a:xfrm>
          <a:prstGeom prst="roundRect">
            <a:avLst>
              <a:gd name="adj" fmla="val 1076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9" name=""/>
          <p:cNvSpPr/>
          <p:nvPr/>
        </p:nvSpPr>
        <p:spPr>
          <a:xfrm rot="0" flipH="0" flipV="0">
            <a:off x="4095750" y="270510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4267200" y="2809875"/>
            <a:ext cx="133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4743450" y="2705100"/>
            <a:ext cx="65722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再看亮点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4743450" y="3048000"/>
            <a:ext cx="65722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产品卡上被高亮出来的那几句，通常就是客户最常问、也最容易卡住的点，值得单独记一下。</a:t>
            </a:r>
            <a:endParaRPr/>
          </a:p>
        </p:txBody>
      </p:sp>
      <p:sp>
        <p:nvSpPr>
          <p:cNvPr id="253" name=""/>
          <p:cNvSpPr/>
          <p:nvPr/>
        </p:nvSpPr>
        <p:spPr>
          <a:xfrm rot="0" flipH="0" flipV="0">
            <a:off x="3905250" y="3886200"/>
            <a:ext cx="7600950" cy="1238250"/>
          </a:xfrm>
          <a:prstGeom prst="roundRect">
            <a:avLst>
              <a:gd name="adj" fmla="val 10769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254" name=""/>
          <p:cNvSpPr/>
          <p:nvPr/>
        </p:nvSpPr>
        <p:spPr>
          <a:xfrm rot="0" flipH="0" flipV="0">
            <a:off x="4095750" y="4076700"/>
            <a:ext cx="476250" cy="47625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4267200" y="4181475"/>
            <a:ext cx="1333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256" name="" descr="{&quot;isTemplate&quot;:true,&quot;type&quot;:&quot;text&quot;}"/>
          <p:cNvSpPr txBox="1"/>
          <p:nvPr/>
        </p:nvSpPr>
        <p:spPr>
          <a:xfrm rot="0" flipH="0" flipV="0">
            <a:off x="4743450" y="4076700"/>
            <a:ext cx="6572250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拎一点去问</a:t>
            </a:r>
            <a:endParaRPr/>
          </a:p>
        </p:txBody>
      </p:sp>
      <p:sp>
        <p:nvSpPr>
          <p:cNvPr id="257" name="" descr="{&quot;isTemplate&quot;:true,&quot;type&quot;:&quot;text&quot;}"/>
          <p:cNvSpPr txBox="1"/>
          <p:nvPr/>
        </p:nvSpPr>
        <p:spPr>
          <a:xfrm rot="0" flipH="0" flipV="0">
            <a:off x="4743450" y="4419600"/>
            <a:ext cx="6572250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把最关心的那一点单独拎出来提问。问一句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这个产品适合哪些人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，比问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介绍一下这个产品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有用得多。</a:t>
            </a:r>
            <a:endParaRPr/>
          </a:p>
        </p:txBody>
      </p:sp>
      <p:sp>
        <p:nvSpPr>
          <p:cNvPr id="258" name=""/>
          <p:cNvSpPr/>
          <p:nvPr/>
        </p:nvSpPr>
        <p:spPr>
          <a:xfrm rot="0" flipH="0" flipV="0">
            <a:off x="3905250" y="5257800"/>
            <a:ext cx="7600950" cy="1047750"/>
          </a:xfrm>
          <a:prstGeom prst="roundRect">
            <a:avLst>
              <a:gd name="adj" fmla="val 12727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4076700" y="5429250"/>
            <a:ext cx="7258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1F7A5C"/>
                </a:solidFill>
                <a:latin typeface="Microsoft YaHei"/>
                <a:ea typeface="Microsoft YaHei"/>
              </a:rPr>
              <a:t>看完产品卡，推荐这样问</a:t>
            </a:r>
            <a:endParaRPr/>
          </a:p>
        </p:txBody>
      </p:sp>
      <p:sp>
        <p:nvSpPr>
          <p:cNvPr id="260" name=""/>
          <p:cNvSpPr/>
          <p:nvPr/>
        </p:nvSpPr>
        <p:spPr>
          <a:xfrm rot="0" flipH="0" flipV="0">
            <a:off x="4076700" y="5791200"/>
            <a:ext cx="1276350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4171950" y="5886450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适合哪些人？</a:t>
            </a:r>
            <a:endParaRPr/>
          </a:p>
        </p:txBody>
      </p:sp>
      <p:sp>
        <p:nvSpPr>
          <p:cNvPr id="262" name=""/>
          <p:cNvSpPr/>
          <p:nvPr/>
        </p:nvSpPr>
        <p:spPr>
          <a:xfrm rot="0" flipH="0" flipV="0">
            <a:off x="5467350" y="5791200"/>
            <a:ext cx="1638300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5562600" y="5886450"/>
            <a:ext cx="14478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主要特点是什么？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7219950" y="5791200"/>
            <a:ext cx="1819275" cy="409575"/>
          </a:xfrm>
          <a:prstGeom prst="roundRect">
            <a:avLst>
              <a:gd name="adj" fmla="val 27907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7315200" y="5886450"/>
            <a:ext cx="1628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我该重点看哪一点？</a:t>
            </a:r>
            <a:endParaRPr/>
          </a:p>
        </p:txBody>
      </p:sp>
      <p:pic>
        <p:nvPicPr>
          <p:cNvPr id="26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内容与案例参考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06 / 13</a:t>
            </a:r>
            <a:endParaRPr/>
          </a:p>
        </p:txBody>
      </p:sp>
    </p:spTree>
  </p:cSld>
</p:sld>
</file>

<file path=ppt/slides/slide7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69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历史记录与热门问题&lt;/Text&gt;&#10;        &lt;Box style={{ width: 56, height: 4, borderRadius: 2, background: '#1F7A5C', marginTop: 8 }} /&gt;&#10;    &lt;/Box&gt;&#10;&#10;    &lt;Box style={{ height: 528, flexDirection: 'row', gap: 28 }}&gt;&#10;        &lt;Box style={{ width: 710 }}&gt;&#10;            &lt;Text style={{ fontSize: 26, fontWeight: 'bold', color: '#1F7A5C', lineHeight: 1.4 }}&gt;&#10;                你问过的每一句，都还在这儿&#10;            &lt;/Text&gt;&#10;&#10;            &lt;Box style={{ marginTop: 18, background: '#FFFFFF', borderRadius: 14, padding: 20, boxShadow: '0 4px 20px rgba(30,58,50,0.08)' }}&gt;&#10;                &lt;svg width=&quot;670&quot; height=&quot;200&quot; viewBox=&quot;0 0 670 200&quot;&gt;&#10;                    &lt;path d=&quot;M28 24 V176&quot; stroke=&quot;#A8D5BA&quot; strokeWidth=&quot;4&quot; /&gt;&#10;                    &lt;circle cx=&quot;28&quot; cy=&quot;38&quot; r=&quot;12&quot; fill=&quot;#1F7A5C&quot; /&gt;&#10;                    &lt;circle cx=&quot;28&quot; cy=&quot;100&quot; r=&quot;12&quot; fill=&quot;#1F7A5C&quot; /&gt;&#10;                    &lt;circle cx=&quot;28&quot; cy=&quot;162&quot; r=&quot;12&quot; fill=&quot;#E08A3C&quot; /&gt;&#10;&#10;                    &lt;rect x=&quot;60&quot; y=&quot;14&quot; width=&quot;600&quot; height=&quot;48&quot; rx=&quot;12&quot; fill=&quot;rgba(168,213,186,0.32)&quot; /&gt;&#10;                    &lt;text x=&quot;80&quot; y=&quot;44&quot; fontSize=&quot;19&quot; fill=&quot;#1E3A32&quot; fontFamily=&quot;PingFang SC&quot;&gt;今天 10:24　这个产品适合什么人？&lt;/text&gt;&#10;&#10;                    &lt;rect x=&quot;60&quot; y=&quot;76&quot; width=&quot;600&quot; height=&quot;48&quot; rx=&quot;12&quot; fill=&quot;rgba(168,213,186,0.32)&quot; /&gt;&#10;                    &lt;text x=&quot;80&quot; y=&quot;106&quot; fontSize=&quot;19&quot; fill=&quot;#1E3A32&quot; fontFamily=&quot;PingFang SC&quot;&gt;今天 14:02　连续吃多久算一个周期？&lt;/text&gt;&#10;&#10;                    &lt;rect x=&quot;60&quot; y=&quot;138&quot; width=&quot;600&quot; height=&quot;48&quot; rx=&quot;12&quot; fill=&quot;rgba(224,138,60,0.16)&quot; /&gt;&#10;                    &lt;text x=&quot;80&quot; y=&quot;168&quot; fontSize=&quot;19&quot; fill=&quot;#1E3A32&quot; fontFamily=&quot;PingFang SC&quot;&gt;昨天 16:40　有没有和我情况差不多的案例？&lt;/text&gt;&#10;                &lt;/svg&gt;&#10;            &lt;/Box&gt;&#10;&#10;            &lt;Box style={{ marginTop: 20, gap: 12 }}&gt;&#10;                &lt;Box style={{ flexDirection: 'row', gap: 12, alignItems: 'flex-start' }}&gt;&#10;                    &lt;FAIcon name='check-circle' style={{ fill: '#1F7A5C', width: 24, height: 24 }} /&gt;&#10;                    &lt;Text style={{ fontSize: 20, color: '#1E3A32', lineHeight: 1.55, flex: 1 }}&gt;&#10;                        历史按会话一组一组保存，点开就能接着上次的话题继续问，不用重新讲一遍背景。&#10;                    &lt;/Text&gt;&#10;                &lt;/Box&gt;&#10;                &lt;Box style={{ flexDirection: 'row', gap: 12, alignItems: 'flex-start' }}&gt;&#10;                    &lt;FAIcon name='check-circle' style={{ fill: '#1F7A5C', width: 24, height: 24 }} /&gt;&#10;                    &lt;Text style={{ fontSize: 20, color: '#1E3A32', lineHeight: 1.55, flex: 1 }}&gt;&#10;                        不想留的记录可以勾选后批量删除——删掉的是你这台设备上的显示，不会删掉别人的。&#10;                    &lt;/Text&gt;&#10;                &lt;/Box&gt;&#10;            &lt;/Box&gt;&#10;        &lt;/Box&gt;&#10;&#10;        &lt;Box style={{ flex: 1 }}&gt;&#10;            &lt;Text style={{ fontSize: 26, fontWeight: 'bold', color: '#1F7A5C', lineHeight: 1.45 }}&gt;&#10;                不知道问什么？&lt;br /&gt;先看看别人在问什么&#10;            &lt;/Text&gt;&#10;            &lt;Text style={{ fontSize: 19, color: '#6B7C75', lineHeight: 1.6, marginTop: 16 }}&gt;&#10;                热门问题来自真实的提问统计，是现成的选题库和话题库。&#10;            &lt;/Text&gt;&#10;&#10;            &lt;Box style={{ marginTop: 18, flexDirection: 'row', flexWrap: 'wrap', gap: 12 }}&gt;&#10;                &lt;Box style={{ background: '#FFFFFF', borderRadius: 16, padding: 12, boxShadow: '0 4px 20px rgba(30,58,50,0.08)' }}&gt;&#10;                    &lt;Text style={{ fontSize: 19, color: '#1E3A32' }}&gt;适合什么人&lt;/Text&gt;&#10;                &lt;/Box&gt;&#10;                &lt;Box style={{ background: '#FFFFFF', borderRadius: 16, padding: 12, boxShadow: '0 4px 20px rgba(30,58,50,0.08)' }}&gt;&#10;                    &lt;Text style={{ fontSize: 19, color: '#1E3A32' }}&gt;多久见效&lt;/Text&gt;&#10;                &lt;/Box&gt;&#10;                &lt;Box style={{ background: '#FFFFFF', borderRadius: 16, padding: 12, boxShadow: '0 4px 20px rgba(30,58,50,0.08)' }}&gt;&#10;                    &lt;Text style={{ fontSize: 19, color: '#1E3A32' }}&gt;能不能长期吃&lt;/Text&gt;&#10;                &lt;/Box&gt;&#10;                &lt;Box style={{ background: '#FFFFFF', borderRadius: 16, padding: 12, boxShadow: '0 4px 20px rgba(30,58,50,0.08)' }}&gt;&#10;                    &lt;Text style={{ fontSize: 19, color: '#1E3A32' }}&gt;和别的怎么搭&lt;/Text&gt;&#10;                &lt;/Box&gt;&#10;                &lt;Box style={{ background: 'rgba(224,138,60,0.16)', borderRadius: 16, padding: 12 }}&gt;&#10;                    &lt;Text style={{ fontSize: 19, color: '#C9742B' }}&gt;空腹可以吗&lt;/Text&gt;&#10;                &lt;/Box&gt;&#10;                &lt;Box style={{ background: 'rgba(224,138,60,0.16)', borderRadius: 16, padding: 12 }}&gt;&#10;                    &lt;Text style={{ fontSize: 19, color: '#C9742B' }}&gt;出差怎么带&lt;/Text&gt;&#10;                &lt;/Box&gt;&#10;            &lt;/Box&gt;&#10;&#10;            &lt;Box style={{&#10;                marginTop: 'auto', background: 'rgba(31,122,92,0.08)', borderRadius: 14, padding: 18,&#10;            }}&gt;&#10;                &lt;Text style={{ fontSize: 20, color: '#1E3A32', lineHeight: 1.55, fontWeight: 'bold' }}&gt;&#10;                    抄一句热门问题回来问，是新人最快熟悉产品的办法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内容与案例参考&lt;/Text&gt;&#10;        &lt;/Box&gt;&#10;        &lt;Text style={{ fontSize: 14, color: '#6B7C75' }}&gt;07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271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历史记录与热门问题</a:t>
            </a:r>
            <a:endParaRPr/>
          </a:p>
        </p:txBody>
      </p:sp>
      <p:sp>
        <p:nvSpPr>
          <p:cNvPr id="272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6762750" cy="41910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你问过的每一句，都还在这儿</a:t>
            </a:r>
            <a:endParaRPr/>
          </a:p>
        </p:txBody>
      </p:sp>
      <p:sp>
        <p:nvSpPr>
          <p:cNvPr id="274" name=""/>
          <p:cNvSpPr/>
          <p:nvPr/>
        </p:nvSpPr>
        <p:spPr>
          <a:xfrm rot="0" flipH="0" flipV="0">
            <a:off x="685800" y="1733550"/>
            <a:ext cx="6762750" cy="2286000"/>
          </a:xfrm>
          <a:prstGeom prst="roundRect">
            <a:avLst>
              <a:gd name="adj" fmla="val 583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27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76300" y="1924050"/>
            <a:ext cx="6381750" cy="1905000"/>
          </a:xfrm>
          <a:prstGeom prst="rect">
            <a:avLst/>
          </a:prstGeom>
          <a:ln/>
        </p:spPr>
      </p:pic>
      <p:pic>
        <p:nvPicPr>
          <p:cNvPr id="2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" y="4210050"/>
            <a:ext cx="228600" cy="228600"/>
          </a:xfrm>
          <a:prstGeom prst="rect">
            <a:avLst/>
          </a:prstGeom>
          <a:ln/>
        </p:spPr>
      </p:pic>
      <p:sp>
        <p:nvSpPr>
          <p:cNvPr id="277" name="" descr="{&quot;isTemplate&quot;:true,&quot;type&quot;:&quot;text&quot;}"/>
          <p:cNvSpPr txBox="1"/>
          <p:nvPr/>
        </p:nvSpPr>
        <p:spPr>
          <a:xfrm rot="0" flipH="0" flipV="0">
            <a:off x="1028700" y="4210050"/>
            <a:ext cx="64198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历史按会话一组一组保存，点开就能接着上次的话题继续问，不用重新讲一遍背景。</a:t>
            </a:r>
            <a:endParaRPr/>
          </a:p>
        </p:txBody>
      </p:sp>
      <p:pic>
        <p:nvPicPr>
          <p:cNvPr id="2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" y="5038725"/>
            <a:ext cx="228600" cy="228600"/>
          </a:xfrm>
          <a:prstGeom prst="rect">
            <a:avLst/>
          </a:prstGeom>
          <a:ln/>
        </p:spPr>
      </p:pic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028700" y="5038725"/>
            <a:ext cx="64198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不想留的记录可以勾选后批量删除——删掉的是你这台设备上的显示，不会删掉别人的。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7715250" y="1143000"/>
            <a:ext cx="379095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不知道问什么？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先看看别人在问什么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7715250" y="2162175"/>
            <a:ext cx="3790950" cy="6953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热门问题来自真实的提问统计，是现成的选题库和话题库。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7715250" y="3028950"/>
            <a:ext cx="1133475" cy="447675"/>
          </a:xfrm>
          <a:prstGeom prst="roundRect">
            <a:avLst>
              <a:gd name="adj" fmla="val 3404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7829550" y="3143250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适合什么人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8963025" y="3028950"/>
            <a:ext cx="952500" cy="447675"/>
          </a:xfrm>
          <a:prstGeom prst="roundRect">
            <a:avLst>
              <a:gd name="adj" fmla="val 3404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9077325" y="3143250"/>
            <a:ext cx="7239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多久见效</a:t>
            </a:r>
            <a:endParaRPr/>
          </a:p>
        </p:txBody>
      </p:sp>
      <p:sp>
        <p:nvSpPr>
          <p:cNvPr id="286" name=""/>
          <p:cNvSpPr/>
          <p:nvPr/>
        </p:nvSpPr>
        <p:spPr>
          <a:xfrm rot="0" flipH="0" flipV="0">
            <a:off x="10029825" y="3028950"/>
            <a:ext cx="1314450" cy="447675"/>
          </a:xfrm>
          <a:prstGeom prst="roundRect">
            <a:avLst>
              <a:gd name="adj" fmla="val 3404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0144125" y="3143250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能不能长期吃</a:t>
            </a:r>
            <a:endParaRPr/>
          </a:p>
        </p:txBody>
      </p:sp>
      <p:sp>
        <p:nvSpPr>
          <p:cNvPr id="288" name=""/>
          <p:cNvSpPr/>
          <p:nvPr/>
        </p:nvSpPr>
        <p:spPr>
          <a:xfrm rot="0" flipH="0" flipV="0">
            <a:off x="7715250" y="3590925"/>
            <a:ext cx="1314450" cy="447675"/>
          </a:xfrm>
          <a:prstGeom prst="roundRect">
            <a:avLst>
              <a:gd name="adj" fmla="val 34043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89" name="" descr="{&quot;isTemplate&quot;:true,&quot;type&quot;:&quot;text&quot;}"/>
          <p:cNvSpPr txBox="1"/>
          <p:nvPr/>
        </p:nvSpPr>
        <p:spPr>
          <a:xfrm rot="0" flipH="0" flipV="0">
            <a:off x="7829550" y="3705225"/>
            <a:ext cx="10858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和别的怎么搭</a:t>
            </a:r>
            <a:endParaRPr/>
          </a:p>
        </p:txBody>
      </p:sp>
      <p:sp>
        <p:nvSpPr>
          <p:cNvPr id="290" name=""/>
          <p:cNvSpPr/>
          <p:nvPr/>
        </p:nvSpPr>
        <p:spPr>
          <a:xfrm rot="0" flipH="0" flipV="0">
            <a:off x="9144000" y="3590925"/>
            <a:ext cx="1133475" cy="447675"/>
          </a:xfrm>
          <a:prstGeom prst="roundRect">
            <a:avLst>
              <a:gd name="adj" fmla="val 34043"/>
            </a:avLst>
          </a:prstGeom>
          <a:solidFill>
            <a:srgbClr val="E08A3C">
              <a:alpha val="16000"/>
            </a:srgbClr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9258300" y="3705225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C9742B"/>
                </a:solidFill>
                <a:latin typeface="Microsoft YaHei"/>
                <a:ea typeface="Microsoft YaHei"/>
              </a:rPr>
              <a:t>空腹可以吗</a:t>
            </a:r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7715250" y="4152900"/>
            <a:ext cx="1133475" cy="447675"/>
          </a:xfrm>
          <a:prstGeom prst="roundRect">
            <a:avLst>
              <a:gd name="adj" fmla="val 34043"/>
            </a:avLst>
          </a:prstGeom>
          <a:solidFill>
            <a:srgbClr val="E08A3C">
              <a:alpha val="16000"/>
            </a:srgbClr>
          </a:solidFill>
          <a:ln/>
        </p:spPr>
        <p:txBody>
          <a:bodyPr/>
          <a:p/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7829550" y="4267200"/>
            <a:ext cx="9048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>
                <a:solidFill>
                  <a:srgbClr val="C9742B"/>
                </a:solidFill>
                <a:latin typeface="Microsoft YaHei"/>
                <a:ea typeface="Microsoft YaHei"/>
              </a:rPr>
              <a:t>出差怎么带</a:t>
            </a:r>
            <a:endParaRPr/>
          </a:p>
        </p:txBody>
      </p:sp>
      <p:sp>
        <p:nvSpPr>
          <p:cNvPr id="294" name=""/>
          <p:cNvSpPr/>
          <p:nvPr/>
        </p:nvSpPr>
        <p:spPr>
          <a:xfrm rot="0" flipH="0" flipV="0">
            <a:off x="7715250" y="5114925"/>
            <a:ext cx="3790950" cy="1057275"/>
          </a:xfrm>
          <a:prstGeom prst="roundRect">
            <a:avLst>
              <a:gd name="adj" fmla="val 12613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7886700" y="5286375"/>
            <a:ext cx="344805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 b="1">
                <a:solidFill>
                  <a:srgbClr val="1E3A32"/>
                </a:solidFill>
                <a:latin typeface="Microsoft YaHei"/>
                <a:ea typeface="Microsoft YaHei"/>
              </a:rPr>
              <a:t>抄一句热门问题回来问，是新人最快熟悉产品的办法。</a:t>
            </a:r>
            <a:endParaRPr/>
          </a:p>
        </p:txBody>
      </p:sp>
      <p:pic>
        <p:nvPicPr>
          <p:cNvPr id="29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内容与案例参考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07 / 13</a:t>
            </a:r>
            <a:endParaRPr/>
          </a:p>
        </p:txBody>
      </p:sp>
    </p:spTree>
  </p:cSld>
</p:sld>
</file>

<file path=ppt/slides/slide8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299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案例从哪来、什么时候出现&lt;/Text&gt;&#10;        &lt;Box style={{ width: 56, height: 4, borderRadius: 2, background: '#1F7A5C', marginTop: 8 }} /&gt;&#10;    &lt;/Box&gt;&#10;&#10;    &lt;Box style={{ height: 528, flexDirection: 'row', gap: 28 }}&gt;&#10;        &lt;Box style={{ width: 605 }}&gt;&#10;            &lt;svg width=&quot;605&quot; height=&quot;528&quot; viewBox=&quot;0 0 605 528&quot;&gt;&#10;                &lt;path d=&quot;M320 24 H580 A14 14 0 0 1 594 38 V62 A14 14 0 0 1 580 76 H334 L316 96 V76 H320 Z&quot; fill=&quot;rgba(168,213,186,0.55)&quot; /&gt;&#10;                &lt;rect x=&quot;342&quot; y=&quot;42&quot; width=&quot;200&quot; height=&quot;12&quot; rx=&quot;6&quot; fill=&quot;#1E3A32&quot; opacity=&quot;0.45&quot; /&gt;&#10;&#10;                &lt;path d=&quot;M26 116 H470 A16 16 0 0 1 486 132 V196 A16 16 0 0 1 470 212 H96 L56 252 V212 H26 A16 16 0 0 1 10 196 V132 A16 16 0 0 1 26 116 Z&quot; fill=&quot;#1F7A5C&quot; /&gt;&#10;                &lt;rect x=&quot;40&quot; y=&quot;140&quot; width=&quot;300&quot; height=&quot;14&quot; rx=&quot;7&quot; fill=&quot;#FFFFFF&quot; opacity=&quot;0.9&quot; /&gt;&#10;                &lt;rect x=&quot;40&quot; y=&quot;166&quot; width=&quot;380&quot; height=&quot;11&quot; rx=&quot;5&quot; fill=&quot;#FFFFFF&quot; opacity=&quot;0.55&quot; /&gt;&#10;                &lt;rect x=&quot;40&quot; y=&quot;188&quot; width=&quot;330&quot; height=&quot;11&quot; rx=&quot;5&quot; fill=&quot;#FFFFFF&quot; opacity=&quot;0.55&quot; /&gt;&#10;&#10;                &lt;text x=&quot;12&quot; y=&quot;292&quot; fontSize=&quot;20&quot; fontWeight=&quot;bold&quot; fill=&quot;#1F7A5C&quot; fontFamily=&quot;PingFang SC&quot;&gt;相关案例&lt;/text&gt;&#10;&#10;                &lt;rect x=&quot;10&quot; y=&quot;308&quot; width=&quot;585&quot; height=&quot;70&quot; rx=&quot;14&quot; fill=&quot;#FFFFFF&quot; /&gt;&#10;                &lt;rect x=&quot;10&quot; y=&quot;308&quot; width=&quot;585&quot; height=&quot;70&quot; rx=&quot;14&quot; fill=&quot;none&quot; stroke=&quot;#DDE7E1&quot; strokeWidth=&quot;2&quot; /&gt;&#10;                &lt;rect x=&quot;26&quot; y=&quot;322&quot; width=&quot;42&quot; height=&quot;42&quot; rx=&quot;10&quot; fill=&quot;rgba(168,213,186,0.6)&quot; /&gt;&#10;                &lt;rect x=&quot;84&quot; y=&quot;326&quot; width=&quot;240&quot; height=&quot;13&quot; rx=&quot;6&quot; fill=&quot;#1F7A5C&quot; opacity=&quot;0.6&quot; /&gt;&#10;                &lt;rect x=&quot;84&quot; y=&quot;350&quot; width=&quot;330&quot; height=&quot;10&quot; rx=&quot;5&quot; fill=&quot;#A8D5BA&quot; /&gt;&#10;                &lt;rect x=&quot;494&quot; y=&quot;326&quot; width=&quot;84&quot; height=&quot;24&quot; rx=&quot;12&quot; fill=&quot;rgba(31,122,92,0.12)&quot; /&gt;&#10;&#10;                &lt;rect x=&quot;10&quot; y=&quot;390&quot; width=&quot;585&quot; height=&quot;70&quot; rx=&quot;14&quot; fill=&quot;#FFFFFF&quot; /&gt;&#10;                &lt;rect x=&quot;10&quot; y=&quot;390&quot; width=&quot;585&quot; height=&quot;70&quot; rx=&quot;14&quot; fill=&quot;none&quot; stroke=&quot;#DDE7E1&quot; strokeWidth=&quot;2&quot; /&gt;&#10;                &lt;rect x=&quot;26&quot; y=&quot;404&quot; width=&quot;42&quot; height=&quot;42&quot; rx=&quot;10&quot; fill=&quot;rgba(168,213,186,0.6)&quot; /&gt;&#10;                &lt;rect x=&quot;84&quot; y=&quot;408&quot; width=&quot;206&quot; height=&quot;13&quot; rx=&quot;6&quot; fill=&quot;#1F7A5C&quot; opacity=&quot;0.6&quot; /&gt;&#10;                &lt;rect x=&quot;84&quot; y=&quot;432&quot; width=&quot;300&quot; height=&quot;10&quot; rx=&quot;5&quot; fill=&quot;#A8D5BA&quot; /&gt;&#10;                &lt;rect x=&quot;494&quot; y=&quot;408&quot; width=&quot;84&quot; height=&quot;24&quot; rx=&quot;12&quot; fill=&quot;rgba(224,138,60,0.18)&quot; /&gt;&#10;&#10;                &lt;rect x=&quot;10&quot; y=&quot;472&quot; width=&quot;585&quot; height=&quot;52&quot; rx=&quot;14&quot; fill=&quot;rgba(31,122,92,0.08)&quot; /&gt;&#10;                &lt;text x=&quot;302&quot; y=&quot;505&quot; textAnchor=&quot;middle&quot; fontSize=&quot;19&quot; fill=&quot;#1F7A5C&quot; fontFamily=&quot;PingFang SC&quot;&gt;查看更多&lt;/text&gt;&#10;            &lt;/svg&gt;&#10;        &lt;/Box&gt;&#10;&#10;        &lt;Box style={{ flex: 1 }}&gt;&#10;            &lt;Text style={{ fontSize: 26, fontWeight: 'bold', color: '#1F7A5C', lineHeight: 1.45 }}&gt;&#10;                回答下面那三张卡，&lt;br /&gt;就是案例&#10;            &lt;/Text&gt;&#10;&#10;            &lt;Box style={{ marginTop: 22, gap: 16 }}&gt;&#10;                &lt;Box style={{ flexDirection: 'row', gap: 14, alignItems: 'flex-start' }}&gt;&#10;                    &lt;FAIcon name='check-circle' style={{ fill: '#1F7A5C', width: 26, height: 26 }} /&gt;&#10;                    &lt;Text style={{ fontSize: 19, color: '#1E3A32', lineHeight: 1.55, flex: 1 }}&gt;&#10;                        &lt;span style={{ fontWeight: 'bold' }}&gt;什么时候出现&lt;/span&gt;：每次回答结束后自动推荐，默认给 3 条，不问不要钱。&#10;                    &lt;/Text&gt;&#10;                &lt;/Box&gt;&#10;                &lt;Box style={{ flexDirection: 'row', gap: 14, alignItems: 'flex-start' }}&gt;&#10;                    &lt;FAIcon name='check-circle' style={{ fill: '#1F7A5C', width: 26, height: 26 }} /&gt;&#10;                    &lt;Text style={{ fontSize: 19, color: '#1E3A32', lineHeight: 1.55, flex: 1 }}&gt;&#10;                        &lt;span style={{ fontWeight: 'bold' }}&gt;凭什么推给我&lt;/span&gt;：先按症状标签、产品标签匹配，实在找不到再用全文搜索兜底。&#10;                    &lt;/Text&gt;&#10;                &lt;/Box&gt;&#10;                &lt;Box style={{ flexDirection: 'row', gap: 14, alignItems: 'flex-start' }}&gt;&#10;                    &lt;FAIcon name='check-circle' style={{ fill: '#1F7A5C', width: 26, height: 26 }} /&gt;&#10;                    &lt;Text style={{ fontSize: 19, color: '#1E3A32', lineHeight: 1.55, flex: 1 }}&gt;&#10;                        &lt;span style={{ fontWeight: 'bold' }}&gt;为什么只有三条&lt;/span&gt;：只推和你这次问题相关的，不会把整个案例库都丢给你。&#10;                    &lt;/Text&gt;&#10;                &lt;/Box&gt;&#10;                &lt;Box style={{ flexDirection: 'row', gap: 14, alignItems: 'flex-start' }}&gt;&#10;                    &lt;FAIcon name='check-circle' style={{ fill: '#1F7A5C', width: 26, height: 26 }} /&gt;&#10;                    &lt;Text style={{ fontSize: 19, color: '#1E3A32', lineHeight: 1.55, flex: 1 }}&gt;&#10;                        &lt;span style={{ fontWeight: 'bold' }}&gt;它不参与回答&lt;/span&gt;：案例不会混进 AI 的话里，只是安静地在下面等你翻。&#10;                    &lt;/Text&gt;&#10;                &lt;/Box&gt;&#10;            &lt;/Box&gt;&#10;&#10;            &lt;Box style={{&#10;                marginTop: 'auto', background: 'rgba(224,138,60,0.14)', borderRadius: 14, padding: 18,&#10;            }}&gt;&#10;                &lt;Text style={{ fontSize: 20, color: '#C9742B', lineHeight: 1.5, fontWeight: 'bold' }}&gt;&#10;                    案例是别人真实走过的路，不是标准答案——参考价值全在&quot;像不像你&quot;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内容与案例参考&lt;/Text&gt;&#10;        &lt;/Box&gt;&#10;        &lt;Text style={{ fontSize: 14, color: '#6B7C75' }}&gt;08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案例从哪来、什么时候出现</a:t>
            </a:r>
            <a:endParaRPr/>
          </a:p>
        </p:txBody>
      </p:sp>
      <p:sp>
        <p:nvSpPr>
          <p:cNvPr id="302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3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143000"/>
            <a:ext cx="5762625" cy="5029200"/>
          </a:xfrm>
          <a:prstGeom prst="rect">
            <a:avLst/>
          </a:prstGeom>
          <a:ln/>
        </p:spPr>
      </p:pic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6715125" y="1143000"/>
            <a:ext cx="4791075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回答下面那三张卡，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就是案例</a:t>
            </a:r>
            <a:endParaRPr/>
          </a:p>
        </p:txBody>
      </p:sp>
      <p:pic>
        <p:nvPicPr>
          <p:cNvPr id="3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715125" y="2219325"/>
            <a:ext cx="247650" cy="247650"/>
          </a:xfrm>
          <a:prstGeom prst="rect">
            <a:avLst/>
          </a:prstGeom>
          <a:ln/>
        </p:spPr>
      </p:pic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7096125" y="2219325"/>
            <a:ext cx="44100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E3A32"/>
                </a:solidFill>
                <a:latin typeface="Microsoft YaHei"/>
                <a:ea typeface="Microsoft YaHei"/>
              </a:rPr>
              <a:t>什么时候出现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：每次回答结束后自动推荐，默认给</a:t>
            </a:r>
            <a:r>
              <a:rPr lang="en-US" sz="1425">
                <a:solidFill>
                  <a:srgbClr val="1E3A32"/>
                </a:solidFill>
                <a:latin typeface="Microsoft YaHei"/>
                <a:ea typeface="Microsoft YaHei"/>
              </a:rPr>
              <a:t> 3 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条，不问不要钱。</a:t>
            </a:r>
            <a:endParaRPr/>
          </a:p>
        </p:txBody>
      </p:sp>
      <p:pic>
        <p:nvPicPr>
          <p:cNvPr id="3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715125" y="3048000"/>
            <a:ext cx="247650" cy="247650"/>
          </a:xfrm>
          <a:prstGeom prst="rect">
            <a:avLst/>
          </a:prstGeom>
          <a:ln/>
        </p:spPr>
      </p:pic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7096125" y="3048000"/>
            <a:ext cx="44100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E3A32"/>
                </a:solidFill>
                <a:latin typeface="Microsoft YaHei"/>
                <a:ea typeface="Microsoft YaHei"/>
              </a:rPr>
              <a:t>凭什么推给我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：先按症状标签、产品标签匹配，实在找不到再用全文搜索兜底。</a:t>
            </a:r>
            <a:endParaRPr/>
          </a:p>
        </p:txBody>
      </p:sp>
      <p:pic>
        <p:nvPicPr>
          <p:cNvPr id="30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715125" y="3876675"/>
            <a:ext cx="247650" cy="247650"/>
          </a:xfrm>
          <a:prstGeom prst="rect">
            <a:avLst/>
          </a:prstGeom>
          <a:ln/>
        </p:spPr>
      </p:pic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7096125" y="3876675"/>
            <a:ext cx="44100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E3A32"/>
                </a:solidFill>
                <a:latin typeface="Microsoft YaHei"/>
                <a:ea typeface="Microsoft YaHei"/>
              </a:rPr>
              <a:t>为什么只有三条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：只推和你这次问题相关的，不会把整个案例库都丢给你。</a:t>
            </a:r>
            <a:endParaRPr/>
          </a:p>
        </p:txBody>
      </p:sp>
      <p:pic>
        <p:nvPicPr>
          <p:cNvPr id="3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715125" y="4705350"/>
            <a:ext cx="247650" cy="247650"/>
          </a:xfrm>
          <a:prstGeom prst="rect">
            <a:avLst/>
          </a:prstGeom>
          <a:ln/>
        </p:spPr>
      </p:pic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7096125" y="4705350"/>
            <a:ext cx="4410075" cy="6762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 b="1">
                <a:solidFill>
                  <a:srgbClr val="1E3A32"/>
                </a:solidFill>
                <a:latin typeface="Microsoft YaHei"/>
                <a:ea typeface="Microsoft YaHei"/>
              </a:rPr>
              <a:t>它不参与回答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：案例不会混进</a:t>
            </a:r>
            <a:r>
              <a:rPr lang="en-US" sz="1425">
                <a:solidFill>
                  <a:srgbClr val="1E3A32"/>
                </a:solidFill>
                <a:latin typeface="Microsoft YaHei"/>
                <a:ea typeface="Microsoft YaHei"/>
              </a:rPr>
              <a:t> AI 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的话里，只是安静地在下面等你翻。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6715125" y="5381625"/>
            <a:ext cx="4791075" cy="1028700"/>
          </a:xfrm>
          <a:prstGeom prst="roundRect">
            <a:avLst>
              <a:gd name="adj" fmla="val 12963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6886575" y="5553075"/>
            <a:ext cx="4448175" cy="6858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500" b="1">
                <a:solidFill>
                  <a:srgbClr val="C9742B"/>
                </a:solidFill>
                <a:latin typeface="Microsoft YaHei"/>
                <a:ea typeface="Microsoft YaHei"/>
              </a:rPr>
              <a:t>案例是别人真实走过的路，不是标准答案——参考价值全在</a:t>
            </a:r>
            <a:r>
              <a:rPr lang="en-US" sz="1500" b="1">
                <a:solidFill>
                  <a:srgbClr val="C9742B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C9742B"/>
                </a:solidFill>
                <a:latin typeface="Microsoft YaHei"/>
                <a:ea typeface="Microsoft YaHei"/>
              </a:rPr>
              <a:t>像不像你</a:t>
            </a:r>
            <a:r>
              <a:rPr lang="en-US" sz="1500" b="1">
                <a:solidFill>
                  <a:srgbClr val="C9742B"/>
                </a:solidFill>
                <a:latin typeface="Microsoft YaHei"/>
                <a:ea typeface="Microsoft YaHei"/>
              </a:rPr>
              <a:t>"</a:t>
            </a:r>
            <a:r>
              <a:rPr lang="zh-CN" sz="1500" b="1">
                <a:solidFill>
                  <a:srgbClr val="C9742B"/>
                </a:solidFill>
                <a:latin typeface="Microsoft YaHei"/>
                <a:ea typeface="Microsoft YaHei"/>
              </a:rPr>
              <a:t>。</a:t>
            </a:r>
            <a:endParaRPr/>
          </a:p>
        </p:txBody>
      </p:sp>
      <p:pic>
        <p:nvPicPr>
          <p:cNvPr id="3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内容与案例参考</a:t>
            </a:r>
            <a:endParaRPr/>
          </a:p>
        </p:txBody>
      </p:sp>
      <p:sp>
        <p:nvSpPr>
          <p:cNvPr id="317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08 / 13</a:t>
            </a:r>
            <a:endParaRPr/>
          </a:p>
        </p:txBody>
      </p:sp>
    </p:spTree>
  </p:cSld>
</p:sld>
</file>

<file path=ppt/slides/slide9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318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案例抽屉怎么用&lt;/Text&gt;&#10;        &lt;Box style={{ width: 56, height: 4, borderRadius: 2, background: '#1F7A5C', marginTop: 8 }} /&gt;&#10;    &lt;/Box&gt;&#10;&#10;    &lt;Box style={{ height: 528, flexDirection: 'row', gap: 28 }}&gt;&#10;        &lt;Box style={{ width: 310 }}&gt;&#10;            &lt;Text style={{ fontSize: 26, fontWeight: 'bold', color: '#1F7A5C', lineHeight: 1.45 }}&gt;&#10;                一个抽屉里切来切去，&lt;br /&gt;不会叠出第二层&#10;            &lt;/Text&gt;&#10;            &lt;Text style={{ fontSize: 20, color: '#6B7C75', lineHeight: 1.6, marginTop: 20 }}&gt;&#10;                点开案例后，详情、列表、标签筛选、相似案例都在同一层里切换。你不会因为点得太深而找不回上一个页面。&#10;            &lt;/Text&gt;&#10;            &lt;Box style={{&#10;                marginTop: 24, background: 'rgba(31,122,92,0.08)', borderRadius: 14, padding: 16,&#10;            }}&gt;&#10;                &lt;Text style={{ fontSize: 19, color: '#1E3A32', lineHeight: 1.55 }}&gt;&#10;                    老版本是&quot;点开一个弹窗，又冒出一个弹窗&quot;。现在的逻辑只有一层，记住这一句就够了。&#10;                &lt;/Text&gt;&#10;            &lt;/Box&gt;&#10;            &lt;Box style={{&#10;                marginTop: 18, background: '#FFFFFF', borderRadius: 14, padding: 16,&#10;                boxShadow: '0 4px 20px rgba(30,58,50,0.08)',&#10;            }}&gt;&#10;                &lt;Text style={{ fontSize: 19, color: '#6B7C75', lineHeight: 1.55 }}&gt;&#10;                    手机上也是同样逻辑：从底部升起的抽屉，往下滑或者点返回就能收回去。&#10;                &lt;/Text&gt;&#10;            &lt;/Box&gt;&#10;        &lt;/Box&gt;&#10;&#10;        &lt;Box style={{ flex: 1, gap: 12 }}&gt;&#10;            &lt;Box style={{&#10;                flexDirection: 'row', gap: 18, background: '#FFFFFF', borderRadius: 14, padding: 16,&#10;                height: 94, boxShadow: '0 4px 20px rgba(30,58,50,0.08)', alignItems: 'center',&#10;            }}&gt;&#10;                &lt;Box style={{ width: 46, height: 46, borderRadius: 23, background: '#1F7A5C', justifyContent: 'center', alignItems: 'center' }}&gt;&#10;                    &lt;FAIcon name='file-text' style={{ fill: '#FFFFFF', width: 24, height: 24 }} /&gt;&#10;                &lt;/Box&gt;&#10;                &lt;Box style={{ flex: 1 }}&gt;&#10;                    &lt;Text style={{ fontSize: 24, fontWeight: 'bold', color: '#1E3A32' }}&gt;详情&lt;/Text&gt;&#10;                    &lt;Text style={{ fontSize: 19, color: '#6B7C75', lineHeight: 1.45, marginTop: 3 }}&gt;&#10;                        点开案例卡就进详情：客户画像、使用场景、摘要、正文、封面图都在这里&#10;                    &lt;/Text&gt;&#10;                &lt;/Box&gt;&#10;            &lt;/Box&gt;&#10;&#10;            &lt;Box style={{&#10;                flexDirection: 'row', gap: 18, background: '#FFFFFF', borderRadius: 14, padding: 16,&#10;                height: 94, boxShadow: '0 4px 20px rgba(30,58,50,0.08)', alignItems: 'center',&#10;            }}&gt;&#10;                &lt;Box style={{ width: 46, height: 46, borderRadius: 23, background: '#1F7A5C', justifyContent: 'center', alignItems: 'center' }}&gt;&#10;                    &lt;FAIcon name='list' style={{ fill: '#FFFFFF', width: 24, height: 24 }} /&gt;&#10;                &lt;/Box&gt;&#10;                &lt;Box style={{ flex: 1 }}&gt;&#10;                    &lt;Text style={{ fontSize: 24, fontWeight: 'bold', color: '#1E3A32' }}&gt;列表&lt;/Text&gt;&#10;                    &lt;Text style={{ fontSize: 19, color: '#6B7C75', lineHeight: 1.45, marginTop: 3 }}&gt;&#10;                        从详情退回列表，这次问题相关的案例都在这一层，不用回去重新问一遍&#10;                    &lt;/Text&gt;&#10;                &lt;/Box&gt;&#10;            &lt;/Box&gt;&#10;&#10;            &lt;Box style={{&#10;                flexDirection: 'row', gap: 18, background: '#FFFFFF', borderRadius: 14, padding: 16,&#10;                height: 94, boxShadow: '0 4px 20px rgba(30,58,50,0.08)', alignItems: 'center',&#10;            }}&gt;&#10;                &lt;Box style={{ width: 46, height: 46, borderRadius: 23, background: '#1F7A5C', justifyContent: 'center', alignItems: 'center' }}&gt;&#10;                    &lt;FAIcon name='tags' style={{ fill: '#FFFFFF', width: 24, height: 24 }} /&gt;&#10;                &lt;/Box&gt;&#10;                &lt;Box style={{ flex: 1 }}&gt;&#10;                    &lt;Text style={{ fontSize: 24, fontWeight: 'bold', color: '#1E3A32' }}&gt;标签&lt;/Text&gt;&#10;                    &lt;Text style={{ fontSize: 19, color: '#6B7C75', lineHeight: 1.45, marginTop: 3 }}&gt;&#10;                        点案例上的标签，能看到同标签的更多案例——找相似情况最快的入口&#10;                    &lt;/Text&gt;&#10;                &lt;/Box&gt;&#10;            &lt;/Box&gt;&#10;&#10;            &lt;Box style={{&#10;                flexDirection: 'row', gap: 18, background: 'rgba(224,138,60,0.14)', borderRadius: 14, padding: 16,&#10;                height: 94, alignItems: 'center',&#10;            }}&gt;&#10;                &lt;Box style={{ width: 46, height: 46, borderRadius: 23, background: '#E08A3C', justifyContent: 'center', alignItems: 'center' }}&gt;&#10;                    &lt;FAIcon name='copy' style={{ fill: '#FFFFFF', width: 24, height: 24 }} /&gt;&#10;                &lt;/Box&gt;&#10;                &lt;Box style={{ flex: 1 }}&gt;&#10;                    &lt;Text style={{ fontSize: 24, fontWeight: 'bold', color: '#1E3A32' }}&gt;相似案例&lt;/Text&gt;&#10;                    &lt;Text style={{ fontSize: 19, color: '#6B7C75', lineHeight: 1.45, marginTop: 3 }}&gt;&#10;                        详情页里的&quot;相似案例&quot;直接跳到下一批，同层切换，看完还能再退回来&#10;                    &lt;/Text&gt;&#10;                &lt;/Box&gt;&#10;            &lt;/Box&gt;&#10;&#10;            &lt;Box style={{&#10;                flexDirection: 'row', gap: 18, background: '#FFFFFF', borderRadius: 14, padding: 16,&#10;                height: 94, boxShadow: '0 4px 20px rgba(30,58,50,0.08)', alignItems: 'center',&#10;            }}&gt;&#10;                &lt;Box style={{ width: 46, height: 46, borderRadius: 23, background: '#6B7C75', justifyContent: 'center', alignItems: 'center' }}&gt;&#10;                    &lt;FAIcon name='arrow-left' style={{ fill: '#FFFFFF', width: 24, height: 24 }} /&gt;&#10;                &lt;/Box&gt;&#10;                &lt;Box style={{ flex: 1 }}&gt;&#10;                    &lt;Text style={{ fontSize: 24, fontWeight: 'bold', color: '#1E3A32' }}&gt;返回上级&lt;/Text&gt;&#10;                    &lt;Text style={{ fontSize: 19, color: '#6B7C75', lineHeight: 1.45, marginTop: 3 }}&gt;&#10;                        不管点进去多深，永远能退回上一层；实在乱了就关掉抽屉重新提问&#10;                    &lt;/Text&gt;&#10;                &lt;/Box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内容与案例参考&lt;/Text&gt;&#10;        &lt;/Box&gt;&#10;        &lt;Text style={{ fontSize: 14, color: '#6B7C75' }}&gt;09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案例抽屉怎么用</a:t>
            </a:r>
            <a:endParaRPr/>
          </a:p>
        </p:txBody>
      </p:sp>
      <p:sp>
        <p:nvSpPr>
          <p:cNvPr id="321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322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2952750" cy="866775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一个抽屉里切来切去，</a:t>
            </a:r>
            <a:endParaRPr/>
          </a:p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不会叠出第二层</a:t>
            </a:r>
            <a:endParaRPr/>
          </a:p>
        </p:txBody>
      </p:sp>
      <p:sp>
        <p:nvSpPr>
          <p:cNvPr id="323" name="" descr="{&quot;isTemplate&quot;:true,&quot;type&quot;:&quot;text&quot;}"/>
          <p:cNvSpPr txBox="1"/>
          <p:nvPr/>
        </p:nvSpPr>
        <p:spPr>
          <a:xfrm rot="0" flipH="0" flipV="0">
            <a:off x="685800" y="2200275"/>
            <a:ext cx="2952750" cy="14668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点开案例后，详情、列表、标签筛选、相似案例都在同一层里切换。你不会因为点得太深而找不回上一个页面。</a:t>
            </a:r>
            <a:endParaRPr/>
          </a:p>
        </p:txBody>
      </p:sp>
      <p:sp>
        <p:nvSpPr>
          <p:cNvPr id="324" name=""/>
          <p:cNvSpPr/>
          <p:nvPr/>
        </p:nvSpPr>
        <p:spPr>
          <a:xfrm rot="0" flipH="0" flipV="0">
            <a:off x="685800" y="3895725"/>
            <a:ext cx="2952750" cy="1323975"/>
          </a:xfrm>
          <a:prstGeom prst="roundRect">
            <a:avLst>
              <a:gd name="adj" fmla="val 1007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325" name="" descr="{&quot;isTemplate&quot;:true,&quot;type&quot;:&quot;text&quot;}"/>
          <p:cNvSpPr txBox="1"/>
          <p:nvPr/>
        </p:nvSpPr>
        <p:spPr>
          <a:xfrm rot="0" flipH="0" flipV="0">
            <a:off x="838200" y="4048125"/>
            <a:ext cx="264795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老版本是</a:t>
            </a:r>
            <a:r>
              <a:rPr lang="en-US" sz="1425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点开一个弹窗，又冒出一个弹窗</a:t>
            </a:r>
            <a:r>
              <a:rPr lang="en-US" sz="1425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。现在的逻辑只有一层，记住这一句就够了。</a:t>
            </a:r>
            <a:endParaRPr/>
          </a:p>
        </p:txBody>
      </p:sp>
      <p:sp>
        <p:nvSpPr>
          <p:cNvPr id="326" name=""/>
          <p:cNvSpPr/>
          <p:nvPr/>
        </p:nvSpPr>
        <p:spPr>
          <a:xfrm rot="0" flipH="0" flipV="0">
            <a:off x="685800" y="5391150"/>
            <a:ext cx="2952750" cy="1323975"/>
          </a:xfrm>
          <a:prstGeom prst="roundRect">
            <a:avLst>
              <a:gd name="adj" fmla="val 1007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838200" y="5543550"/>
            <a:ext cx="264795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手机上也是同样逻辑：从底部升起的抽屉，往下滑或者点返回就能收回去。</a:t>
            </a:r>
            <a:endParaRPr/>
          </a:p>
        </p:txBody>
      </p:sp>
      <p:sp>
        <p:nvSpPr>
          <p:cNvPr id="328" name=""/>
          <p:cNvSpPr/>
          <p:nvPr/>
        </p:nvSpPr>
        <p:spPr>
          <a:xfrm rot="0" flipH="0" flipV="0">
            <a:off x="3905250" y="1143000"/>
            <a:ext cx="7600950" cy="895350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29" name=""/>
          <p:cNvSpPr/>
          <p:nvPr/>
        </p:nvSpPr>
        <p:spPr>
          <a:xfrm rot="0" flipH="0" flipV="0">
            <a:off x="4057650" y="13716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33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4162425" y="1476375"/>
            <a:ext cx="228600" cy="228600"/>
          </a:xfrm>
          <a:prstGeom prst="rect">
            <a:avLst/>
          </a:prstGeom>
          <a:ln/>
        </p:spPr>
      </p:pic>
      <p:sp>
        <p:nvSpPr>
          <p:cNvPr id="331" name="" descr="{&quot;isTemplate&quot;:true,&quot;type&quot;:&quot;text&quot;}"/>
          <p:cNvSpPr txBox="1"/>
          <p:nvPr/>
        </p:nvSpPr>
        <p:spPr>
          <a:xfrm rot="0" flipH="0" flipV="0">
            <a:off x="4667250" y="1276350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详情</a:t>
            </a:r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4667250" y="1581150"/>
            <a:ext cx="66865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点开案例卡就进详情：客户画像、使用场景、摘要、正文、封面图都在这里</a:t>
            </a:r>
            <a:endParaRPr/>
          </a:p>
        </p:txBody>
      </p:sp>
      <p:sp>
        <p:nvSpPr>
          <p:cNvPr id="333" name=""/>
          <p:cNvSpPr/>
          <p:nvPr/>
        </p:nvSpPr>
        <p:spPr>
          <a:xfrm rot="0" flipH="0" flipV="0">
            <a:off x="3905250" y="2152650"/>
            <a:ext cx="7600950" cy="895350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4" name=""/>
          <p:cNvSpPr/>
          <p:nvPr/>
        </p:nvSpPr>
        <p:spPr>
          <a:xfrm rot="0" flipH="0" flipV="0">
            <a:off x="4057650" y="23812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3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4162425" y="2486025"/>
            <a:ext cx="228600" cy="228600"/>
          </a:xfrm>
          <a:prstGeom prst="rect">
            <a:avLst/>
          </a:prstGeom>
          <a:ln/>
        </p:spPr>
      </p:pic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4667250" y="2286000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列表</a:t>
            </a:r>
            <a:endParaRPr/>
          </a:p>
        </p:txBody>
      </p:sp>
      <p:sp>
        <p:nvSpPr>
          <p:cNvPr id="337" name="" descr="{&quot;isTemplate&quot;:true,&quot;type&quot;:&quot;text&quot;}"/>
          <p:cNvSpPr txBox="1"/>
          <p:nvPr/>
        </p:nvSpPr>
        <p:spPr>
          <a:xfrm rot="0" flipH="0" flipV="0">
            <a:off x="4667250" y="2590800"/>
            <a:ext cx="66865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从详情退回列表，这次问题相关的案例都在这一层，不用回去重新问一遍</a:t>
            </a:r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3905250" y="3162300"/>
            <a:ext cx="7600950" cy="895350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39" name=""/>
          <p:cNvSpPr/>
          <p:nvPr/>
        </p:nvSpPr>
        <p:spPr>
          <a:xfrm rot="0" flipH="0" flipV="0">
            <a:off x="4057650" y="33909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pic>
        <p:nvPicPr>
          <p:cNvPr id="34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4162425" y="3495675"/>
            <a:ext cx="228600" cy="228600"/>
          </a:xfrm>
          <a:prstGeom prst="rect">
            <a:avLst/>
          </a:prstGeom>
          <a:ln/>
        </p:spPr>
      </p:pic>
      <p:sp>
        <p:nvSpPr>
          <p:cNvPr id="341" name="" descr="{&quot;isTemplate&quot;:true,&quot;type&quot;:&quot;text&quot;}"/>
          <p:cNvSpPr txBox="1"/>
          <p:nvPr/>
        </p:nvSpPr>
        <p:spPr>
          <a:xfrm rot="0" flipH="0" flipV="0">
            <a:off x="4667250" y="3295650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标签</a:t>
            </a:r>
            <a:endParaRPr/>
          </a:p>
        </p:txBody>
      </p:sp>
      <p:sp>
        <p:nvSpPr>
          <p:cNvPr id="342" name="" descr="{&quot;isTemplate&quot;:true,&quot;type&quot;:&quot;text&quot;}"/>
          <p:cNvSpPr txBox="1"/>
          <p:nvPr/>
        </p:nvSpPr>
        <p:spPr>
          <a:xfrm rot="0" flipH="0" flipV="0">
            <a:off x="4667250" y="3600450"/>
            <a:ext cx="66865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点案例上的标签，能看到同标签的更多案例——找相似情况最快的入口</a:t>
            </a:r>
            <a:endParaRPr/>
          </a:p>
        </p:txBody>
      </p:sp>
      <p:sp>
        <p:nvSpPr>
          <p:cNvPr id="343" name=""/>
          <p:cNvSpPr/>
          <p:nvPr/>
        </p:nvSpPr>
        <p:spPr>
          <a:xfrm rot="0" flipH="0" flipV="0">
            <a:off x="3905250" y="4171950"/>
            <a:ext cx="7600950" cy="895350"/>
          </a:xfrm>
          <a:prstGeom prst="roundRect">
            <a:avLst>
              <a:gd name="adj" fmla="val 14894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344" name=""/>
          <p:cNvSpPr/>
          <p:nvPr/>
        </p:nvSpPr>
        <p:spPr>
          <a:xfrm rot="0" flipH="0" flipV="0">
            <a:off x="4057650" y="440055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pic>
        <p:nvPicPr>
          <p:cNvPr id="34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4"/>
              </a:ext>
            </a:extLst>
          </a:blip>
          <a:stretch>
            <a:fillRect/>
          </a:stretch>
        </p:blipFill>
        <p:spPr>
          <a:xfrm rot="0" flipH="0" flipV="0">
            <a:off x="4162425" y="4505325"/>
            <a:ext cx="228600" cy="228600"/>
          </a:xfrm>
          <a:prstGeom prst="rect">
            <a:avLst/>
          </a:prstGeom>
          <a:ln/>
        </p:spPr>
      </p:pic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4667250" y="4305300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相似案例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667250" y="4610100"/>
            <a:ext cx="66865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详情页里的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相似案例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直接跳到下一批，同层切换，看完还能再退回来</a:t>
            </a:r>
            <a:endParaRPr/>
          </a:p>
        </p:txBody>
      </p:sp>
      <p:sp>
        <p:nvSpPr>
          <p:cNvPr id="348" name=""/>
          <p:cNvSpPr/>
          <p:nvPr/>
        </p:nvSpPr>
        <p:spPr>
          <a:xfrm rot="0" flipH="0" flipV="0">
            <a:off x="3905250" y="5181600"/>
            <a:ext cx="7600950" cy="895350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49" name=""/>
          <p:cNvSpPr/>
          <p:nvPr/>
        </p:nvSpPr>
        <p:spPr>
          <a:xfrm rot="0" flipH="0" flipV="0">
            <a:off x="4057650" y="5410200"/>
            <a:ext cx="438150" cy="438150"/>
          </a:xfrm>
          <a:prstGeom prst="roundRect">
            <a:avLst>
              <a:gd name="adj" fmla="val 50000"/>
            </a:avLst>
          </a:prstGeom>
          <a:solidFill>
            <a:srgbClr val="6B7C75"/>
          </a:solidFill>
          <a:ln/>
        </p:spPr>
        <p:txBody>
          <a:bodyPr/>
          <a:p/>
        </p:txBody>
      </p:sp>
      <p:pic>
        <p:nvPicPr>
          <p:cNvPr id="35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5"/>
              </a:ext>
            </a:extLst>
          </a:blip>
          <a:stretch>
            <a:fillRect/>
          </a:stretch>
        </p:blipFill>
        <p:spPr>
          <a:xfrm rot="0" flipH="0" flipV="0">
            <a:off x="4162425" y="5514975"/>
            <a:ext cx="228600" cy="228600"/>
          </a:xfrm>
          <a:prstGeom prst="rect">
            <a:avLst/>
          </a:prstGeom>
          <a:ln/>
        </p:spPr>
      </p:pic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667250" y="5314950"/>
            <a:ext cx="66865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E3A32"/>
                </a:solidFill>
                <a:latin typeface="Microsoft YaHei"/>
                <a:ea typeface="Microsoft YaHei"/>
              </a:rPr>
              <a:t>返回上级</a:t>
            </a:r>
            <a:endParaRPr/>
          </a:p>
        </p:txBody>
      </p:sp>
      <p:sp>
        <p:nvSpPr>
          <p:cNvPr id="352" name="" descr="{&quot;isTemplate&quot;:true,&quot;type&quot;:&quot;text&quot;}"/>
          <p:cNvSpPr txBox="1"/>
          <p:nvPr/>
        </p:nvSpPr>
        <p:spPr>
          <a:xfrm rot="0" flipH="0" flipV="0">
            <a:off x="4667250" y="5619750"/>
            <a:ext cx="6686550" cy="3238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不管点进去多深，永远能退回上一层；实在乱了就关掉抽屉重新提问</a:t>
            </a:r>
            <a:endParaRPr/>
          </a:p>
        </p:txBody>
      </p:sp>
      <p:pic>
        <p:nvPicPr>
          <p:cNvPr id="35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6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354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内容与案例参考</a:t>
            </a:r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09 / 13</a:t>
            </a:r>
            <a:endParaRPr/>
          </a:p>
        </p:txBody>
      </p:sp>
    </p:spTree>
  </p:cSld>
</p:sld>
</file>

<file path=ppt/slides/slide10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14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怎么看一个案例&lt;/Text&gt;&#10;        &lt;Box style={{ width: 56, height: 4, borderRadius: 2, background: '#1F7A5C', marginTop: 8 }} /&gt;&#10;    &lt;/Box&gt;&#10;&#10;    &lt;Box style={{ height: 528, flexDirection: 'row', gap: 28 }}&gt;&#10;        &lt;Box style={{ width: 310, justifyContent: 'center' }}&gt;&#10;            &lt;Text style={{ fontSize: 180, fontWeight: 'bold', color: '#E08A3C', lineHeight: 1, letterSpacing: -4 }}&gt;3&lt;/Text&gt;&#10;            &lt;Text style={{ fontSize: 30, fontWeight: 'bold', color: '#1E3A32', marginTop: 14 }}&gt;个问题&lt;/Text&gt;&#10;            &lt;Text style={{ fontSize: 30, fontWeight: 'bold', color: '#1E3A32' }}&gt;决定值不值得看&lt;/Text&gt;&#10;            &lt;Box style={{ width: 72, height: 5, borderRadius: 3, background: '#1F7A5C', marginTop: 20 }} /&gt;&#10;            &lt;Text style={{ fontSize: 20, color: '#6B7C75', lineHeight: 1.6, marginTop: 18 }}&gt;&#10;                三问有一问不过，&lt;br /&gt;就别在这条上花五分钟&#10;            &lt;/Text&gt;&#10;        &lt;/Box&gt;&#10;&#10;        &lt;Box style={{ flex: 1, gap: 16 }}&gt;&#10;            &lt;Box style={{&#10;                flexDirection: 'row', gap: 18, background: '#FFFFFF', borderRadius: 14, padding: 20,&#10;                height: 165, boxShadow: '0 4px 20px rgba(30,58,50,0.08)',&#10;            }}&gt;&#10;                &lt;Box style={{ width: 56, height: 56, borderRadius: 28, background: '#1F7A5C', justifyContent: 'center', alignItems: 'center' }}&gt;&#10;                    &lt;Text style={{ fontSize: 28, fontWeight: 'bold', color: '#FFFFFF' }}&gt;1&lt;/Text&gt;&#10;                &lt;/Box&gt;&#10;                &lt;Box style={{ flex: 1 }}&gt;&#10;                    &lt;Text style={{ fontSize: 28, fontWeight: 'bold', color: '#1E3A32' }}&gt;像不像我？&lt;/Text&gt;&#10;                    &lt;Text style={{ fontSize: 20, color: '#6B7C75', lineHeight: 1.55, marginTop: 8 }}&gt;&#10;                        先看客户画像：年龄、身体状态、主要困扰，跟你要服务的客户是不是一类人。差得太远就直接跳过，硬套只会带偏。&#10;                    &lt;/Text&gt;&#10;                    &lt;Box style={{ marginTop: 'auto', background: 'rgba(31,122,92,0.08)', borderRadius: 12, padding: 11 }}&gt;&#10;                        &lt;Text style={{ fontSize: 18, color: '#1F7A5C' }}&gt;判断标准：至少两条关键情况对得上&lt;/Text&gt;&#10;                    &lt;/Box&gt;&#10;                &lt;/Box&gt;&#10;            &lt;/Box&gt;&#10;&#10;            &lt;Box style={{&#10;                flexDirection: 'row', gap: 18, background: '#FFFFFF', borderRadius: 14, padding: 20,&#10;                height: 165, boxShadow: '0 4px 20px rgba(30,58,50,0.08)',&#10;            }}&gt;&#10;                &lt;Box style={{ width: 56, height: 56, borderRadius: 28, background: '#1F7A5C', justifyContent: 'center', alignItems: 'center' }}&gt;&#10;                    &lt;Text style={{ fontSize: 28, fontWeight: 'bold', color: '#FFFFFF' }}&gt;2&lt;/Text&gt;&#10;                &lt;/Box&gt;&#10;                &lt;Box style={{ flex: 1 }}&gt;&#10;                    &lt;Text style={{ fontSize: 28, fontWeight: 'bold', color: '#1E3A32' }}&gt;场景对不对？&lt;/Text&gt;&#10;                    &lt;Text style={{ fontSize: 20, color: '#6B7C75', lineHeight: 1.55, marginTop: 8 }}&gt;&#10;                        再看使用场景：他是长期调理还是短期突击？是自用还是给家人买？场景不同，同样的产品结论可以完全相反。&#10;                    &lt;/Text&gt;&#10;                    &lt;Box style={{ marginTop: 'auto', background: 'rgba(31,122,92,0.08)', borderRadius: 12, padding: 11 }}&gt;&#10;                        &lt;Text style={{ fontSize: 18, color: '#1F7A5C' }}&gt;判断标准：他遇到的事，你客户也会遇到&lt;/Text&gt;&#10;                    &lt;/Box&gt;&#10;                &lt;/Box&gt;&#10;            &lt;/Box&gt;&#10;&#10;            &lt;Box style={{&#10;                flexDirection: 'row', gap: 18, background: 'rgba(224,138,60,0.14)', borderRadius: 14, padding: 20,&#10;                height: 165,&#10;            }}&gt;&#10;                &lt;Box style={{ width: 56, height: 56, borderRadius: 28, background: '#E08A3C', justifyContent: 'center', alignItems: 'center' }}&gt;&#10;                    &lt;Text style={{ fontSize: 28, fontWeight: 'bold', color: '#FFFFFF' }}&gt;3&lt;/Text&gt;&#10;                &lt;/Box&gt;&#10;                &lt;Box style={{ flex: 1 }}&gt;&#10;                    &lt;Text style={{ fontSize: 28, fontWeight: 'bold', color: '#1E3A32' }}&gt;我最该抄哪一点？&lt;/Text&gt;&#10;                    &lt;Text style={{ fontSize: 20, color: '#6B7C75', lineHeight: 1.55, marginTop: 8 }}&gt;&#10;                        最后只取一样：是抄他的沟通话术，还是抄方案的节奏安排，还是抄处理异议的说法？一次学一样，比通篇照搬有用。&#10;                    &lt;/Text&gt;&#10;                    &lt;Box style={{ marginTop: 'auto', background: '#FFFFFF', borderRadius: 12, padding: 11 }}&gt;&#10;                        &lt;Text style={{ fontSize: 18, color: '#C9742B' }}&gt;判断标准：能用一句话说出你学到了什么&lt;/Text&gt;&#10;                    &lt;/Box&gt;&#10;                &lt;/Box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内容与案例参考&lt;/Text&gt;&#10;        &lt;/Box&gt;&#10;        &lt;Text style={{ fontSize: 14, color: '#6B7C75' }}&gt;10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怎么看一个案例</a:t>
            </a:r>
            <a:endParaRPr/>
          </a:p>
        </p:txBody>
      </p:sp>
      <p:sp>
        <p:nvSpPr>
          <p:cNvPr id="17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85800" y="1647825"/>
            <a:ext cx="2952750" cy="2057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0" b="1" spc="-300">
                <a:solidFill>
                  <a:srgbClr val="E08A3C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85800" y="3838575"/>
            <a:ext cx="2952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32"/>
                </a:solidFill>
                <a:latin typeface="Microsoft YaHei"/>
                <a:ea typeface="Microsoft YaHei"/>
              </a:rPr>
              <a:t>个问题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85800" y="4181475"/>
            <a:ext cx="2952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E3A32"/>
                </a:solidFill>
                <a:latin typeface="Microsoft YaHei"/>
                <a:ea typeface="Microsoft YaHei"/>
              </a:rPr>
              <a:t>决定值不值得看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685800" y="4714875"/>
            <a:ext cx="685800" cy="47625"/>
          </a:xfrm>
          <a:prstGeom prst="roundRect">
            <a:avLst>
              <a:gd name="adj" fmla="val 6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685800" y="4933950"/>
            <a:ext cx="2952750" cy="7334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三问有一问不过，</a:t>
            </a:r>
            <a:endParaRPr/>
          </a:p>
          <a:p>
            <a:pPr>
              <a:lnSpc>
                <a:spcPct val="160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就别在这条上花五分钟</a:t>
            </a:r>
            <a:endParaRPr/>
          </a:p>
        </p:txBody>
      </p:sp>
      <p:sp>
        <p:nvSpPr>
          <p:cNvPr id="23" name=""/>
          <p:cNvSpPr/>
          <p:nvPr/>
        </p:nvSpPr>
        <p:spPr>
          <a:xfrm rot="0" flipH="0" flipV="0">
            <a:off x="3905250" y="1143000"/>
            <a:ext cx="7600950" cy="1571625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24" name=""/>
          <p:cNvSpPr/>
          <p:nvPr/>
        </p:nvSpPr>
        <p:spPr>
          <a:xfrm rot="0" flipH="0" flipV="0">
            <a:off x="4095750" y="133350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25" name="" descr="{&quot;isTemplate&quot;:true,&quot;type&quot;:&quot;text&quot;}"/>
          <p:cNvSpPr txBox="1"/>
          <p:nvPr/>
        </p:nvSpPr>
        <p:spPr>
          <a:xfrm rot="0" flipH="0" flipV="0">
            <a:off x="4286250" y="1438275"/>
            <a:ext cx="152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4800600" y="1333500"/>
            <a:ext cx="6515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E3A32"/>
                </a:solidFill>
                <a:latin typeface="Microsoft YaHei"/>
                <a:ea typeface="Microsoft YaHei"/>
              </a:rPr>
              <a:t>像不像我？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4800600" y="1733550"/>
            <a:ext cx="65151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先看客户画像：年龄、身体状态、主要困扰，跟你要服务的客户是不是一类人。差得太远就直接跳过，硬套只会带偏。</a:t>
            </a:r>
            <a:endParaRPr/>
          </a:p>
        </p:txBody>
      </p:sp>
      <p:sp>
        <p:nvSpPr>
          <p:cNvPr id="28" name=""/>
          <p:cNvSpPr/>
          <p:nvPr/>
        </p:nvSpPr>
        <p:spPr>
          <a:xfrm rot="0" flipH="0" flipV="0">
            <a:off x="4800600" y="2447925"/>
            <a:ext cx="6515100" cy="419100"/>
          </a:xfrm>
          <a:prstGeom prst="roundRect">
            <a:avLst>
              <a:gd name="adj" fmla="val 27273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4905375" y="2552700"/>
            <a:ext cx="630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F7A5C"/>
                </a:solidFill>
                <a:latin typeface="Microsoft YaHei"/>
                <a:ea typeface="Microsoft YaHei"/>
              </a:rPr>
              <a:t>判断标准：至少两条关键情况对得上</a:t>
            </a:r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3905250" y="2867025"/>
            <a:ext cx="7600950" cy="1571625"/>
          </a:xfrm>
          <a:prstGeom prst="roundRect">
            <a:avLst>
              <a:gd name="adj" fmla="val 8485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4095750" y="3057525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4286250" y="3162300"/>
            <a:ext cx="152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4800600" y="3057525"/>
            <a:ext cx="6515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E3A32"/>
                </a:solidFill>
                <a:latin typeface="Microsoft YaHei"/>
                <a:ea typeface="Microsoft YaHei"/>
              </a:rPr>
              <a:t>场景对不对？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4800600" y="3457575"/>
            <a:ext cx="65151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再看使用场景：他是长期调理还是短期突击？是自用还是给家人买？场景不同，同样的产品结论可以完全相反。</a:t>
            </a:r>
            <a:endParaRPr/>
          </a:p>
        </p:txBody>
      </p:sp>
      <p:sp>
        <p:nvSpPr>
          <p:cNvPr id="35" name=""/>
          <p:cNvSpPr/>
          <p:nvPr/>
        </p:nvSpPr>
        <p:spPr>
          <a:xfrm rot="0" flipH="0" flipV="0">
            <a:off x="4800600" y="4171950"/>
            <a:ext cx="6515100" cy="419100"/>
          </a:xfrm>
          <a:prstGeom prst="roundRect">
            <a:avLst>
              <a:gd name="adj" fmla="val 27273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4905375" y="4276725"/>
            <a:ext cx="630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F7A5C"/>
                </a:solidFill>
                <a:latin typeface="Microsoft YaHei"/>
                <a:ea typeface="Microsoft YaHei"/>
              </a:rPr>
              <a:t>判断标准：他遇到的事，你客户也会遇到</a:t>
            </a:r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3905250" y="4591050"/>
            <a:ext cx="7600950" cy="1571625"/>
          </a:xfrm>
          <a:prstGeom prst="roundRect">
            <a:avLst>
              <a:gd name="adj" fmla="val 8485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4095750" y="4781550"/>
            <a:ext cx="533400" cy="533400"/>
          </a:xfrm>
          <a:prstGeom prst="roundRect">
            <a:avLst>
              <a:gd name="adj" fmla="val 50000"/>
            </a:avLst>
          </a:prstGeom>
          <a:solidFill>
            <a:srgbClr val="E08A3C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286250" y="4886325"/>
            <a:ext cx="1524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800600" y="4781550"/>
            <a:ext cx="6515100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 b="1">
                <a:solidFill>
                  <a:srgbClr val="1E3A32"/>
                </a:solidFill>
                <a:latin typeface="Microsoft YaHei"/>
                <a:ea typeface="Microsoft YaHei"/>
              </a:rPr>
              <a:t>我最该抄哪一点？</a:t>
            </a:r>
            <a:endParaRPr/>
          </a:p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4800600" y="5181600"/>
            <a:ext cx="65151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最后只取一样：是抄他的沟通话术，还是抄方案的节奏安排，还是抄处理异议的说法？一次学一样，比通篇照搬有用。</a:t>
            </a:r>
            <a:endParaRPr/>
          </a:p>
        </p:txBody>
      </p:sp>
      <p:sp>
        <p:nvSpPr>
          <p:cNvPr id="42" name=""/>
          <p:cNvSpPr/>
          <p:nvPr/>
        </p:nvSpPr>
        <p:spPr>
          <a:xfrm rot="0" flipH="0" flipV="0">
            <a:off x="4800600" y="5895975"/>
            <a:ext cx="6515100" cy="419100"/>
          </a:xfrm>
          <a:prstGeom prst="roundRect">
            <a:avLst>
              <a:gd name="adj" fmla="val 27273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4905375" y="6000750"/>
            <a:ext cx="63055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C9742B"/>
                </a:solidFill>
                <a:latin typeface="Microsoft YaHei"/>
                <a:ea typeface="Microsoft YaHei"/>
              </a:rPr>
              <a:t>判断标准：能用一句话说出你学到了什么</a:t>
            </a:r>
            <a:endParaRPr/>
          </a:p>
        </p:txBody>
      </p:sp>
      <p:pic>
        <p:nvPicPr>
          <p:cNvPr id="4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内容与案例参考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10 / 13</a:t>
            </a:r>
            <a:endParaRPr/>
          </a:p>
        </p:txBody>
      </p:sp>
    </p:spTree>
  </p:cSld>
</p:sld>
</file>

<file path=ppt/slides/slide11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47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「查看更多」与案例库，别搞混&lt;/Text&gt;&#10;        &lt;Box style={{ width: 56, height: 4, borderRadius: 2, background: '#1F7A5C', marginTop: 8 }} /&gt;&#10;    &lt;/Box&gt;&#10;&#10;    &lt;Box style={{ height: 528, flexDirection: 'row', gap: 28 }}&gt;&#10;        &lt;Box style={{ width: 660 }}&gt;&#10;            &lt;Text style={{ fontSize: 26, fontWeight: 'bold', color: '#1F7A5C', lineHeight: 1.45 }}&gt;&#10;                两个入口，指向的不是同一个地方&#10;            &lt;/Text&gt;&#10;&#10;            &lt;Box style={{&#10;                marginTop: 20, background: '#FFFFFF', borderRadius: 14, padding: 20,&#10;                boxShadow: '0 4px 20px rgba(30,58,50,0.08)',&#10;            }}&gt;&#10;                &lt;Box style={{ flexDirection: 'row', alignItems: 'center', gap: 12 }}&gt;&#10;                    &lt;Box style={{ background: 'rgba(31,122,92,0.12)', borderRadius: 12, paddingLeft: 12, paddingRight: 12, paddingTop: 6, paddingBottom: 6 }}&gt;&#10;                        &lt;Text style={{ fontSize: 20, fontWeight: 'bold', color: '#1F7A5C' }}&gt;A&lt;/Text&gt;&#10;                    &lt;/Box&gt;&#10;                    &lt;Text style={{ fontSize: 25, fontWeight: 'bold', color: '#1E3A32' }}&gt;回答下方的「查看更多」&lt;/Text&gt;&#10;                &lt;/Box&gt;&#10;                &lt;Text style={{ fontSize: 20, color: '#6B7C75', lineHeight: 1.55, marginTop: 12 }}&gt;&#10;                    只给你&lt;Text style={{ fontWeight: 'bold', color: '#1E3A32' }}&gt;本次问题相关&lt;/Text&gt;的更多案例。如果这一问确实没有更多相关案例，这个按钮就不会出现——不是页面卡了，是真的没有了。&#10;                &lt;/Text&gt;&#10;            &lt;/Box&gt;&#10;&#10;            &lt;Box style={{&#10;                marginTop: 16, background: '#FFFFFF', borderRadius: 14, padding: 20,&#10;                boxShadow: '0 4px 20px rgba(30,58,50,0.08)',&#10;            }}&gt;&#10;                &lt;Box style={{ flexDirection: 'row', alignItems: 'center', gap: 12 }}&gt;&#10;                    &lt;Box style={{ background: 'rgba(224,138,60,0.18)', borderRadius: 12, paddingLeft: 12, paddingRight: 12, paddingTop: 6, paddingBottom: 6 }}&gt;&#10;                        &lt;Text style={{ fontSize: 20, fontWeight: 'bold', color: '#C9742B' }}&gt;B&lt;/Text&gt;&#10;                    &lt;/Box&gt;&#10;                    &lt;Text style={{ fontSize: 25, fontWeight: 'bold', color: '#1E3A32' }}&gt;案例详情底部的「查看更多客户案例」&lt;/Text&gt;&#10;                &lt;/Box&gt;&#10;                &lt;Text style={{ fontSize: 20, color: '#6B7C75', lineHeight: 1.55, marginTop: 12 }}&gt;&#10;                    通向公司对外公开的&lt;Text style={{ fontWeight: 'bold', color: '#1E3A32' }}&gt;完整案例库&lt;/Text&gt;，是跳出当前页面去另一个 H5 页面。想系统地翻案例，从这里进。&#10;                &lt;/Text&gt;&#10;            &lt;/Box&gt;&#10;&#10;            &lt;Box style={{&#10;                marginTop: 'auto', background: 'rgba(224,138,60,0.14)', borderRadius: 14, padding: 18,&#10;            }}&gt;&#10;                &lt;Text style={{ fontSize: 20, color: '#C9742B', lineHeight: 1.55, fontWeight: 'bold' }}&gt;&#10;                    小提醒：公司还没配置案例库链接时，B 这个按钮不会出现——这不是你点错了，是还没配。&#10;                &lt;/Text&gt;&#10;            &lt;/Box&gt;&#10;        &lt;/Box&gt;&#10;&#10;        &lt;Box style={{ flex: 1 }}&gt;&#10;            &lt;svg width=&quot;448&quot; height=&quot;528&quot; viewBox=&quot;0 0 448 528&quot;&gt;&#10;                &lt;rect x=&quot;24&quot; y=&quot;60&quot; width=&quot;180&quot; height=&quot;330&quot; rx=&quot;20&quot; fill=&quot;#FFFFFF&quot; /&gt;&#10;                &lt;rect x=&quot;24&quot; y=&quot;60&quot; width=&quot;180&quot; height=&quot;330&quot; rx=&quot;20&quot; fill=&quot;none&quot; stroke=&quot;#DDE7E1&quot; strokeWidth=&quot;3&quot; /&gt;&#10;                &lt;rect x=&quot;44&quot; y=&quot;86&quot; width=&quot;140&quot; height=&quot;14&quot; rx=&quot;7&quot; fill=&quot;#1F7A5C&quot; opacity=&quot;0.6&quot; /&gt;&#10;                &lt;rect x=&quot;44&quot; y=&quot;116&quot; width=&quot;140&quot; height=&quot;10&quot; rx=&quot;5&quot; fill=&quot;#A8D5BA&quot; /&gt;&#10;                &lt;rect x=&quot;44&quot; y=&quot;140&quot; width=&quot;110&quot; height=&quot;10&quot; rx=&quot;5&quot; fill=&quot;#A8D5BA&quot; /&gt;&#10;                &lt;rect x=&quot;44&quot; y=&quot;176&quot; width=&quot;140&quot; height=&quot;48&quot; rx=&quot;12&quot; fill=&quot;rgba(168,213,186,0.45)&quot; /&gt;&#10;                &lt;rect x=&quot;44&quot; y=&quot;236&quot; width=&quot;140&quot; height=&quot;48&quot; rx=&quot;12&quot; fill=&quot;rgba(168,213,186,0.45)&quot; /&gt;&#10;                &lt;rect x=&quot;44&quot; y=&quot;296&quot; width=&quot;140&quot; height=&quot;48&quot; rx=&quot;12&quot; fill=&quot;rgba(31,122,92,0.1)&quot; /&gt;&#10;                &lt;rect x=&quot;44&quot; y=&quot;352&quot; width=&quot;140&quot; height=&quot;24&quot; rx=&quot;12&quot; fill=&quot;#E08A3C&quot; opacity=&quot;0.85&quot; /&gt;&#10;&#10;                &lt;path d=&quot;M222 226 L280 226&quot; stroke=&quot;#A8D5BA&quot; strokeWidth=&quot;5&quot; strokeLinecap=&quot;round&quot; /&gt;&#10;                &lt;path d=&quot;M268 214 L286 226 L268 238 Z&quot; fill=&quot;#A8D5BA&quot; /&gt;&#10;&#10;                &lt;rect x=&quot;296&quot; y=&quot;96&quot; width=&quot;140&quot; height=&quot;300&quot; rx=&quot;16&quot; fill=&quot;#1F7A5C&quot; /&gt;&#10;                &lt;rect x=&quot;296&quot; y=&quot;96&quot; width=&quot;140&quot; height=&quot;34&quot; rx=&quot;16&quot; fill=&quot;#FFFFFF&quot; opacity=&quot;0.15&quot; /&gt;&#10;                &lt;circle cx=&quot;312&quot; cy=&quot;113&quot; r=&quot;6&quot; fill=&quot;#FFFFFF&quot; opacity=&quot;0.7&quot; /&gt;&#10;                &lt;circle cx=&quot;332&quot; cy=&quot;113&quot; r=&quot;6&quot; fill=&quot;#FFFFFF&quot; opacity=&quot;0.5&quot; /&gt;&#10;                &lt;rect x=&quot;314&quot; y=&quot;152&quot; width=&quot;104&quot; height=&quot;14&quot; rx=&quot;7&quot; fill=&quot;#FFFFFF&quot; opacity=&quot;0.85&quot; /&gt;&#10;                &lt;rect x=&quot;314&quot; y=&quot;182&quot; width=&quot;104&quot; height=&quot;10&quot; rx=&quot;5&quot; fill=&quot;#FFFFFF&quot; opacity=&quot;0.45&quot; /&gt;&#10;                &lt;rect x=&quot;314&quot; y=&quot;204&quot; width=&quot;80&quot; height=&quot;10&quot; rx=&quot;5&quot; fill=&quot;#FFFFFF&quot; opacity=&quot;0.45&quot; /&gt;&#10;                &lt;rect x=&quot;314&quot; y=&quot;240&quot; width=&quot;104&quot; height=&quot;54&quot; rx=&quot;12&quot; fill=&quot;#FFFFFF&quot; opacity=&quot;0.16&quot; /&gt;&#10;                &lt;rect x=&quot;314&quot; y=&quot;306&quot; width=&quot;104&quot; height=&quot;54&quot; rx=&quot;12&quot; fill=&quot;#FFFFFF&quot; opacity=&quot;0.16&quot; /&gt;&#10;&#10;                &lt;text x=&quot;366&quot; y=&quot;432&quot; textAnchor=&quot;middle&quot; fontSize=&quot;20&quot; fill=&quot;#1F7A5C&quot; fontFamily=&quot;PingFang SC&quot;&gt;客户案例库 H5&lt;/text&gt;&#10;&#10;                &lt;circle cx=&quot;114&quot; cy=&quot;440&quot; r=&quot;16&quot; fill=&quot;#E08A3C&quot; /&gt;&#10;                &lt;text x=&quot;114&quot; y=&quot;447&quot; textAnchor=&quot;middle&quot; fontSize=&quot;18&quot; fontWeight=&quot;bold&quot; fill=&quot;#FFFFFF&quot; fontFamily=&quot;PingFang SC&quot;&gt;A&lt;/text&gt;&#10;                &lt;text x=&quot;150&quot; y=&quot;447&quot; fontSize=&quot;19&quot; fill=&quot;#6B7C75&quot; fontFamily=&quot;PingFang SC&quot;&gt;只看本次相关的&lt;/text&gt;&#10;                &lt;text x=&quot;114&quot; y=&quot;486&quot; textAnchor=&quot;middle&quot; fontSize=&quot;19&quot; fill=&quot;#6B7C75&quot; fontFamily=&quot;PingFang SC&quot;&gt;点 B 才跳出到完整案例库&lt;/text&gt;&#10;            &lt;/svg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内容与案例参考&lt;/Text&gt;&#10;        &lt;/Box&gt;&#10;        &lt;Text style={{ fontSize: 14, color: '#6B7C75' }}&gt;11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「查看更多」与案例库，别搞混</a:t>
            </a:r>
            <a:endParaRPr/>
          </a:p>
        </p:txBody>
      </p:sp>
      <p:sp>
        <p:nvSpPr>
          <p:cNvPr id="50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51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6286500" cy="43815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zh-CN" sz="1950" b="1">
                <a:solidFill>
                  <a:srgbClr val="1F7A5C"/>
                </a:solidFill>
                <a:latin typeface="Microsoft YaHei"/>
                <a:ea typeface="Microsoft YaHei"/>
              </a:rPr>
              <a:t>两个入口，指向的不是同一个地方</a:t>
            </a:r>
            <a:endParaRPr/>
          </a:p>
        </p:txBody>
      </p:sp>
      <p:sp>
        <p:nvSpPr>
          <p:cNvPr id="52" name=""/>
          <p:cNvSpPr/>
          <p:nvPr/>
        </p:nvSpPr>
        <p:spPr>
          <a:xfrm rot="0" flipH="0" flipV="0">
            <a:off x="685800" y="1771650"/>
            <a:ext cx="6286500" cy="1552575"/>
          </a:xfrm>
          <a:prstGeom prst="roundRect">
            <a:avLst>
              <a:gd name="adj" fmla="val 858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3" name=""/>
          <p:cNvSpPr/>
          <p:nvPr/>
        </p:nvSpPr>
        <p:spPr>
          <a:xfrm rot="0" flipH="0" flipV="0">
            <a:off x="876300" y="1962150"/>
            <a:ext cx="371475" cy="342900"/>
          </a:xfrm>
          <a:prstGeom prst="roundRect">
            <a:avLst>
              <a:gd name="adj" fmla="val 33333"/>
            </a:avLst>
          </a:prstGeom>
          <a:solidFill>
            <a:srgbClr val="1F7A5C">
              <a:alpha val="12000"/>
            </a:srgbClr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990600" y="2019300"/>
            <a:ext cx="142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1F7A5C"/>
                </a:solidFill>
                <a:latin typeface="Microsoft YaHei"/>
                <a:ea typeface="Microsoft YaHei"/>
              </a:rPr>
              <a:t>A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1362075" y="1990725"/>
            <a:ext cx="261937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回答下方的「查看更多」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876300" y="2419350"/>
            <a:ext cx="5905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只给你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本次问题相关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的更多案例。如果这一问确实没有更多相关案例，这个按钮就不会出现——不是页面卡了，是真的没有了。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685800" y="3476625"/>
            <a:ext cx="6286500" cy="1552575"/>
          </a:xfrm>
          <a:prstGeom prst="roundRect">
            <a:avLst>
              <a:gd name="adj" fmla="val 8589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sp>
        <p:nvSpPr>
          <p:cNvPr id="58" name=""/>
          <p:cNvSpPr/>
          <p:nvPr/>
        </p:nvSpPr>
        <p:spPr>
          <a:xfrm rot="0" flipH="0" flipV="0">
            <a:off x="876300" y="3667125"/>
            <a:ext cx="371475" cy="342900"/>
          </a:xfrm>
          <a:prstGeom prst="roundRect">
            <a:avLst>
              <a:gd name="adj" fmla="val 33333"/>
            </a:avLst>
          </a:prstGeom>
          <a:solidFill>
            <a:srgbClr val="E08A3C">
              <a:alpha val="18000"/>
            </a:srgbClr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990600" y="3724275"/>
            <a:ext cx="1428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C9742B"/>
                </a:solidFill>
                <a:latin typeface="Microsoft YaHei"/>
                <a:ea typeface="Microsoft YaHei"/>
              </a:rPr>
              <a:t>B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1362075" y="3695700"/>
            <a:ext cx="4048125" cy="2857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75" b="1">
                <a:solidFill>
                  <a:srgbClr val="1E3A32"/>
                </a:solidFill>
                <a:latin typeface="Microsoft YaHei"/>
                <a:ea typeface="Microsoft YaHei"/>
              </a:rPr>
              <a:t>案例详情底部的「查看更多客户案例」</a:t>
            </a:r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76300" y="4124325"/>
            <a:ext cx="5905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通向公司对外公开的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完整案例库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，是跳出当前页面去另一个</a:t>
            </a:r>
            <a:r>
              <a:rPr lang="en-US" sz="1500">
                <a:solidFill>
                  <a:srgbClr val="6B7C75"/>
                </a:solidFill>
                <a:latin typeface="Microsoft YaHei"/>
                <a:ea typeface="Microsoft YaHei"/>
              </a:rPr>
              <a:t> H5 </a:t>
            </a:r>
            <a:r>
              <a:rPr lang="zh-CN" sz="1500">
                <a:solidFill>
                  <a:srgbClr val="6B7C75"/>
                </a:solidFill>
                <a:latin typeface="Microsoft YaHei"/>
                <a:ea typeface="Microsoft YaHei"/>
              </a:rPr>
              <a:t>页面。想系统地翻案例，从这里进。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685800" y="5114925"/>
            <a:ext cx="6286500" cy="1057275"/>
          </a:xfrm>
          <a:prstGeom prst="roundRect">
            <a:avLst>
              <a:gd name="adj" fmla="val 12613"/>
            </a:avLst>
          </a:prstGeom>
          <a:solidFill>
            <a:srgbClr val="E08A3C">
              <a:alpha val="14000"/>
            </a:srgbClr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857250" y="5286375"/>
            <a:ext cx="59436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 b="1">
                <a:solidFill>
                  <a:srgbClr val="C9742B"/>
                </a:solidFill>
                <a:latin typeface="Microsoft YaHei"/>
                <a:ea typeface="Microsoft YaHei"/>
              </a:rPr>
              <a:t>小提醒：公司还没配置案例库链接时，</a:t>
            </a:r>
            <a:r>
              <a:rPr lang="en-US" sz="1500" b="1">
                <a:solidFill>
                  <a:srgbClr val="C9742B"/>
                </a:solidFill>
                <a:latin typeface="Microsoft YaHei"/>
                <a:ea typeface="Microsoft YaHei"/>
              </a:rPr>
              <a:t>B </a:t>
            </a:r>
            <a:r>
              <a:rPr lang="zh-CN" sz="1500" b="1">
                <a:solidFill>
                  <a:srgbClr val="C9742B"/>
                </a:solidFill>
                <a:latin typeface="Microsoft YaHei"/>
                <a:ea typeface="Microsoft YaHei"/>
              </a:rPr>
              <a:t>这个按钮不会出现——这不是你点错了，是还没配。</a:t>
            </a:r>
            <a:endParaRPr/>
          </a:p>
        </p:txBody>
      </p:sp>
      <p:pic>
        <p:nvPicPr>
          <p:cNvPr id="6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7239000" y="1143000"/>
            <a:ext cx="4267200" cy="5029200"/>
          </a:xfrm>
          <a:prstGeom prst="rect">
            <a:avLst/>
          </a:prstGeom>
          <a:ln/>
        </p:spPr>
      </p:pic>
      <p:pic>
        <p:nvPicPr>
          <p:cNvPr id="6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内容与案例参考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106150" y="6286500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11 / 13</a:t>
            </a:r>
            <a:endParaRPr/>
          </a:p>
        </p:txBody>
      </p:sp>
    </p:spTree>
  </p:cSld>
</p:sld>
</file>

<file path=ppt/slides/slide12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68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第 4 期实操：从提问到读完三条案例&lt;/Text&gt;&#10;        &lt;Box style={{ width: 56, height: 4, borderRadius: 2, background: '#1F7A5C', marginTop: 8 }} /&gt;&#10;    &lt;/Box&gt;&#10;&#10;    &lt;Box style={{ height: 528 }}&gt;&#10;        &lt;Box style={{ height: 238, background: '#FFFFFF', borderRadius: 14, padding: 16, boxShadow: '0 4px 20px rgba(30,58,50,0.08)' }}&gt;&#10;            &lt;svg width=&quot;1104&quot; height=&quot;206&quot; viewBox=&quot;0 0 1104 206&quot;&gt;&#10;                &lt;rect x=&quot;16&quot; y=&quot;34&quot; width=&quot;306&quot; height=&quot;106&quot; rx=&quot;16&quot; fill=&quot;#1F7A5C&quot; /&gt;&#10;                &lt;text x=&quot;169&quot; y=&quot;78&quot; textAnchor=&quot;middle&quot; fontSize=&quot;26&quot; fontWeight=&quot;bold&quot; fill=&quot;#FFFFFF&quot; fontFamily=&quot;PingFang SC&quot;&gt;1  提一个带背景的问题&lt;/text&gt;&#10;                &lt;text x=&quot;169&quot; y=&quot;112&quot; textAnchor=&quot;middle&quot; fontSize=&quot;19&quot; fill=&quot;#FFFFFF&quot; opacity=&quot;0.85&quot; fontFamily=&quot;PingFang SC&quot;&gt;把人群、状态、困扰写进问句&lt;/text&gt;&#10;&#10;                &lt;path d=&quot;M330 87 L392 87&quot; stroke=&quot;#A8D5BA&quot; strokeWidth=&quot;5&quot; /&gt;&#10;                &lt;path d=&quot;M380 75 L398 87 L380 99 Z&quot; fill=&quot;#A8D5BA&quot; /&gt;&#10;&#10;                &lt;rect x=&quot;400&quot; y=&quot;34&quot; width=&quot;306&quot; height=&quot;106&quot; rx=&quot;16&quot; fill=&quot;rgba(168,213,186,0.5)&quot; /&gt;&#10;                &lt;text x=&quot;553&quot; y=&quot;78&quot; textAnchor=&quot;middle&quot; fontSize=&quot;26&quot; fontWeight=&quot;bold&quot; fill=&quot;#1E3A32&quot; fontFamily=&quot;PingFang SC&quot;&gt;2  读完三条案例卡&lt;/text&gt;&#10;                &lt;text x=&quot;553&quot; y=&quot;112&quot; textAnchor=&quot;middle&quot; fontSize=&quot;19&quot; fill=&quot;#1E3A32&quot; opacity=&quot;0.75&quot; fontFamily=&quot;PingFang SC&quot;&gt;重点看画像和场景，不看热闹&lt;/text&gt;&#10;&#10;                &lt;path d=&quot;M714 87 L776 87&quot; stroke=&quot;#A8D5BA&quot; strokeWidth=&quot;5&quot; /&gt;&#10;                &lt;path d=&quot;M764 75 L782 87 L764 99 Z&quot; fill=&quot;#A8D5BA&quot; /&gt;&#10;&#10;                &lt;rect x=&quot;784&quot; y=&quot;34&quot; width=&quot;306&quot; height=&quot;106&quot; rx=&quot;16&quot; fill=&quot;#E08A3C&quot; /&gt;&#10;                &lt;text x=&quot;937&quot; y=&quot;78&quot; textAnchor=&quot;middle&quot; fontSize=&quot;26&quot; fontWeight=&quot;bold&quot; fill=&quot;#FFFFFF&quot; fontFamily=&quot;PingFang SC&quot;&gt;3  选出最像的一条&lt;/text&gt;&#10;                &lt;text x=&quot;937&quot; y=&quot;112&quot; textAnchor=&quot;middle&quot; fontSize=&quot;19&quot; fill=&quot;#FFFFFF&quot; opacity=&quot;0.9&quot; fontFamily=&quot;PingFang SC&quot;&gt;并说得出为什么像、学到哪一点&lt;/text&gt;&#10;&#10;                &lt;text x=&quot;169&quot; y=&quot;186&quot; textAnchor=&quot;middle&quot; fontSize=&quot;18&quot; fill=&quot;#6B7C75&quot; fontFamily=&quot;PingFang SC&quot;&gt;问得越具体，案例越准&lt;/text&gt;&#10;                &lt;text x=&quot;553&quot; y=&quot;186&quot; textAnchor=&quot;middle&quot; fontSize=&quot;18&quot; fill=&quot;#6B7C75&quot; fontFamily=&quot;PingFang SC&quot;&gt;三问过滤，不合适就跳过&lt;/text&gt;&#10;                &lt;text x=&quot;937&quot; y=&quot;186&quot; textAnchor=&quot;middle&quot; fontSize=&quot;18&quot; fill=&quot;#6B7C75&quot; fontFamily=&quot;PingFang SC&quot;&gt;一次只学一样&lt;/text&gt;&#10;            &lt;/svg&gt;&#10;        &lt;/Box&gt;&#10;&#10;        &lt;Box style={{&#10;            height: 276, marginTop: 14, flexDirection: 'row', gap: 20,&#10;            background: 'rgba(31,122,92,0.08)', borderRadius: 14, padding: 24,&#10;        }}&gt;&#10;            &lt;Box style={{ flex: 1, gap: 11 }}&gt;&#10;                &lt;Text style={{ fontSize: 24, fontWeight: 'bold', color: '#1F7A5C' }}&gt;做完之后，逐条自检&lt;/Text&gt;&#10;&#10;                &lt;Box style={{ flexDirection: 'row', gap: 12, alignItems: 'flex-start' }}&gt;&#10;                    &lt;FAIcon name='check-square' style={{ fill: '#1F7A5C', width: 22, height: 22 }} /&gt;&#10;                    &lt;Text style={{ fontSize: 19, color: '#1E3A32', lineHeight: 1.5, flex: 1 }}&gt;&#10;                        我这一个问题下面出现了几条相关案例？一条都没有，说明问得太泛，改具体再来一次&#10;                    &lt;/Text&gt;&#10;                &lt;/Box&gt;&#10;                &lt;Box style={{ flexDirection: 'row', gap: 12, alignItems: 'flex-start' }}&gt;&#10;                    &lt;FAIcon name='check-square' style={{ fill: '#1F7A5C', width: 22, height: 22 }} /&gt;&#10;                    &lt;Text style={{ fontSize: 19, color: '#1E3A32', lineHeight: 1.5, flex: 1 }}&gt;&#10;                        我点开了其中至少两条，并且把客户画像和使用场景都看完了&#10;                    &lt;/Text&gt;&#10;                &lt;/Box&gt;&#10;                &lt;Box style={{ flexDirection: 'row', gap: 12, alignItems: 'flex-start' }}&gt;&#10;                    &lt;FAIcon name='check-square' style={{ fill: '#1F7A5C', width: 22, height: 22 }} /&gt;&#10;                    &lt;Text style={{ fontSize: 19, color: '#1E3A32', lineHeight: 1.5, flex: 1 }}&gt;&#10;                        我能说出哪一条最像我（或我的客户），并且讲得出&quot;像&quot;在哪里&#10;                    &lt;/Text&gt;&#10;                &lt;/Box&gt;&#10;                &lt;Box style={{ flexDirection: 'row', gap: 12, alignItems: 'flex-start' }}&gt;&#10;                    &lt;FAIcon name='check-square' style={{ fill: '#1F7A5C', width: 22, height: 22 }} /&gt;&#10;                    &lt;Text style={{ fontSize: 19, color: '#1E3A32', lineHeight: 1.5, flex: 1 }}&gt;&#10;                        我把学到的那一点，用一句话写在了笔记本或工作群里&#10;                    &lt;/Text&gt;&#10;                &lt;/Box&gt;&#10;            &lt;/Box&gt;&#10;&#10;            &lt;Box style={{&#10;                width: 320, background: '#FFFFFF', borderRadius: 14, padding: 18, justifyContent: 'center',&#10;            }}&gt;&#10;                &lt;Text style={{ fontSize: 22, fontWeight: 'bold', color: '#1E3A32', lineHeight: 1.5 }}&gt;&#10;                    看完不总结，&lt;br /&gt;等于没看&#10;                &lt;/Text&gt;&#10;                &lt;Text style={{ fontSize: 19, color: '#6B7C75', lineHeight: 1.55, marginTop: 12 }}&gt;&#10;                    案例的价值不在&quot;读了多少条&quot;，而在你能不能把其中一条用出来。一期三条，比一天三十条有用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内容与案例参考&lt;/Text&gt;&#10;        &lt;/Box&gt;&#10;        &lt;Text style={{ fontSize: 14, color: '#6B7C75' }}&gt;12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第</a:t>
            </a:r>
            <a:r>
              <a:rPr lang="en-US" sz="2700" b="1">
                <a:solidFill>
                  <a:srgbClr val="1E3A32"/>
                </a:solidFill>
                <a:latin typeface="Microsoft YaHei"/>
                <a:ea typeface="Microsoft YaHei"/>
              </a:rPr>
              <a:t> 4 </a:t>
            </a: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期实操：从提问到读完三条案例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72" name=""/>
          <p:cNvSpPr/>
          <p:nvPr/>
        </p:nvSpPr>
        <p:spPr>
          <a:xfrm rot="0" flipH="0" flipV="0">
            <a:off x="685800" y="1143000"/>
            <a:ext cx="10820400" cy="226695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blurRad="190500" dist="38100" dir="5400000">
              <a:srgbClr val="1E3A32">
                <a:alpha val="8000"/>
              </a:srgbClr>
            </a:outerShdw>
          </a:effectLst>
        </p:spPr>
        <p:txBody>
          <a:bodyPr/>
          <a:p/>
        </p:txBody>
      </p:sp>
      <p:pic>
        <p:nvPicPr>
          <p:cNvPr id="7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38200" y="1295400"/>
            <a:ext cx="10515600" cy="1962150"/>
          </a:xfrm>
          <a:prstGeom prst="rect">
            <a:avLst/>
          </a:prstGeom>
          <a:ln/>
        </p:spPr>
      </p:pic>
      <p:sp>
        <p:nvSpPr>
          <p:cNvPr id="74" name=""/>
          <p:cNvSpPr/>
          <p:nvPr/>
        </p:nvSpPr>
        <p:spPr>
          <a:xfrm rot="0" flipH="0" flipV="0">
            <a:off x="685800" y="3543300"/>
            <a:ext cx="10820400" cy="2628900"/>
          </a:xfrm>
          <a:prstGeom prst="roundRect">
            <a:avLst>
              <a:gd name="adj" fmla="val 5072"/>
            </a:avLst>
          </a:prstGeom>
          <a:solidFill>
            <a:srgbClr val="1F7A5C">
              <a:alpha val="8000"/>
            </a:srgbClr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914400" y="3771900"/>
            <a:ext cx="71247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F7A5C"/>
                </a:solidFill>
                <a:latin typeface="Microsoft YaHei"/>
                <a:ea typeface="Microsoft YaHei"/>
              </a:rPr>
              <a:t>做完之后，逐条自检</a:t>
            </a:r>
            <a:endParaRPr/>
          </a:p>
        </p:txBody>
      </p:sp>
      <p:pic>
        <p:nvPicPr>
          <p:cNvPr id="7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14400" y="4152900"/>
            <a:ext cx="209550" cy="209550"/>
          </a:xfrm>
          <a:prstGeom prst="rect">
            <a:avLst/>
          </a:prstGeom>
          <a:ln/>
        </p:spPr>
      </p:pic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1238250" y="4152900"/>
            <a:ext cx="6800850" cy="6572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我这一个问题下面出现了几条相关案例？一条都没有，说明问得太泛，改具体再来一次</a:t>
            </a:r>
            <a:endParaRPr/>
          </a:p>
        </p:txBody>
      </p:sp>
      <p:pic>
        <p:nvPicPr>
          <p:cNvPr id="7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14400" y="4914900"/>
            <a:ext cx="209550" cy="209550"/>
          </a:xfrm>
          <a:prstGeom prst="rect">
            <a:avLst/>
          </a:prstGeom>
          <a:ln/>
        </p:spPr>
      </p:pic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1238250" y="4914900"/>
            <a:ext cx="680085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我点开了其中至少两条，并且把客户画像和使用场景都看完了</a:t>
            </a:r>
            <a:endParaRPr/>
          </a:p>
        </p:txBody>
      </p:sp>
      <p:pic>
        <p:nvPicPr>
          <p:cNvPr id="80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14400" y="5353050"/>
            <a:ext cx="209550" cy="209550"/>
          </a:xfrm>
          <a:prstGeom prst="rect">
            <a:avLst/>
          </a:prstGeom>
          <a:ln/>
        </p:spPr>
      </p:pic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1238250" y="5353050"/>
            <a:ext cx="680085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我能说出哪一条最像我（或我的客户），并且讲得出</a:t>
            </a:r>
            <a:r>
              <a:rPr lang="en-US" sz="1425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像</a:t>
            </a:r>
            <a:r>
              <a:rPr lang="en-US" sz="1425">
                <a:solidFill>
                  <a:srgbClr val="1E3A32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在哪里</a:t>
            </a:r>
            <a:endParaRPr/>
          </a:p>
        </p:txBody>
      </p:sp>
      <p:pic>
        <p:nvPicPr>
          <p:cNvPr id="82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914400" y="5791200"/>
            <a:ext cx="209550" cy="209550"/>
          </a:xfrm>
          <a:prstGeom prst="rect">
            <a:avLst/>
          </a:prstGeom>
          <a:ln/>
        </p:spPr>
      </p:pic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1238250" y="5791200"/>
            <a:ext cx="6800850" cy="3333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425">
                <a:solidFill>
                  <a:srgbClr val="1E3A32"/>
                </a:solidFill>
                <a:latin typeface="Microsoft YaHei"/>
                <a:ea typeface="Microsoft YaHei"/>
              </a:rPr>
              <a:t>我把学到的那一点，用一句话写在了笔记本或工作群里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8229600" y="3771900"/>
            <a:ext cx="3048000" cy="2238375"/>
          </a:xfrm>
          <a:prstGeom prst="roundRect">
            <a:avLst>
              <a:gd name="adj" fmla="val 5957"/>
            </a:avLst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8401050" y="3943350"/>
            <a:ext cx="2705100" cy="762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1E3A32"/>
                </a:solidFill>
                <a:latin typeface="Microsoft YaHei"/>
                <a:ea typeface="Microsoft YaHei"/>
              </a:rPr>
              <a:t>看完不总结，</a:t>
            </a:r>
            <a:endParaRPr/>
          </a:p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1E3A32"/>
                </a:solidFill>
                <a:latin typeface="Microsoft YaHei"/>
                <a:ea typeface="Microsoft YaHei"/>
              </a:rPr>
              <a:t>等于没看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8401050" y="4819650"/>
            <a:ext cx="2705100" cy="10191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案例的价值不在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读了多少条</a:t>
            </a:r>
            <a:r>
              <a:rPr lang="en-US" sz="1425">
                <a:solidFill>
                  <a:srgbClr val="6B7C75"/>
                </a:solidFill>
                <a:latin typeface="Microsoft YaHei"/>
                <a:ea typeface="Microsoft YaHei"/>
              </a:rPr>
              <a:t>"</a:t>
            </a:r>
            <a:r>
              <a:rPr lang="zh-CN" sz="1425">
                <a:solidFill>
                  <a:srgbClr val="6B7C75"/>
                </a:solidFill>
                <a:latin typeface="Microsoft YaHei"/>
                <a:ea typeface="Microsoft YaHei"/>
              </a:rPr>
              <a:t>，而在你能不能把其中一条用出来。一期三条，比一天三十条有用。</a:t>
            </a:r>
            <a:endParaRPr/>
          </a:p>
        </p:txBody>
      </p:sp>
      <p:pic>
        <p:nvPicPr>
          <p:cNvPr id="8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内容与案例参考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12 / 13</a:t>
            </a:r>
            <a:endParaRPr/>
          </a:p>
        </p:txBody>
      </p:sp>
    </p:spTree>
  </p:cSld>
</p:sld>
</file>

<file path=ppt/slides/slide13.xml><?xml version="1.0" encoding="utf-8"?>
<p:sld xmlns:asvg="http://schemas.microsoft.com/office/drawing/2016/SVG/main" xmlns:a="http://schemas.openxmlformats.org/drawingml/2006/main" xmlns:r="http://schemas.openxmlformats.org/officeDocument/2006/relationships" xmlns:p="http://schemas.openxmlformats.org/presentationml/2006/main" xmlns:mc="http://schemas.openxmlformats.org/markup-compatibility/2006" mc:Ignorable="asvg">
  <p:cSld>
    <p:spTree>
      <p:nvGrpSpPr>
        <p:cNvPr id="90" name="" descr="&lt;Slide style={{&#10;    background: '#F7FAF6',&#10;    paddingTop: 20, paddingBottom: 20, paddingLeft: 72, paddingRight: 72,&#10;}}&gt;&#10;    &lt;Box style={{ height: 100, justifyContent: 'center' }}&gt;&#10;        &lt;Text style={{ fontSize: 36, fontWeight: 'bold', color: '#1E3A32' }}&gt;本讲小结&lt;/Text&gt;&#10;        &lt;Box style={{ width: 56, height: 4, borderRadius: 2, background: '#1F7A5C', marginTop: 8 }} /&gt;&#10;    &lt;/Box&gt;&#10;&#10;    &lt;Box style={{ height: 528, flexDirection: 'row', gap: 28 }}&gt;&#10;        &lt;Box style={{ width: 600, height: 528 }}&gt;&#10;            &lt;Text style={{ fontSize: 24, fontWeight: 'bold', color: '#1F7A5C', lineHeight: 1.4 }}&gt;&#10;                这一讲，你已掌握&#10;            &lt;/Text&gt;&#10;            &lt;Box style={{ marginTop: 18, gap: 13 }}&gt;&#10;                &lt;Box style={{ flexDirection: 'row', gap: 12, alignItems: 'center' }}&gt;&#10;                    &lt;FAIcon name='check' style={{ fill: '#1F7A5C', width: 24, height: 24 }} /&gt;&#10;                    &lt;Text style={{ fontSize: 20, color: '#1E3A32', lineHeight: 1.4 }}&gt;先读后问：内容喂出更好的问题&lt;/Text&gt;&#10;                &lt;/Box&gt;&#10;                &lt;Box style={{ flexDirection: 'row', gap: 12, alignItems: 'center' }}&gt;&#10;                    &lt;FAIcon name='check' style={{ fill: '#1F7A5C', width: 24, height: 24 }} /&gt;&#10;                    &lt;Text style={{ fontSize: 20, color: '#1E3A32', lineHeight: 1.4 }}&gt;资讯 / 产品怎么读、怎么问&lt;/Text&gt;&#10;                &lt;/Box&gt;&#10;                &lt;Box style={{ flexDirection: 'row', gap: 12, alignItems: 'center' }}&gt;&#10;                    &lt;FAIcon name='check' style={{ fill: '#1F7A5C', width: 24, height: 24 }} /&gt;&#10;                    &lt;Text style={{ fontSize: 20, color: '#1E3A32', lineHeight: 1.4 }}&gt;历史记录回看 + 热门问题破冰&lt;/Text&gt;&#10;                &lt;/Box&gt;&#10;                &lt;Box style={{ flexDirection: 'row', gap: 12, alignItems: 'center' }}&gt;&#10;                    &lt;FAIcon name='check' style={{ fill: '#1F7A5C', width: 24, height: 24 }} /&gt;&#10;                    &lt;Text style={{ fontSize: 20, color: '#1E3A32', lineHeight: 1.4 }}&gt;案例机制：回答后自动推荐 3 条&lt;/Text&gt;&#10;                &lt;/Box&gt;&#10;                &lt;Box style={{ flexDirection: 'row', gap: 12, alignItems: 'center' }}&gt;&#10;                    &lt;FAIcon name='check' style={{ fill: '#1F7A5C', width: 24, height: 24 }} /&gt;&#10;                    &lt;Text style={{ fontSize: 20, color: '#1E3A32', lineHeight: 1.4 }}&gt;案例三问过滤噪音 + 抽屉不叠层&lt;/Text&gt;&#10;                &lt;/Box&gt;&#10;                &lt;Box style={{ flexDirection: 'row', gap: 12, alignItems: 'center' }}&gt;&#10;                    &lt;FAIcon name='check' style={{ fill: '#1F7A5C', width: 24, height: 24 }} /&gt;&#10;                    &lt;Text style={{ fontSize: 20, color: '#1E3A32', lineHeight: 1.4 }}&gt;「查看更多」与完整案例库 H5&lt;/Text&gt;&#10;                &lt;/Box&gt;&#10;                &lt;Box style={{ flexDirection: 'row', gap: 12, alignItems: 'center' }}&gt;&#10;                    &lt;FAIcon name='check' style={{ fill: '#1F7A5C', width: 24, height: 24 }} /&gt;&#10;                    &lt;Text style={{ fontSize: 20, color: '#1E3A32', lineHeight: 1.4 }}&gt;四步自检：带背景 / 读完 3 条 / 三问 / 说清&lt;/Text&gt;&#10;                &lt;/Box&gt;&#10;            &lt;/Box&gt;&#10;        &lt;/Box&gt;&#10;&#10;        &lt;Box style={{ flex: 1, height: 528, justifyContent: 'center' }}&gt;&#10;            &lt;Box style={{ background: 'linear-gradient(135deg, #1F7A5C 0%, #2E9B77 100%)', borderRadius: 18, padding: 28 }}&gt;&#10;                &lt;Text style={{ fontSize: 24, fontWeight: 'bold', color: '#FFFFFF' }}&gt;下一步去哪&lt;/Text&gt;&#10;                &lt;Box style={{ flexDirection: 'row', alignItems: 'center', gap: 12, marginTop: 18 }}&gt;&#10;                    &lt;FAIcon name='arrow-right' style={{ fill: '#FFFFFF', width: 30, height: 30 }} /&gt;&#10;                    &lt;Text style={{ fontSize: 22, color: '#FFFFFF', lineHeight: 1.5, flex: 1 }}&gt;第 3 套《长效使用与协同保障》&lt;/Text&gt;&#10;                &lt;/Box&gt;&#10;                &lt;Text style={{ fontSize: 20, color: '#FFFFFF', opacity: 0.9, lineHeight: 1.55, marginTop: 12 }}&gt;&#10;                    学社区问答、转人工营养师、五个好习惯与避坑清单，把「会用」变成「用得久」。&#10;                &lt;/Text&gt;&#10;            &lt;/Box&gt;&#10;            &lt;Box style={{ marginTop: 22, gap: 14 }}&gt;&#10;                &lt;Text style={{ fontSize: 20, color: '#1E3A32', lineHeight: 1.5 }}&gt;记住一句话：&lt;/Text&gt;&#10;                &lt;Text style={{ fontSize: 22, color: '#C9742B', fontWeight: 'bold', lineHeight: 1.5 }}&gt;&#10;                    案例不是答案，是你能抄的那一步。&#10;                &lt;/Text&gt;&#10;            &lt;/Box&gt;&#10;        &lt;/Box&gt;&#10;    &lt;/Box&gt;&#10;&#10;    &lt;Box style={{ height: 40, flexDirection: 'row', alignItems: 'center', justifyContent: 'space-between' }}&gt;&#10;        &lt;Box style={{ flexDirection: 'row', alignItems: 'center', gap: 8 }}&gt;&#10;            &lt;svg width=&quot;20&quot; height=&quot;20&quot; viewBox=&quot;0 0 24 24&quot;&gt;&#10;                &lt;path d=&quot;M12 21C12 21 4 17 4 10C4 6 7 3 12 3C17 3 20 6 20 10C20 17 12 21 12 21Z&quot; fill=&quot;#1F7A5C&quot; opacity=&quot;0.75&quot; /&gt;&#10;                &lt;path d=&quot;M12 21V6&quot; stroke=&quot;#FFFFFF&quot; strokeWidth=&quot;1.6&quot; fill=&quot;none&quot; /&gt;&#10;            &lt;/svg&gt;&#10;            &lt;Text style={{ fontSize: 14, color: '#6B7C75' }}&gt;AI宝儿 · 内容与案例参考&lt;/Text&gt;&#10;        &lt;/Box&gt;&#10;        &lt;Text style={{ fontSize: 14, color: '#6B7C75' }}&gt;13 / 13&lt;/Text&gt;&#10;  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7FAF6"/>
          </a:solidFill>
          <a:ln/>
        </p:spPr>
        <p:txBody>
          <a:bodyPr/>
          <a:p/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685800" y="400050"/>
            <a:ext cx="10820400" cy="4191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700" b="1">
                <a:solidFill>
                  <a:srgbClr val="1E3A32"/>
                </a:solidFill>
                <a:latin typeface="Microsoft YaHei"/>
                <a:ea typeface="Microsoft YaHei"/>
              </a:rPr>
              <a:t>本讲小结</a:t>
            </a:r>
            <a:endParaRPr/>
          </a:p>
        </p:txBody>
      </p:sp>
      <p:sp>
        <p:nvSpPr>
          <p:cNvPr id="93" name=""/>
          <p:cNvSpPr/>
          <p:nvPr/>
        </p:nvSpPr>
        <p:spPr>
          <a:xfrm rot="0" flipH="0" flipV="0">
            <a:off x="685800" y="895350"/>
            <a:ext cx="533400" cy="38100"/>
          </a:xfrm>
          <a:prstGeom prst="roundRect">
            <a:avLst>
              <a:gd name="adj" fmla="val 50000"/>
            </a:avLst>
          </a:prstGeom>
          <a:solidFill>
            <a:srgbClr val="1F7A5C"/>
          </a:solidFill>
          <a:ln/>
        </p:spPr>
        <p:txBody>
          <a:bodyPr/>
          <a:p/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685800" y="1143000"/>
            <a:ext cx="5715000" cy="39052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800" b="1">
                <a:solidFill>
                  <a:srgbClr val="1F7A5C"/>
                </a:solidFill>
                <a:latin typeface="Microsoft YaHei"/>
                <a:ea typeface="Microsoft YaHei"/>
              </a:rPr>
              <a:t>这一讲，你已掌握</a:t>
            </a:r>
            <a:endParaRPr/>
          </a:p>
        </p:txBody>
      </p:sp>
      <p:pic>
        <p:nvPicPr>
          <p:cNvPr id="9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1752600"/>
            <a:ext cx="228600" cy="228600"/>
          </a:xfrm>
          <a:prstGeom prst="rect">
            <a:avLst/>
          </a:prstGeom>
          <a:ln/>
        </p:spPr>
      </p:pic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028700" y="1704975"/>
            <a:ext cx="26670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先读后问：内容喂出更好的问题</a:t>
            </a:r>
            <a:endParaRPr/>
          </a:p>
        </p:txBody>
      </p:sp>
      <p:pic>
        <p:nvPicPr>
          <p:cNvPr id="9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2200275"/>
            <a:ext cx="228600" cy="228600"/>
          </a:xfrm>
          <a:prstGeom prst="rect">
            <a:avLst/>
          </a:prstGeom>
          <a:ln/>
        </p:spPr>
      </p:pic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1028700" y="2152650"/>
            <a:ext cx="2257425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资讯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产品怎么读、怎么问</a:t>
            </a:r>
            <a:endParaRPr/>
          </a:p>
        </p:txBody>
      </p:sp>
      <p:pic>
        <p:nvPicPr>
          <p:cNvPr id="99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2647950"/>
            <a:ext cx="228600" cy="228600"/>
          </a:xfrm>
          <a:prstGeom prst="rect">
            <a:avLst/>
          </a:prstGeom>
          <a:ln/>
        </p:spPr>
      </p:pic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1028700" y="2600325"/>
            <a:ext cx="2505075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历史记录回看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+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热门问题破冰</a:t>
            </a:r>
            <a:endParaRPr/>
          </a:p>
        </p:txBody>
      </p:sp>
      <p:pic>
        <p:nvPicPr>
          <p:cNvPr id="10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3095625"/>
            <a:ext cx="228600" cy="228600"/>
          </a:xfrm>
          <a:prstGeom prst="rect">
            <a:avLst/>
          </a:prstGeom>
          <a:ln/>
        </p:spPr>
      </p:pic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1028700" y="3048000"/>
            <a:ext cx="2695575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案例机制：回答后自动推荐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3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条</a:t>
            </a:r>
            <a:endParaRPr/>
          </a:p>
        </p:txBody>
      </p:sp>
      <p:pic>
        <p:nvPicPr>
          <p:cNvPr id="103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3543300"/>
            <a:ext cx="228600" cy="228600"/>
          </a:xfrm>
          <a:prstGeom prst="rect">
            <a:avLst/>
          </a:prstGeom>
          <a:ln/>
        </p:spPr>
      </p:pic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028700" y="3495675"/>
            <a:ext cx="2695575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案例三问过滤噪音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+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抽屉不叠层</a:t>
            </a:r>
            <a:endParaRPr/>
          </a:p>
        </p:txBody>
      </p:sp>
      <p:pic>
        <p:nvPicPr>
          <p:cNvPr id="10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3990975"/>
            <a:ext cx="228600" cy="228600"/>
          </a:xfrm>
          <a:prstGeom prst="rect">
            <a:avLst/>
          </a:prstGeom>
          <a:ln/>
        </p:spPr>
      </p:pic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1028700" y="3943350"/>
            <a:ext cx="2590800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「查看更多」与完整案例库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H5</a:t>
            </a:r>
            <a:endParaRPr/>
          </a:p>
        </p:txBody>
      </p:sp>
      <p:pic>
        <p:nvPicPr>
          <p:cNvPr id="10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85800" y="4438650"/>
            <a:ext cx="228600" cy="228600"/>
          </a:xfrm>
          <a:prstGeom prst="rect">
            <a:avLst/>
          </a:prstGeom>
          <a:ln/>
        </p:spPr>
      </p:pic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1028700" y="4391025"/>
            <a:ext cx="3552825" cy="3238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四步自检：带背景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读完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3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条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三问</a:t>
            </a:r>
            <a:r>
              <a:rPr lang="en-US" sz="1500">
                <a:solidFill>
                  <a:srgbClr val="1E3A32"/>
                </a:solidFill>
                <a:latin typeface="Microsoft YaHei"/>
                <a:ea typeface="Microsoft YaHei"/>
              </a:rPr>
              <a:t> / </a:t>
            </a: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说清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6667500" y="2028825"/>
            <a:ext cx="4838700" cy="2190750"/>
          </a:xfrm>
          <a:prstGeom prst="roundRect">
            <a:avLst>
              <a:gd name="adj" fmla="val 7826"/>
            </a:avLst>
          </a:prstGeom>
          <a:gradFill>
            <a:gsLst>
              <a:gs pos="0">
                <a:srgbClr val="1F7A5C"/>
              </a:gs>
              <a:gs pos="100000">
                <a:srgbClr val="2E9B77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6934200" y="2295525"/>
            <a:ext cx="43053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FFFFF"/>
                </a:solidFill>
                <a:latin typeface="Microsoft YaHei"/>
                <a:ea typeface="Microsoft YaHei"/>
              </a:rPr>
              <a:t>下一步去哪</a:t>
            </a:r>
            <a:endParaRPr/>
          </a:p>
        </p:txBody>
      </p:sp>
      <p:pic>
        <p:nvPicPr>
          <p:cNvPr id="11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2"/>
              </a:ext>
            </a:extLst>
          </a:blip>
          <a:stretch>
            <a:fillRect/>
          </a:stretch>
        </p:blipFill>
        <p:spPr>
          <a:xfrm rot="0" flipH="0" flipV="0">
            <a:off x="6934200" y="2790825"/>
            <a:ext cx="285750" cy="285750"/>
          </a:xfrm>
          <a:prstGeom prst="rect">
            <a:avLst/>
          </a:prstGeom>
          <a:ln/>
        </p:spPr>
      </p:pic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7334250" y="2743200"/>
            <a:ext cx="390525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650">
                <a:solidFill>
                  <a:srgbClr val="FFFFFF"/>
                </a:solidFill>
                <a:latin typeface="Microsoft YaHei"/>
                <a:ea typeface="Microsoft YaHei"/>
              </a:rPr>
              <a:t> 3 </a:t>
            </a:r>
            <a:r>
              <a:rPr lang="zh-CN" sz="1650">
                <a:solidFill>
                  <a:srgbClr val="FFFFFF"/>
                </a:solidFill>
                <a:latin typeface="Microsoft YaHei"/>
                <a:ea typeface="Microsoft YaHei"/>
              </a:rPr>
              <a:t>套《长效使用与协同保障》</a:t>
            </a:r>
            <a:endParaRPr/>
          </a:p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6667500" y="4429125"/>
            <a:ext cx="4838700" cy="3429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500">
                <a:solidFill>
                  <a:srgbClr val="1E3A32"/>
                </a:solidFill>
                <a:latin typeface="Microsoft YaHei"/>
                <a:ea typeface="Microsoft YaHei"/>
              </a:rPr>
              <a:t>记住一句话：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6667500" y="4905375"/>
            <a:ext cx="4838700" cy="3810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650" b="1">
                <a:solidFill>
                  <a:srgbClr val="C9742B"/>
                </a:solidFill>
                <a:latin typeface="Microsoft YaHei"/>
                <a:ea typeface="Microsoft YaHei"/>
              </a:rPr>
              <a:t>案例不是答案，是你能抄的那一步。</a:t>
            </a:r>
            <a:endParaRPr/>
          </a:p>
        </p:txBody>
      </p:sp>
      <p:pic>
        <p:nvPicPr>
          <p:cNvPr id="11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3"/>
              </a:ext>
            </a:extLst>
          </a:blip>
          <a:stretch>
            <a:fillRect/>
          </a:stretch>
        </p:blipFill>
        <p:spPr>
          <a:xfrm rot="0" flipH="0" flipV="0">
            <a:off x="685800" y="6267450"/>
            <a:ext cx="190500" cy="190500"/>
          </a:xfrm>
          <a:prstGeom prst="rect">
            <a:avLst/>
          </a:prstGeom>
          <a:ln/>
        </p:spPr>
      </p:pic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952500" y="6286500"/>
            <a:ext cx="1447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AI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宝儿</a:t>
            </a: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 · </a:t>
            </a:r>
            <a:r>
              <a:rPr lang="zh-CN" sz="1050">
                <a:solidFill>
                  <a:srgbClr val="6B7C75"/>
                </a:solidFill>
                <a:latin typeface="Microsoft YaHei"/>
                <a:ea typeface="Microsoft YaHei"/>
              </a:rPr>
              <a:t>内容与案例参考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1096625" y="6286500"/>
            <a:ext cx="4095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6B7C75"/>
                </a:solidFill>
                <a:latin typeface="Microsoft YaHei"/>
                <a:ea typeface="Microsoft YaHei"/>
              </a:rPr>
              <a:t>13 / 13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6934200" y="3238500"/>
            <a:ext cx="43053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5000"/>
              </a:lnSpc>
            </a:pPr>
            <a:r>
              <a:rPr lang="zh-CN" sz="1500">
                <a:solidFill>
                  <a:srgbClr val="FFFFFF">
                    <a:alpha val="90000"/>
                  </a:srgbClr>
                </a:solidFill>
                <a:latin typeface="Microsoft YaHei"/>
                <a:ea typeface="Microsoft YaHei"/>
              </a:rPr>
              <a:t>学社区问答、转人工营养师、五个好习惯与避坑清单，把「会用」变成「用得久」。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dc="http://purl.org/dc/elements/1.1/" xmlns:cp="http://schemas.openxmlformats.org/package/2006/metadata/core-properties">
  <dcterms:created xsi:type="dcterms:W3CDTF">2026-08-31T16:35:33Z</dcterms:created>
  <dcterms:modified xsi:type="dcterms:W3CDTF">2026-08-31T16:35:33Z</dcterms:modified>
</cp:coreProperties>
</file>