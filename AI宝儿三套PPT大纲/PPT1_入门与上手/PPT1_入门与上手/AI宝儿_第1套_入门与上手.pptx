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9" Type="http://schemas.openxmlformats.org/officeDocument/2006/relationships/slide" Target="slides/slide9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2" Type="http://schemas.openxmlformats.org/officeDocument/2006/relationships/slide" Target="slides/slide2.xml" /><Relationship Id="rId18" Type="http://schemas.openxmlformats.org/officeDocument/2006/relationships/viewProps" Target="viewProps.xml" /><Relationship Id="rId17" Type="http://schemas.openxmlformats.org/officeDocument/2006/relationships/tableStyles" Target="tableStyles.xml" /><Relationship Id="rId16" Type="http://schemas.openxmlformats.org/officeDocument/2006/relationships/presProps" Target="presProps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5" Type="http://schemas.openxmlformats.org/officeDocument/2006/relationships/notesMaster" Target="notesMasters/notesMaster1.xml" /><Relationship Id="rId13" Type="http://schemas.openxmlformats.org/officeDocument/2006/relationships/slide" Target="slides/slide13.xml" /><Relationship Id="rId3" Type="http://schemas.openxmlformats.org/officeDocument/2006/relationships/slide" Target="slides/slide3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8" Type="http://schemas.openxmlformats.org/officeDocument/2006/relationships/slide" Target="slides/slide8.xml" /><Relationship Id="rId10" Type="http://schemas.openxmlformats.org/officeDocument/2006/relationships/slide" Target="slides/slide10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3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5" Type="http://schemas.openxmlformats.org/officeDocument/2006/relationships/image" Target="media/image16.svg" /><Relationship Id="rId2" Type="http://schemas.openxmlformats.org/officeDocument/2006/relationships/image" Target="media/image19.svg" /><Relationship Id="rId4" Type="http://schemas.openxmlformats.org/officeDocument/2006/relationships/image" Target="media/image21.svg" /><Relationship Id="rId3" Type="http://schemas.openxmlformats.org/officeDocument/2006/relationships/image" Target="media/image20.svg" /><Relationship Id="rId1" Type="http://schemas.openxmlformats.org/officeDocument/2006/relationships/image" Target="media/image18.svg" /><Relationship Id="rId6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5" Type="http://schemas.openxmlformats.org/officeDocument/2006/relationships/image" Target="media/image4.svg" /><Relationship Id="rId3" Type="http://schemas.openxmlformats.org/officeDocument/2006/relationships/image" Target="media/image24.svg" /><Relationship Id="rId4" Type="http://schemas.openxmlformats.org/officeDocument/2006/relationships/image" Target="media/image25.svg" /><Relationship Id="rId2" Type="http://schemas.openxmlformats.org/officeDocument/2006/relationships/image" Target="media/image23.svg" /><Relationship Id="rId1" Type="http://schemas.openxmlformats.org/officeDocument/2006/relationships/image" Target="media/image22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4.svg" /><Relationship Id="rId2" Type="http://schemas.openxmlformats.org/officeDocument/2006/relationships/image" Target="media/image27.svg" /><Relationship Id="rId1" Type="http://schemas.openxmlformats.org/officeDocument/2006/relationships/image" Target="media/image26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5" Type="http://schemas.openxmlformats.org/officeDocument/2006/relationships/image" Target="media/image4.svg" /><Relationship Id="rId1" Type="http://schemas.openxmlformats.org/officeDocument/2006/relationships/image" Target="media/image28.svg" /><Relationship Id="rId4" Type="http://schemas.openxmlformats.org/officeDocument/2006/relationships/image" Target="media/image31.svg" /><Relationship Id="rId3" Type="http://schemas.openxmlformats.org/officeDocument/2006/relationships/image" Target="media/image30.svg" /><Relationship Id="rId2" Type="http://schemas.openxmlformats.org/officeDocument/2006/relationships/image" Target="media/image29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5" Type="http://schemas.openxmlformats.org/officeDocument/2006/relationships/image" Target="media/image4.svg" /><Relationship Id="rId4" Type="http://schemas.openxmlformats.org/officeDocument/2006/relationships/image" Target="media/image35.svg" /><Relationship Id="rId3" Type="http://schemas.openxmlformats.org/officeDocument/2006/relationships/image" Target="media/image34.svg" /><Relationship Id="rId2" Type="http://schemas.openxmlformats.org/officeDocument/2006/relationships/image" Target="media/image33.svg" /><Relationship Id="rId1" Type="http://schemas.openxmlformats.org/officeDocument/2006/relationships/image" Target="media/image32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4.svg" /><Relationship Id="rId2" Type="http://schemas.openxmlformats.org/officeDocument/2006/relationships/image" Target="media/image37.svg" /><Relationship Id="rId1" Type="http://schemas.openxmlformats.org/officeDocument/2006/relationships/image" Target="media/image36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6" Type="http://schemas.openxmlformats.org/officeDocument/2006/relationships/image" Target="media/image4.svg" /><Relationship Id="rId5" Type="http://schemas.openxmlformats.org/officeDocument/2006/relationships/image" Target="media/image9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7.svg" /><Relationship Id="rId4" Type="http://schemas.openxmlformats.org/officeDocument/2006/relationships/image" Target="media/image8.svg" /><Relationship Id="rId2" Type="http://schemas.openxmlformats.org/officeDocument/2006/relationships/image" Target="media/image6.svg" /><Relationship Id="rId1" Type="http://schemas.openxmlformats.org/officeDocument/2006/relationships/image" Target="media/image5.svg" /></Relationships>
</file>

<file path=ppt/slides/_rels/slide12.xml.rels><?xml version="1.0" encoding="UTF-8" standalone="yes"?><Relationships xmlns="http://schemas.openxmlformats.org/package/2006/relationships"><Relationship Id="rId3" Type="http://schemas.openxmlformats.org/officeDocument/2006/relationships/image" Target="media/image12.svg" /><Relationship Id="rId2" Type="http://schemas.openxmlformats.org/officeDocument/2006/relationships/image" Target="media/image11.svg" /><Relationship Id="rId4" Type="http://schemas.openxmlformats.org/officeDocument/2006/relationships/image" Target="media/image4.svg" /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3" Type="http://schemas.openxmlformats.org/officeDocument/2006/relationships/image" Target="media/image15.svg" /><Relationship Id="rId2" Type="http://schemas.openxmlformats.org/officeDocument/2006/relationships/image" Target="media/image14.svg" /><Relationship Id="rId1" Type="http://schemas.openxmlformats.org/officeDocument/2006/relationships/image" Target="media/image13.svg" /><Relationship Id="rId4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3" Type="http://schemas.openxmlformats.org/officeDocument/2006/relationships/image" Target="media/image4.svg" /><Relationship Id="rId2" Type="http://schemas.openxmlformats.org/officeDocument/2006/relationships/image" Target="media/image17.svg" /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&#10;    background: 'linear-gradient(135deg, #F2F8F4 0%, #DCEDE3 100%)',&#10;    padding: 0,&#10;}}&gt;&#10;    &lt;Box style={{ flexDirection: 'row', width: '100%', height: '100%' }}&gt;&#10;        &lt;Box style={{ width: 660, height: '100%', paddingLeft: 72, paddingRight: 24, paddingTop: 132 }}&gt;&#10;            &lt;Box style={{ flexDirection: 'row', alignItems: 'center', gap: 14 }}&gt;&#10;                &lt;Box style={{ width: 46, height: 46, borderRadius: 23, background: '#1F7A5C', justifyContent: 'center', alignItems: 'center' }}&gt;&#10;                    &lt;svg width=&quot;26&quot; height=&quot;26&quot; viewBox=&quot;0 0 24 24&quot;&gt;&#10;                        &lt;path d=&quot;M12 21C12 21 4 17 4 10C4 6 7 3 12 3C17 3 20 6 20 10C20 17 12 21 12 21Z&quot; fill=&quot;#FFFFFF&quot; /&gt;&#10;                        &lt;path d=&quot;M12 21V6&quot; stroke=&quot;#1F7A5C&quot; strokeWidth=&quot;1.8&quot; fill=&quot;none&quot; /&gt;&#10;                    &lt;/svg&gt;&#10;                &lt;/Box&gt;&#10;                &lt;Text style={{ fontSize: 22, color: '#1F7A5C', fontWeight: 'bold', letterSpacing: 1 }}&gt;AI宝儿智能体&lt;/Text&gt;&#10;            &lt;/Box&gt;&#10;&#10;            &lt;Text style={{ fontSize: 20, color: '#1F7A5C', fontWeight: 'bold', marginTop: 40, letterSpacing: 1 }}&gt;&#10;                第 1 套 / 共 3 套 · 终端用户培训&#10;            &lt;/Text&gt;&#10;&#10;            &lt;Text style={{ fontSize: 72, fontWeight: 'bold', color: '#1E3A32', lineHeight: 1.15, marginTop: 14 }}&gt;&#10;                入门&lt;br /&gt;与上手&#10;            &lt;/Text&gt;&#10;&#10;            &lt;Box style={{ width: 96, height: 5, borderRadius: 3, background: '#E08A3C', marginTop: 24 }} /&gt;&#10;&#10;            &lt;Text style={{ fontSize: 26, color: '#1E3A32', lineHeight: 1.55, marginTop: 24 }}&gt;&#10;                从「不敢用」到「&lt;span style={{ color: '#C9742B', fontWeight: 'bold' }}&gt;下课前能问一句&lt;/span&gt;」&lt;br /&gt;&#10;                认识产品 + 会提问，两步就能用起来&#10;            &lt;/Text&gt;&#10;&#10;            &lt;Box style={{&#10;                flexDirection: 'row', alignItems: 'center', gap: 18, marginTop: 44,&#10;                background: 'rgba(255,255,255,0.72)', borderRadius: 14, padding: 18, width: 470,&#10;            }}&gt;&#10;                &lt;FAIcon name='book' style={{ fill: '#1F7A5C', width: 26, height: 26 }} /&gt;&#10;                &lt;Text style={{ fontSize: 20, color: '#1E3A32' }}&gt;&#10;                    14 页 · 讲练结合 · 面向一线使用者&#10;                &lt;/Text&gt;&#10;            &lt;/Box&gt;&#10;        &lt;/Box&gt;&#10;&#10;        &lt;Box style={{ flex: 1, height: '100%' }}&gt;&#10;            &lt;svg width=&quot;620&quot; height=&quot;720&quot; viewBox=&quot;0 0 620 720&quot;&gt;&#10;                &lt;circle cx=&quot;452&quot; cy=&quot;168&quot; r=&quot;132&quot; fill=&quot;#E08A3C&quot; opacity=&quot;0.26&quot; /&gt;&#10;                &lt;circle cx=&quot;452&quot; cy=&quot;168&quot; r=&quot;88&quot; fill=&quot;#E08A3C&quot; opacity=&quot;0.2&quot; /&gt;&#10;                &lt;path d=&quot;M0 500 Q150 402 300 484 T620 448 L620 720 L0 720 Z&quot; fill=&quot;#A8D5BA&quot; opacity=&quot;0.55&quot; /&gt;&#10;                &lt;path d=&quot;M0 566 Q190 486 380 548 T620 522 L620 720 L0 720 Z&quot; fill=&quot;#1F7A5C&quot; opacity=&quot;0.26&quot; /&gt;&#10;                &lt;path d=&quot;M0 638 Q170 588 350 630 T620 604 L620 720 L0 720 Z&quot; fill=&quot;#1F7A5C&quot; opacity=&quot;0.46&quot; /&gt;&#10;                &lt;path d=&quot;M120 470 q30 -46 74 -58 q-8 50 -74 58Z&quot; fill=&quot;#1F7A5C&quot; opacity=&quot;0.55&quot; /&gt;&#10;                &lt;path d=&quot;M212 512 q26 -40 64 -50 q-7 44 -64 50Z&quot; fill=&quot;#1F7A5C&quot; opacity=&quot;0.4&quot; /&gt;&#10;                &lt;path d=&quot;M470 300 q34 -52 84 -66 q-9 57 -84 66Z&quot; fill=&quot;#1F7A5C&quot; opacity=&quot;0.32&quot; /&gt;&#10;                &lt;path d=&quot;M60 452 L120 470&quot; stroke=&quot;#1F7A5C&quot; strokeWidth=&quot;4&quot; opacity=&quot;0.45&quot; fill=&quot;none&quot; /&gt;&#10;                &lt;path d=&quot;M470 300 L470 250&quot; stroke=&quot;#1F7A5C&quot; strokeWidth=&quot;4&quot; opacity=&quot;0.35&quot; fill=&quot;none&quot; /&gt;&#10;            &lt;/svg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2F8F4"/>
              </a:gs>
              <a:gs pos="100000">
                <a:srgbClr val="DCEDE3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85800" y="12573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1352550"/>
            <a:ext cx="247650" cy="247650"/>
          </a:xfrm>
          <a:prstGeom prst="rect">
            <a:avLst/>
          </a:prstGeom>
          <a:ln/>
        </p:spPr>
      </p:pic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257300" y="1352550"/>
            <a:ext cx="1323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75">
                <a:solidFill>
                  <a:srgbClr val="1F7A5C"/>
                </a:solidFill>
                <a:latin typeface="Microsoft YaHei"/>
                <a:ea typeface="Microsoft YaHei"/>
              </a:rPr>
              <a:t>AI</a:t>
            </a:r>
            <a:r>
              <a:rPr lang="zh-CN" sz="1650" b="1" spc="75">
                <a:solidFill>
                  <a:srgbClr val="1F7A5C"/>
                </a:solidFill>
                <a:latin typeface="Microsoft YaHei"/>
                <a:ea typeface="Microsoft YaHei"/>
              </a:rPr>
              <a:t>宝儿智能体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2076450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第</a:t>
            </a:r>
            <a:r>
              <a:rPr lang="en-US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 1 </a:t>
            </a: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套</a:t>
            </a:r>
            <a:r>
              <a:rPr lang="en-US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 / </a:t>
            </a: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共</a:t>
            </a:r>
            <a:r>
              <a:rPr lang="en-US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 3 </a:t>
            </a: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套</a:t>
            </a:r>
            <a:r>
              <a:rPr lang="en-US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 · </a:t>
            </a: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终端用户培训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2438400"/>
            <a:ext cx="5372100" cy="18954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400" b="1">
                <a:solidFill>
                  <a:srgbClr val="1E3A32"/>
                </a:solidFill>
                <a:latin typeface="Microsoft YaHei"/>
                <a:ea typeface="Microsoft YaHei"/>
              </a:rPr>
              <a:t>入门</a:t>
            </a:r>
            <a:endParaRPr/>
          </a:p>
          <a:p>
            <a:pPr>
              <a:lnSpc>
                <a:spcPct val="114999"/>
              </a:lnSpc>
            </a:pPr>
            <a:r>
              <a:rPr lang="zh-CN" sz="5400" b="1">
                <a:solidFill>
                  <a:srgbClr val="1E3A32"/>
                </a:solidFill>
                <a:latin typeface="Microsoft YaHei"/>
                <a:ea typeface="Microsoft YaHei"/>
              </a:rPr>
              <a:t>与上手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85800" y="4562475"/>
            <a:ext cx="914400" cy="47625"/>
          </a:xfrm>
          <a:prstGeom prst="roundRect">
            <a:avLst>
              <a:gd name="adj" fmla="val 6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4838700"/>
            <a:ext cx="537210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从「不敢用」到「</a:t>
            </a:r>
            <a:r>
              <a:rPr lang="zh-CN" sz="1950" b="1">
                <a:solidFill>
                  <a:srgbClr val="C9742B"/>
                </a:solidFill>
                <a:latin typeface="Microsoft YaHei"/>
                <a:ea typeface="Microsoft YaHei"/>
              </a:rPr>
              <a:t>下课前能问一句</a:t>
            </a: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」</a:t>
            </a:r>
            <a:endParaRPr/>
          </a:p>
          <a:p>
            <a:pPr>
              <a:lnSpc>
                <a:spcPct val="155000"/>
              </a:lnSpc>
            </a:pP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认识产品</a:t>
            </a:r>
            <a:r>
              <a:rPr lang="en-US" sz="1950">
                <a:solidFill>
                  <a:srgbClr val="1E3A32"/>
                </a:solidFill>
                <a:latin typeface="Microsoft YaHei"/>
                <a:ea typeface="Microsoft YaHei"/>
              </a:rPr>
              <a:t> + </a:t>
            </a: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会提问，两步就能用起来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6181725"/>
            <a:ext cx="4476750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72000"/>
            </a:srgbClr>
          </a:solidFill>
          <a:ln/>
        </p:spPr>
        <p:txBody>
          <a:bodyPr/>
          <a:p/>
        </p:txBody>
      </p:sp>
      <p:pic>
        <p:nvPicPr>
          <p:cNvPr id="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57250" y="6353175"/>
            <a:ext cx="247650" cy="247650"/>
          </a:xfrm>
          <a:prstGeom prst="rect">
            <a:avLst/>
          </a:prstGeom>
          <a:ln/>
        </p:spPr>
      </p:pic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276350" y="636270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14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页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讲练结合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面向一线使用者</a:t>
            </a:r>
            <a:endParaRPr/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286500" y="0"/>
            <a:ext cx="5905500" cy="685800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7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为什么需要 AI宝儿&lt;/Text&gt;&#10;        &lt;Box style={{ width: 56, height: 4, borderRadius: 2, background: '#1F7A5C', marginTop: 8 }} /&gt;&#10;    &lt;/Box&gt;&#10;&#10;    &lt;Box style={{ height: 528, flexDirection: 'row', gap: 28 }}&gt;&#10;        &lt;Box style={{ width: 560, height: 528, gap: 18 }}&gt;&#10;            &lt;Text style={{ fontSize: 24, fontWeight: 'bold', color: '#1F7A5C', lineHeight: 1.4 }}&gt;&#10;                一线顾问每天在反复接同一类问题&#10;            &lt;/Text&gt;&#10;            &lt;Box style={{ background: '#FFFFFF', borderRadius: 14, padding: 20, boxShadow: '0 4px 20px rgba(30,58,50,0.08)' }}&gt;&#10;                &lt;Box style={{ flexDirection: 'row', alignItems: 'center', gap: 12 }}&gt;&#10;                    &lt;FAIcon name='comments' style={{ fill: '#1F7A5C', width: 26, height: 26 }} /&gt;&#10;                    &lt;Text style={{ fontSize: 21, fontWeight: 'bold', color: '#1E3A32' }}&gt;重复咨询高频&lt;/Text&gt;&#10;                &lt;/Box&gt;&#10;                &lt;Text style={{ fontSize: 20, color: '#1E3A32', lineHeight: 1.5, marginTop: 8 }}&gt;&#10;                    便秘、腹胀、口臭、免疫力、皮肤状态……五类问题被反复问，回答却大同小异。&#10;                &lt;/Text&gt;&#10;            &lt;/Box&gt;&#10;            &lt;Box style={{ background: '#FFFFFF', borderRadius: 14, padding: 20, boxShadow: '0 4px 20px rgba(30,58,50,0.08)' }}&gt;&#10;                &lt;Box style={{ flexDirection: 'row', alignItems: 'center', gap: 12 }}&gt;&#10;                    &lt;FAIcon name='moon' style={{ fill: '#1F7A5C', width: 26, height: 26 }} /&gt;&#10;                    &lt;Text style={{ fontSize: 21, fontWeight: 'bold', color: '#1E3A32' }}&gt;夜间才想起来问&lt;/Text&gt;&#10;                &lt;/Box&gt;&#10;                &lt;Text style={{ fontSize: 20, color: '#1E3A32', lineHeight: 1.5, marginTop: 8 }}&gt;&#10;                    客户常在下班后、深夜才有空想问题，人工很难做到 7×24 小时在线覆盖。&#10;                &lt;/Text&gt;&#10;            &lt;/Box&gt;&#10;            &lt;Box style={{ background: '#FFFFFF', borderRadius: 14, padding: 20, boxShadow: '0 4px 20px rgba(30,58,50,0.08)' }}&gt;&#10;                &lt;Box style={{ flexDirection: 'row', alignItems: 'center', gap: 12 }}&gt;&#10;                    &lt;FAIcon name='user' style={{ fill: '#1F7A5C', width: 26, height: 26 }} /&gt;&#10;                    &lt;Text style={{ fontSize: 21, fontWeight: 'bold', color: '#1E3A32' }}&gt;真人精力有限&lt;/Text&gt;&#10;                &lt;/Box&gt;&#10;                &lt;Text style={{ fontSize: 20, color: '#1E3A32', lineHeight: 1.5, marginTop: 8 }}&gt;&#10;                    基础问答占满时间，留给深度沟通的余地就被挤没了。&#10;                &lt;/Text&gt;&#10;            &lt;/Box&gt;&#10;        &lt;/Box&gt;&#10;&#10;        &lt;Box style={{ flex: 1, height: 528, justifyContent: 'center' }}&gt;&#10;            &lt;Box style={{ flexDirection: 'row', alignItems: 'center', gap: 12 }}&gt;&#10;                &lt;Box style={{ width: 40, height: 40, borderRadius: 20, background: '#1F7A5C', justifyContent: 'center', alignItems: 'center' }}&gt;&#10;                    &lt;FAIcon name='bullseye' style={{ fill: '#FFFFFF', width: 22, height: 22 }} /&gt;&#10;                &lt;/Box&gt;&#10;                &lt;Text style={{ fontSize: 24, fontWeight: 'bold', color: '#1E3A32' }}&gt;AI宝儿的定位&lt;/Text&gt;&#10;            &lt;/Box&gt;&#10;            &lt;Text style={{ fontSize: 21, color: '#1E3A32', lineHeight: 1.6, marginTop: 16 }}&gt;&#10;                一个随时在线的小助手，把那些重复的「基础问答」先接住，让你腾出手去做更该由人来做的事——深度沟通与判断。&#10;            &lt;/Text&gt;&#10;            &lt;Box style={{ marginTop: 22, gap: 14 }}&gt;&#10;                &lt;Box style={{ flexDirection: 'row', gap: 12, alignItems: 'flex-start' }}&gt;&#10;                    &lt;FAIcon name='check' style={{ fill: '#1F7A5C', width: 24, height: 24 }} /&gt;&#10;                    &lt;Text style={{ fontSize: 20, color: '#1E3A32', lineHeight: 1.5, flex: 1 }}&gt;不打烊：客户深夜问，它也在&lt;/Text&gt;&#10;                &lt;/Box&gt;&#10;                &lt;Box style={{ flexDirection: 'row', gap: 12, alignItems: 'flex-start' }}&gt;&#10;                    &lt;FAIcon name='check' style={{ fill: '#1F7A5C', width: 24, height: 24 }} /&gt;&#10;                    &lt;Text style={{ fontSize: 20, color: '#1E3A32', lineHeight: 1.5, flex: 1 }}&gt;不重复：基础问题交给它，不占你时间&lt;/Text&gt;&#10;                &lt;/Box&gt;&#10;                &lt;Box style={{ flexDirection: 'row', gap: 12, alignItems: 'flex-start' }}&gt;&#10;                    &lt;FAIcon name='check' style={{ fill: '#1F7A5C', width: 24, height: 24 }} /&gt;&#10;                    &lt;Text style={{ fontSize: 20, color: '#1E3A32', lineHeight: 1.5, flex: 1 }}&gt;不替代：拿不准时，它帮你接真人&lt;/Text&gt;&#10;                &lt;/Box&gt;&#10;            &lt;/Box&gt;&#10;            &lt;Box style={{ marginTop: 24, background: 'rgba(224,138,60,0.14)', borderRadius: 14, padding: 16 }}&gt;&#10;                &lt;Text style={{ fontSize: 19, color: '#C9742B', lineHeight: 1.5 }}&gt;&#10;                    注：便秘/腹胀等五类场景取自项目案例库，仅说明「被问得多」，不作任何疗效承诺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02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为什么需要</a:t>
            </a:r>
            <a:r>
              <a:rPr lang="en-US" sz="2700" b="1">
                <a:solidFill>
                  <a:srgbClr val="1E3A32"/>
                </a:solidFill>
                <a:latin typeface="Microsoft YaHei"/>
                <a:ea typeface="Microsoft YaHei"/>
              </a:rPr>
              <a:t> AI</a:t>
            </a: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宝儿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5334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一线顾问每天在反复接同一类问题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85800" y="1704975"/>
            <a:ext cx="5334000" cy="1390650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895475"/>
            <a:ext cx="247650" cy="247650"/>
          </a:xfrm>
          <a:prstGeom prst="rect">
            <a:avLst/>
          </a:prstGeom>
          <a:ln/>
        </p:spPr>
      </p:pic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238250" y="189547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重复咨询高频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76300" y="2219325"/>
            <a:ext cx="4953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便秘、腹胀、口臭、免疫力、皮肤状态……五类问题被反复问，回答却大同小异。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85800" y="3267075"/>
            <a:ext cx="5334000" cy="1390650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76300" y="3457575"/>
            <a:ext cx="247650" cy="247650"/>
          </a:xfrm>
          <a:prstGeom prst="rect">
            <a:avLst/>
          </a:prstGeom>
          <a:ln/>
        </p:spPr>
      </p:pic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238250" y="345757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夜间才想起来问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76300" y="3781425"/>
            <a:ext cx="4953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客户常在下班后、深夜才有空想问题，人工很难做到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7×24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小时在线覆盖。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85800" y="4829175"/>
            <a:ext cx="533400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76300" y="5019675"/>
            <a:ext cx="247650" cy="247650"/>
          </a:xfrm>
          <a:prstGeom prst="rect">
            <a:avLst/>
          </a:prstGeom>
          <a:ln/>
        </p:spPr>
      </p:pic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238250" y="501967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真人精力有限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76300" y="5343525"/>
            <a:ext cx="4953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基础问答占满时间，留给深度沟通的余地就被挤没了。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286500" y="14668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372225" y="1552575"/>
            <a:ext cx="209550" cy="2095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781800" y="1524000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3A32"/>
                </a:solidFill>
                <a:latin typeface="Microsoft YaHei"/>
                <a:ea typeface="Microsoft YaHei"/>
              </a:rPr>
              <a:t>AI</a:t>
            </a: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宝儿的定位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286500" y="2000250"/>
            <a:ext cx="5219700" cy="1152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一个随时在线的小助手，把那些重复的「基础问答」先接住，让你腾出手去做更该由人来做的事——深度沟通与判断。</a:t>
            </a:r>
            <a:endParaRPr/>
          </a:p>
        </p:txBody>
      </p:sp>
      <p:pic>
        <p:nvPicPr>
          <p:cNvPr id="1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286500" y="3362325"/>
            <a:ext cx="228600" cy="228600"/>
          </a:xfrm>
          <a:prstGeom prst="rect">
            <a:avLst/>
          </a:prstGeom>
          <a:ln/>
        </p:spPr>
      </p:pic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629400" y="3362325"/>
            <a:ext cx="48768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不打烊：客户深夜问，它也在</a:t>
            </a:r>
            <a:endParaRPr/>
          </a:p>
        </p:txBody>
      </p:sp>
      <p:pic>
        <p:nvPicPr>
          <p:cNvPr id="1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286500" y="3838575"/>
            <a:ext cx="228600" cy="228600"/>
          </a:xfrm>
          <a:prstGeom prst="rect">
            <a:avLst/>
          </a:prstGeom>
          <a:ln/>
        </p:spPr>
      </p:pic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629400" y="3838575"/>
            <a:ext cx="48768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不重复：基础问题交给它，不占你时间</a:t>
            </a:r>
            <a:endParaRPr/>
          </a:p>
        </p:txBody>
      </p:sp>
      <p:pic>
        <p:nvPicPr>
          <p:cNvPr id="1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286500" y="4314825"/>
            <a:ext cx="228600" cy="228600"/>
          </a:xfrm>
          <a:prstGeom prst="rect">
            <a:avLst/>
          </a:prstGeom>
          <a:ln/>
        </p:spPr>
      </p:pic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629400" y="4314825"/>
            <a:ext cx="48768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不替代：拿不准时，它帮你接真人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286500" y="4886325"/>
            <a:ext cx="5219700" cy="962025"/>
          </a:xfrm>
          <a:prstGeom prst="roundRect">
            <a:avLst>
              <a:gd name="adj" fmla="val 13861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438900" y="5038725"/>
            <a:ext cx="49149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注：便秘</a:t>
            </a:r>
            <a:r>
              <a:rPr lang="en-US" sz="1425">
                <a:solidFill>
                  <a:srgbClr val="C9742B"/>
                </a:solidFill>
                <a:latin typeface="Microsoft YaHei"/>
                <a:ea typeface="Microsoft YaHei"/>
              </a:rPr>
              <a:t>/</a:t>
            </a: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腹胀等五类场景取自项目案例库，仅说明「被问得多」，不作任何疗效承诺。</a:t>
            </a:r>
            <a:endParaRPr/>
          </a:p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89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AI宝儿是什么&lt;/Text&gt;&#10;        &lt;Box style={{ width: 56, height: 4, borderRadius: 2, background: '#1F7A5C', marginTop: 8 }} /&gt;&#10;    &lt;/Box&gt;&#10;&#10;    &lt;Box style={{ height: 528, flexDirection: 'row', gap: 28 }}&gt;&#10;        &lt;Box style={{ width: 605, height: 528 }}&gt;&#10;            &lt;svg width=&quot;605&quot; height=&quot;528&quot; viewBox=&quot;0 0 620 528&quot;&gt;&#10;                &lt;circle cx=&quot;310&quot; cy=&quot;264&quot; r=&quot;176&quot; fill=&quot;#A8D5BA&quot; opacity=&quot;0.18&quot; /&gt;&#10;                &lt;path d=&quot;M310 264 L310 96&quot; stroke=&quot;#A8D5BA&quot; strokeWidth=&quot;3&quot; /&gt;&#10;                &lt;path d=&quot;M310 264 L462 178&quot; stroke=&quot;#A8D5BA&quot; strokeWidth=&quot;3&quot; /&gt;&#10;                &lt;path d=&quot;M310 264 L462 350&quot; stroke=&quot;#A8D5BA&quot; strokeWidth=&quot;3&quot; /&gt;&#10;                &lt;path d=&quot;M310 264 L310 432&quot; stroke=&quot;#A8D5BA&quot; strokeWidth=&quot;3&quot; /&gt;&#10;                &lt;path d=&quot;M310 264 L158 350&quot; stroke=&quot;#A8D5BA&quot; strokeWidth=&quot;3&quot; /&gt;&#10;                &lt;path d=&quot;M310 264 L158 178&quot; stroke=&quot;#A8D5BA&quot; strokeWidth=&quot;3&quot; /&gt;&#10;&#10;                &lt;rect x=&quot;245&quot; y=&quot;70&quot; width=&quot;130&quot; height=&quot;52&quot; rx=&quot;14&quot; fill=&quot;#1F7A5C&quot; /&gt;&#10;                &lt;text x=&quot;310&quot; y=&quot;103&quot; textAnchor=&quot;middle&quot; fontSize=&quot;21&quot; fill=&quot;#FFFFFF&quot; fontFamily=&quot;PingFang SC&quot;&gt;问产品&lt;/text&gt;&#10;&#10;                &lt;rect x=&quot;397&quot; y=&quot;152&quot; width=&quot;130&quot; height=&quot;52&quot; rx=&quot;14&quot; fill=&quot;rgba(168,213,186,0.45)&quot; /&gt;&#10;                &lt;text x=&quot;462&quot; y=&quot;185&quot; textAnchor=&quot;middle&quot; fontSize=&quot;21&quot; fill=&quot;#1E3A32&quot; fontFamily=&quot;PingFang SC&quot;&gt;看案例&lt;/text&gt;&#10;&#10;                &lt;rect x=&quot;397&quot; y=&quot;324&quot; width=&quot;130&quot; height=&quot;52&quot; rx=&quot;14&quot; fill=&quot;rgba(168,213,186,0.45)&quot; /&gt;&#10;                &lt;text x=&quot;462&quot; y=&quot;357&quot; textAnchor=&quot;middle&quot; fontSize=&quot;21&quot; fill=&quot;#1E3A32&quot; fontFamily=&quot;PingFang SC&quot;&gt;读资讯&lt;/text&gt;&#10;&#10;                &lt;rect x=&quot;245&quot; y=&quot;406&quot; width=&quot;130&quot; height=&quot;52&quot; rx=&quot;14&quot; fill=&quot;rgba(168,213,186,0.45)&quot; /&gt;&#10;                &lt;text x=&quot;310&quot; y=&quot;439&quot; textAnchor=&quot;middle&quot; fontSize=&quot;21&quot; fill=&quot;#1E3A32&quot; fontFamily=&quot;PingFang SC&quot;&gt;整理表达&lt;/text&gt;&#10;&#10;                &lt;rect x=&quot;93&quot; y=&quot;324&quot; width=&quot;130&quot; height=&quot;52&quot; rx=&quot;14&quot; fill=&quot;#1F7A5C&quot; /&gt;&#10;                &lt;text x=&quot;158&quot; y=&quot;357&quot; textAnchor=&quot;middle&quot; fontSize=&quot;21&quot; fill=&quot;#FFFFFF&quot; fontFamily=&quot;PingFang SC&quot;&gt;问用法&lt;/text&gt;&#10;&#10;                &lt;rect x=&quot;93&quot; y=&quot;152&quot; width=&quot;130&quot; height=&quot;52&quot; rx=&quot;14&quot; fill=&quot;#E08A3C&quot; /&gt;&#10;                &lt;text x=&quot;158&quot; y=&quot;185&quot; textAnchor=&quot;middle&quot; fontSize=&quot;21&quot; fill=&quot;#FFFFFF&quot; fontFamily=&quot;PingFang SC&quot;&gt;转人工&lt;/text&gt;&#10;&#10;                &lt;circle cx=&quot;310&quot; cy=&quot;264&quot; r=&quot;80&quot; fill=&quot;#1F7A5C&quot; /&gt;&#10;                &lt;circle cx=&quot;310&quot; cy=&quot;264&quot; r=&quot;66&quot; fill=&quot;#FFFFFF&quot; opacity=&quot;0.12&quot; /&gt;&#10;                &lt;text x=&quot;310&quot; y=&quot;256&quot; textAnchor=&quot;middle&quot; fontSize=&quot;26&quot; fontWeight=&quot;bold&quot; fill=&quot;#FFFFFF&quot; fontFamily=&quot;PingFang SC&quot;&gt;AI宝儿&lt;/text&gt;&#10;                &lt;text x=&quot;310&quot; y=&quot;288&quot; textAnchor=&quot;middle&quot; fontSize=&quot;17&quot; fill=&quot;#FFFFFF&quot; opacity=&quot;0.85&quot; fontFamily=&quot;PingFang SC&quot;&gt;随时在线&lt;/text&gt;&#10;            &lt;/svg&gt;&#10;        &lt;/Box&gt;&#10;&#10;        &lt;Box style={{ flex: 1, height: 528 }}&gt;&#10;            &lt;Text style={{ fontSize: 26, fontWeight: 'bold', color: '#1F7A5C', lineHeight: 1.4 }}&gt;&#10;                一个随时在线的小助手&#10;            &lt;/Text&gt;&#10;            &lt;Text style={{ fontSize: 21, color: '#1E3A32', lineHeight: 1.6, marginTop: 18 }}&gt;&#10;                AI宝儿不是一套要你先学技术才会用的软件。你只要像平时聊天一样，把想问的打进去，它就帮你找答案、把话说清楚、再挑几条可以参考的案例给你。&#10;            &lt;/Text&gt;&#10;            &lt;Text style={{ fontSize: 21, color: '#1E3A32', lineHeight: 1.6, marginTop: 14 }}&gt;&#10;                它记得住你问过什么，也知道别人都在关心什么。实在拿不准的时候，还能帮你接上真人营养师。&#10;            &lt;/Text&gt;&#10;&#10;            &lt;Box style={{ marginTop: 26, gap: 16 }}&gt;&#10;                &lt;Box style={{ flexDirection: 'row', gap: 14, alignItems: 'flex-start' }}&gt;&#10;                    &lt;FAIcon name='smile' style={{ fill: '#1F7A5C', width: 26, height: 26 }} /&gt;&#10;                    &lt;Text style={{ fontSize: 20, color: '#1E3A32', lineHeight: 1.5, flex: 1 }}&gt;&#10;                        不懂 AI 也能用：不需要背任何指令&#10;                    &lt;/Text&gt;&#10;                &lt;/Box&gt;&#10;                &lt;Box style={{ flexDirection: 'row', gap: 14, alignItems: 'flex-start' }}&gt;&#10;                    &lt;FAIcon name='comment' style={{ fill: '#1F7A5C', width: 26, height: 26 }} /&gt;&#10;                    &lt;Text style={{ fontSize: 20, color: '#1E3A32', lineHeight: 1.5, flex: 1 }}&gt;&#10;                        不会提问也有办法：照着示例问就行&#10;                    &lt;/Text&gt;&#10;                &lt;/Box&gt;&#10;                &lt;Box style={{ flexDirection: 'row', gap: 14, alignItems: 'flex-start' }}&gt;&#10;                    &lt;FAIcon name='undo' style={{ fill: '#1F7A5C', width: 26, height: 26 }} /&gt;&#10;                    &lt;Text style={{ fontSize: 20, color: '#1E3A32', lineHeight: 1.5, flex: 1 }}&gt;&#10;                        问错了不要紧：重新问一次就好&#10;                    &lt;/Text&gt;&#10;                &lt;/Box&gt;&#10;            &lt;/Box&gt;&#10;&#10;            &lt;Box style={{&#10;                marginTop: 'auto', background: 'rgba(224,138,60,0.14)', borderRadius: 14, padding: 16,&#10;            }}&gt;&#10;                &lt;Text style={{ fontSize: 20, color: '#C9742B', fontWeight: 'bold' }}&gt;&#10;                    先点进去，先问一句，再继续追问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03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3A32"/>
                </a:solidFill>
                <a:latin typeface="Microsoft YaHei"/>
                <a:ea typeface="Microsoft YaHei"/>
              </a:rPr>
              <a:t>AI</a:t>
            </a: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宝儿是什么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1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43000"/>
            <a:ext cx="5762625" cy="5029200"/>
          </a:xfrm>
          <a:prstGeom prst="rect">
            <a:avLst/>
          </a:prstGeom>
          <a:ln/>
        </p:spPr>
      </p:pic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715125" y="1143000"/>
            <a:ext cx="4791075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一个随时在线的小助手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715125" y="1733550"/>
            <a:ext cx="4791075" cy="1152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75">
                <a:solidFill>
                  <a:srgbClr val="1E3A32"/>
                </a:solidFill>
                <a:latin typeface="Microsoft YaHei"/>
                <a:ea typeface="Microsoft YaHei"/>
              </a:rPr>
              <a:t>AI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宝儿不是一套要你先学技术才会用的软件。你只要像平时聊天一样，把想问的打进去，它就帮你找答案、把话说清楚、再挑几条可以参考的案例给你。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715125" y="3019425"/>
            <a:ext cx="47910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它记得住你问过什么，也知道别人都在关心什么。实在拿不准的时候，还能帮你接上真人营养师。</a:t>
            </a:r>
            <a:endParaRPr/>
          </a:p>
        </p:txBody>
      </p:sp>
      <p:pic>
        <p:nvPicPr>
          <p:cNvPr id="1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15125" y="4038600"/>
            <a:ext cx="247650" cy="247650"/>
          </a:xfrm>
          <a:prstGeom prst="rect">
            <a:avLst/>
          </a:prstGeom>
          <a:ln/>
        </p:spPr>
      </p:pic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096125" y="4038600"/>
            <a:ext cx="44100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不懂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也能用：不需要背任何指令</a:t>
            </a:r>
            <a:endParaRPr/>
          </a:p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715125" y="4533900"/>
            <a:ext cx="247650" cy="247650"/>
          </a:xfrm>
          <a:prstGeom prst="rect">
            <a:avLst/>
          </a:prstGeom>
          <a:ln/>
        </p:spPr>
      </p:pic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096125" y="4533900"/>
            <a:ext cx="44100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不会提问也有办法：照着示例问就行</a:t>
            </a:r>
            <a:endParaRPr/>
          </a:p>
        </p:txBody>
      </p:sp>
      <p:pic>
        <p:nvPicPr>
          <p:cNvPr id="2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715125" y="5029200"/>
            <a:ext cx="247650" cy="247650"/>
          </a:xfrm>
          <a:prstGeom prst="rect">
            <a:avLst/>
          </a:prstGeom>
          <a:ln/>
        </p:spPr>
      </p:pic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096125" y="5029200"/>
            <a:ext cx="44100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问错了不要紧：重新问一次就好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715125" y="5638800"/>
            <a:ext cx="4791075" cy="533400"/>
          </a:xfrm>
          <a:prstGeom prst="roundRect">
            <a:avLst>
              <a:gd name="adj" fmla="val 25000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867525" y="5791200"/>
            <a:ext cx="448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先点进去，先问一句，再继续追问。</a:t>
            </a:r>
            <a:endParaRPr/>
          </a:p>
        </p:txBody>
      </p:sp>
      <p:pic>
        <p:nvPicPr>
          <p:cNvPr id="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8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第一次使用：两步进门&lt;/Text&gt;&#10;        &lt;Box style={{ width: 56, height: 4, borderRadius: 2, background: '#1F7A5C', marginTop: 8 }} /&gt;&#10;    &lt;/Box&gt;&#10;&#10;    &lt;Box style={{ height: 528, flexDirection: 'row', gap: 28 }}&gt;&#10;        &lt;Box style={{ width: 660 }}&gt;&#10;            &lt;Text style={{ fontSize: 26, fontWeight: 'bold', color: '#1F7A5C', lineHeight: 1.4 }}&gt;&#10;                先选团队，再填姓名，两步就进去了&#10;            &lt;/Text&gt;&#10;&#10;            &lt;Box style={{ marginTop: 24, gap: 20 }}&gt;&#10;                &lt;Box style={{&#10;                    flexDirection: 'row', gap: 18, background: '#FFFFFF', borderRadius: 14,&#10;                    padding: 20, boxShadow: '0 4px 20px rgba(30,58,50,0.08)',&#10;                }}&gt;&#10;                    &lt;Box style={{&#10;                        width: 44, height: 44, borderRadius: 22, background: '#1F7A5C',&#10;                        justifyContent: 'center', alignItems: 'center',&#10;                    }}&gt;&#10;                        &lt;Text style={{ fontSize: 22, fontWeight: 'bold', color: '#FFFFFF' }}&gt;1&lt;/Text&gt;&#10;                    &lt;/Box&gt;&#10;                    &lt;Box style={{ flex: 1 }}&gt;&#10;                        &lt;Text style={{ fontSize: 24, fontWeight: 'bold', color: '#1E3A32' }}&gt;选择你所在的团队&lt;/Text&gt;&#10;                        &lt;Text style={{ fontSize: 20, color: '#6B7C75', lineHeight: 1.55, marginTop: 8 }}&gt;&#10;                            团队名单由公司统一配置，只能从下拉列表里选。列表里没有你的团队时，找管理员加，不要随便选一个——你问过的内容会归到团队名下，选错就统计错了。&#10;                        &lt;/Text&gt;&#10;                    &lt;/Box&gt;&#10;                &lt;/Box&gt;&#10;&#10;                &lt;Box style={{&#10;                    flexDirection: 'row', gap: 18, background: '#FFFFFF', borderRadius: 14,&#10;                    padding: 20, boxShadow: '0 4px 20px rgba(30,58,50,0.08)',&#10;                }}&gt;&#10;                    &lt;Box style={{&#10;                        width: 44, height: 44, borderRadius: 22, background: '#1F7A5C',&#10;                        justifyContent: 'center', alignItems: 'center',&#10;                    }}&gt;&#10;                        &lt;Text style={{ fontSize: 22, fontWeight: 'bold', color: '#FFFFFF' }}&gt;2&lt;/Text&gt;&#10;                    &lt;/Box&gt;&#10;                    &lt;Box style={{ flex: 1 }}&gt;&#10;                        &lt;Text style={{ fontSize: 24, fontWeight: 'bold', color: '#1E3A32' }}&gt;填写你的姓名&lt;/Text&gt;&#10;                        &lt;Text style={{ fontSize: 20, color: '#6B7C75', lineHeight: 1.55, marginTop: 8 }}&gt;&#10;                            填常用的名字就行，不用真名全称，但要固定——今天叫&quot;小王&quot;，明天别叫&quot;王某某&quot;，否则系统认不出是同一个人，历史记录会断成两截。&#10;                        &lt;/Text&gt;&#10;                    &lt;/Box&gt;&#10;                &lt;/Box&gt;&#10;            &lt;/Box&gt;&#10;&#10;            &lt;Box style={{&#10;                marginTop: 'auto', background: 'rgba(31,122,92,0.08)', borderRadius: 14, padding: 18,&#10;                flexDirection: 'row', gap: 14, alignItems: 'center',&#10;            }}&gt;&#10;                &lt;FAIcon name='info-circle' style={{ fill: '#1F7A5C', width: 26, height: 26 }} /&gt;&#10;                &lt;Text style={{ fontSize: 20, color: '#1E3A32', lineHeight: 1.5, flex: 1 }}&gt;&#10;                    身份存在这台设备的浏览器里，换手机、换浏览器或清了缓存，需要重新填一次。&#10;                &lt;/Text&gt;&#10;            &lt;/Box&gt;&#10;        &lt;/Box&gt;&#10;&#10;        &lt;Box style={{ flex: 1 }}&gt;&#10;            &lt;svg width=&quot;448&quot; height=&quot;528&quot; viewBox=&quot;0 0 448 528&quot;&gt;&#10;                &lt;rect x=&quot;74&quot; y=&quot;56&quot; width=&quot;300&quot; height=&quot;76&quot; rx=&quot;16&quot; fill=&quot;#1F7A5C&quot; /&gt;&#10;                &lt;text x=&quot;118&quot; y=&quot;102&quot; fontSize=&quot;26&quot; fontWeight=&quot;bold&quot; fill=&quot;#FFFFFF&quot; fontFamily=&quot;PingFang SC&quot;&gt;1  选择你的团队&lt;/text&gt;&#10;&#10;                &lt;path d=&quot;M224 148 L224 188&quot; stroke=&quot;#A8D5BA&quot; strokeWidth=&quot;4&quot; /&gt;&#10;                &lt;path d=&quot;M214 180 L224 196 L234 180 Z&quot; fill=&quot;#A8D5BA&quot; /&gt;&#10;&#10;                &lt;rect x=&quot;74&quot; y=&quot;196&quot; width=&quot;300&quot; height=&quot;76&quot; rx=&quot;16&quot; fill=&quot;#1F7A5C&quot; opacity=&quot;0.8&quot; /&gt;&#10;                &lt;text x=&quot;118&quot; y=&quot;242&quot; fontSize=&quot;26&quot; fontWeight=&quot;bold&quot; fill=&quot;#FFFFFF&quot; fontFamily=&quot;PingFang SC&quot;&gt;2  填写你的姓名&lt;/text&gt;&#10;&#10;                &lt;path d=&quot;M224 288 L224 328&quot; stroke=&quot;#A8D5BA&quot; strokeWidth=&quot;4&quot; /&gt;&#10;                &lt;path d=&quot;M214 320 L224 336 L234 320 Z&quot; fill=&quot;#A8D5BA&quot; /&gt;&#10;&#10;                &lt;rect x=&quot;74&quot; y=&quot;336&quot; width=&quot;300&quot; height=&quot;76&quot; rx=&quot;16&quot; fill=&quot;#E08A3C&quot; /&gt;&#10;                &lt;text x=&quot;118&quot; y=&quot;382&quot; fontSize=&quot;26&quot; fontWeight=&quot;bold&quot; fill=&quot;#FFFFFF&quot; fontFamily=&quot;PingFang SC&quot;&gt;3  进入首页开始提问&lt;/text&gt;&#10;&#10;                &lt;rect x=&quot;74&quot; y=&quot;440&quot; width=&quot;300&quot; height=&quot;72&quot; rx=&quot;14&quot; fill=&quot;rgba(31,122,92,0.1)&quot; /&gt;&#10;                &lt;text x=&quot;224&quot; y=&quot;470&quot; textAnchor=&quot;middle&quot; fontSize=&quot;19&quot; fill=&quot;#1E3A32&quot; fontFamily=&quot;PingFang SC&quot;&gt;身份保存在本机浏览器&lt;/text&gt;&#10;                &lt;text x=&quot;224&quot; y=&quot;496&quot; textAnchor=&quot;middle&quot; fontSize=&quot;19&quot; fill=&quot;#6B7C75&quot; fontFamily=&quot;PingFang SC&quot;&gt;换设备后需要重填&lt;/text&gt;&#10;            &lt;/svg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04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第一次使用：两步进门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62865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先选团队，再填姓名，两步就进去了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85800" y="1790700"/>
            <a:ext cx="6286500" cy="18002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876300" y="19812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028700" y="20669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466850" y="1981200"/>
            <a:ext cx="5314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选择你所在的团队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466850" y="2333625"/>
            <a:ext cx="53149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团队名单由公司统一配置，只能从下拉列表里选。列表里没有你的团队时，找管理员加，不要随便选一个——你问过的内容会归到团队名下，选错就统计错了。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85800" y="3781425"/>
            <a:ext cx="6286500" cy="18002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876300" y="39719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028700" y="405765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466850" y="3971925"/>
            <a:ext cx="5314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填写你的姓名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466850" y="4324350"/>
            <a:ext cx="53149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填常用的名字就行，不用真名全称，但要固定——今天叫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小王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，明天别叫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王某某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，否则系统认不出是同一个人，历史记录会断成两截。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85800" y="5581650"/>
            <a:ext cx="6286500" cy="1028700"/>
          </a:xfrm>
          <a:prstGeom prst="roundRect">
            <a:avLst>
              <a:gd name="adj" fmla="val 12963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pic>
        <p:nvPicPr>
          <p:cNvPr id="2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5972175"/>
            <a:ext cx="247650" cy="247650"/>
          </a:xfrm>
          <a:prstGeom prst="rect">
            <a:avLst/>
          </a:prstGeom>
          <a:ln/>
        </p:spPr>
      </p:pic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238250" y="5753100"/>
            <a:ext cx="55626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身份存在这台设备的浏览器里，换手机、换浏览器或清了缓存，需要重新填一次。</a:t>
            </a:r>
            <a:endParaRPr/>
          </a:p>
        </p:txBody>
      </p:sp>
      <p:pic>
        <p:nvPicPr>
          <p:cNvPr id="2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239000" y="1143000"/>
            <a:ext cx="4267200" cy="5029200"/>
          </a:xfrm>
          <a:prstGeom prst="rect">
            <a:avLst/>
          </a:prstGeom>
          <a:ln/>
        </p:spPr>
      </p:pic>
      <p:pic>
        <p:nvPicPr>
          <p:cNvPr id="2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30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首页四大区域&lt;/Text&gt;&#10;        &lt;Box style={{ width: 56, height: 4, borderRadius: 2, background: '#1F7A5C', marginTop: 8 }} /&gt;&#10;    &lt;/Box&gt;&#10;&#10;    &lt;Box style={{ height: 528, flexDirection: 'row', gap: 28 }}&gt;&#10;        &lt;Box style={{ width: 330, justifyContent: 'center' }}&gt;&#10;            &lt;Text style={{ fontSize: 180, fontWeight: 'bold', color: '#E08A3C', lineHeight: 1, letterSpacing: -4 }}&gt;4&lt;/Text&gt;&#10;            &lt;Text style={{ fontSize: 30, fontWeight: 'bold', color: '#1E3A32', marginTop: 14 }}&gt;大区域&lt;/Text&gt;&#10;            &lt;Text style={{ fontSize: 20, color: '#6B7C75', lineHeight: 1.55, marginTop: 14 }}&gt;&#10;                认全这四块，&lt;br /&gt;首页就永远不会迷路&#10;            &lt;/Text&gt;&#10;        &lt;/Box&gt;&#10;&#10;        &lt;Box style={{ flex: 1, gap: 16 }}&gt;&#10;            &lt;Box style={{&#10;                flexDirection: 'row', gap: 18, background: '#FFFFFF', borderRadius: 14,&#10;                padding: 18, boxShadow: '0 4px 20px rgba(30,58,50,0.08)', height: 118,&#10;            }}&gt;&#10;                &lt;Box style={{ width: 46, height: 46, borderRadius: 23, background: '#1F7A5C', justifyContent: 'center', alignItems: 'center' }}&gt;&#10;                    &lt;FAIcon name='newspaper' style={{ fill: '#FFFFFF', width: 24, height: 24 }} /&gt;&#10;                &lt;/Box&gt;&#10;                &lt;Box style={{ flex: 1, justifyContent: 'center' }}&gt;&#10;                    &lt;Text style={{ fontSize: 25, fontWeight: 'bold', color: '#1E3A32' }}&gt;顶部轮播 · 精选资讯&lt;/Text&gt;&#10;                    &lt;Text style={{ fontSize: 19, color: '#6B7C75', lineHeight: 1.5, marginTop: 6 }}&gt;&#10;                        首页最上面会自动滚动的重点内容。不用逐条点开，先扫标题，看到和手头工作相关的再进去细看。&#10;                    &lt;/Text&gt;&#10;                &lt;/Box&gt;&#10;            &lt;/Box&gt;&#10;&#10;            &lt;Box style={{&#10;                flexDirection: 'row', gap: 18, background: '#FFFFFF', borderRadius: 14,&#10;                padding: 18, boxShadow: '0 4px 20px rgba(30,58,50,0.08)', height: 110,&#10;            }}&gt;&#10;                &lt;Box style={{ width: 46, height: 46, borderRadius: 23, background: '#1F7A5C', justifyContent: 'center', alignItems: 'center' }}&gt;&#10;                    &lt;FAIcon name='th-large' style={{ fill: '#FFFFFF', width: 24, height: 24 }} /&gt;&#10;                &lt;/Box&gt;&#10;                &lt;Box style={{ flex: 1, justifyContent: 'center' }}&gt;&#10;                    &lt;Text style={{ fontSize: 25, fontWeight: 'bold', color: '#1E3A32' }}&gt;快捷功能四个按钮&lt;/Text&gt;&#10;                    &lt;Text style={{ fontSize: 19, color: '#6B7C75', lineHeight: 1.5, marginTop: 6 }}&gt;&#10;                        四个入口对应四类常见需求。不知道从哪问起的时候，先点一个，比对着空输入框发呆强。&#10;                    &lt;/Text&gt;&#10;                &lt;/Box&gt;&#10;            &lt;/Box&gt;&#10;&#10;            &lt;Box style={{&#10;                flexDirection: 'row', gap: 18, background: '#FFFFFF', borderRadius: 14,&#10;                padding: 18, boxShadow: '0 4px 20px rgba(30,58,50,0.08)', height: 126,&#10;            }}&gt;&#10;                &lt;Box style={{ width: 46, height: 46, borderRadius: 23, background: '#1F7A5C', justifyContent: 'center', alignItems: 'center' }}&gt;&#10;                    &lt;FAIcon name='lightbulb' style={{ fill: '#FFFFFF', width: 24, height: 24 }} /&gt;&#10;                &lt;/Box&gt;&#10;                &lt;Box style={{ flex: 1, justifyContent: 'center' }}&gt;&#10;                    &lt;Text style={{ fontSize: 25, fontWeight: 'bold', color: '#1E3A32' }}&gt;示例问题 · 不知道怎么问？试试这些&lt;/Text&gt;&#10;                    &lt;Text style={{ fontSize: 19, color: '#6B7C75', lineHeight: 1.5, marginTop: 6 }}&gt;&#10;                        系统准备好的现成问句，点一下就直接发出去。第一次用的人从这里开始最省事，问过一次就知道该怎么写。&#10;                    &lt;/Text&gt;&#10;                &lt;/Box&gt;&#10;            &lt;/Box&gt;&#10;&#10;            &lt;Box style={{&#10;                flexDirection: 'row', gap: 18, background: 'rgba(224,138,60,0.14)', borderRadius: 14,&#10;                padding: 18, height: 118,&#10;            }}&gt;&#10;                &lt;Box style={{ width: 46, height: 46, borderRadius: 23, background: '#E08A3C', justifyContent: 'center', alignItems: 'center' }}&gt;&#10;                    &lt;FAIcon name='keyboard' style={{ fill: '#FFFFFF', width: 24, height: 24 }} /&gt;&#10;                &lt;/Box&gt;&#10;                &lt;Box style={{ flex: 1, justifyContent: 'center' }}&gt;&#10;                    &lt;Text style={{ fontSize: 25, fontWeight: 'bold', color: '#1E3A32' }}&gt;聊天输入区&lt;/Text&gt;&#10;                    &lt;Text style={{ fontSize: 19, color: '#6B7C75', lineHeight: 1.5, marginTop: 6 }}&gt;&#10;                        想问什么直接打字发送。公司开了语音功能时，右边会出现麦克风，按住说话也能变成文字。&#10;                    &lt;/Text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05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首页四大区域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85800" y="1971675"/>
            <a:ext cx="3143250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 spc="-300">
                <a:solidFill>
                  <a:srgbClr val="E08A3C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85800" y="4162425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大区域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3143250" cy="7143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认全这四块，</a:t>
            </a:r>
            <a:endParaRPr/>
          </a:p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首页就永远不会迷路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4095750" y="1143000"/>
            <a:ext cx="741045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4267200" y="13144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2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71975" y="1419225"/>
            <a:ext cx="228600" cy="228600"/>
          </a:xfrm>
          <a:prstGeom prst="rect">
            <a:avLst/>
          </a:prstGeom>
          <a:ln/>
        </p:spPr>
      </p:pic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876800" y="1314450"/>
            <a:ext cx="64579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顶部轮播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精选资讯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876800" y="1657350"/>
            <a:ext cx="6457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首页最上面会自动滚动的重点内容。不用逐条点开，先扫标题，看到和手头工作相关的再进去细看。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4095750" y="2419350"/>
            <a:ext cx="74104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4267200" y="25908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2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371975" y="2695575"/>
            <a:ext cx="228600" cy="228600"/>
          </a:xfrm>
          <a:prstGeom prst="rect">
            <a:avLst/>
          </a:prstGeom>
          <a:ln/>
        </p:spPr>
      </p:pic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876800" y="2590800"/>
            <a:ext cx="64579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快捷功能四个按钮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876800" y="2933700"/>
            <a:ext cx="6457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四个入口对应四类常见需求。不知道从哪问起的时候，先点一个，比对着空输入框发呆强。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4095750" y="3619500"/>
            <a:ext cx="7410450" cy="12001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4267200" y="37909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2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371975" y="3895725"/>
            <a:ext cx="228600" cy="228600"/>
          </a:xfrm>
          <a:prstGeom prst="rect">
            <a:avLst/>
          </a:prstGeom>
          <a:ln/>
        </p:spPr>
      </p:pic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876800" y="3790950"/>
            <a:ext cx="64579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示例问题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不知道怎么问？试试这些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876800" y="4133850"/>
            <a:ext cx="6457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系统准备好的现成问句，点一下就直接发出去。第一次用的人从这里开始最省事，问过一次就知道该怎么写。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4095750" y="4972050"/>
            <a:ext cx="7410450" cy="1123950"/>
          </a:xfrm>
          <a:prstGeom prst="roundRect">
            <a:avLst>
              <a:gd name="adj" fmla="val 11864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4267200" y="51435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pic>
        <p:nvPicPr>
          <p:cNvPr id="2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371975" y="5248275"/>
            <a:ext cx="228600" cy="228600"/>
          </a:xfrm>
          <a:prstGeom prst="rect">
            <a:avLst/>
          </a:prstGeom>
          <a:ln/>
        </p:spPr>
      </p:pic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876800" y="5143500"/>
            <a:ext cx="64579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聊天输入区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4876800" y="5486400"/>
            <a:ext cx="6457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想问什么直接打字发送。公司开了语音功能时，右边会出现麦克风，按住说话也能变成文字。</a:t>
            </a:r>
            <a:endParaRPr/>
          </a:p>
        </p:txBody>
      </p:sp>
      <p:pic>
        <p:nvPicPr>
          <p:cNvPr id="2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60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快捷功能怎么挑&lt;/Text&gt;&#10;        &lt;Box style={{ width: 56, height: 4, borderRadius: 2, background: '#1F7A5C', marginTop: 8 }} /&gt;&#10;    &lt;/Box&gt;&#10;&#10;    &lt;Box style={{ height: 528, flexDirection: 'row', gap: 28 }}&gt;&#10;        &lt;Box style={{ width: 310 }}&gt;&#10;            &lt;Text style={{ fontSize: 26, fontWeight: 'bold', color: '#1F7A5C', lineHeight: 1.45 }}&gt;&#10;                四个按钮，&lt;br /&gt;对应四种&quot;我现在想干嘛&quot;&#10;            &lt;/Text&gt;&#10;            &lt;Text style={{ fontSize: 20, color: '#6B7C75', lineHeight: 1.6, marginTop: 20 }}&gt;&#10;                选错了不会出错，只是答案会偏一点。判断标准只有一个：你现在是想知道&quot;是什么&quot;，还是想知道&quot;怎么用&quot;，还是想&quot;写点东西发出去&quot;。&#10;            &lt;/Text&gt;&#10;            &lt;Box style={{&#10;                marginTop: 24, background: 'rgba(31,122,92,0.08)', borderRadius: 14, padding: 16,&#10;            }}&gt;&#10;                &lt;Text style={{ fontSize: 19, color: '#1E3A32', lineHeight: 1.55 }}&gt;&#10;                    快捷入口只是帮你开个头，进去之后照样可以随便改问题。&#10;                &lt;/Text&gt;&#10;            &lt;/Box&gt;&#10;        &lt;/Box&gt;&#10;&#10;        &lt;Box style={{ flex: 1, gap: 12 }}&gt;&#10;            &lt;Box style={{&#10;                flexDirection: 'row', gap: 18, alignItems: 'center', background: '#FFFFFF',&#10;                borderRadius: 14, padding: 18, height: 114, boxShadow: '0 4px 20px rgba(30,58,50,0.08)',&#10;            }}&gt;&#10;                &lt;Box style={{ width: 52, height: 52, borderRadius: 26, background: 'rgba(31,122,92,0.1)', justifyContent: 'center', alignItems: 'center' }}&gt;&#10;                    &lt;FAIcon name='box' style={{ fill: '#1F7A5C', width: 28, height: 28 }} /&gt;&#10;                &lt;/Box&gt;&#10;                &lt;Box style={{ flex: 1 }}&gt;&#10;                    &lt;Text style={{ fontSize: 25, fontWeight: 'bold', color: '#1E3A32' }}&gt;产品资料查询&lt;/Text&gt;&#10;                    &lt;Text style={{ fontSize: 19, color: '#1F7A5C', lineHeight: 1.45, marginTop: 4 }}&gt;&#10;                        想知道&quot;是什么&quot;就点它 —— 了解产品特点、适合什么人，先把底子打清楚&#10;                    &lt;/Text&gt;&#10;                &lt;/Box&gt;&#10;            &lt;/Box&gt;&#10;&#10;            &lt;Box style={{&#10;                flexDirection: 'row', gap: 18, alignItems: 'center', background: '#FFFFFF',&#10;                borderRadius: 14, padding: 18, height: 114, boxShadow: '0 4px 20px rgba(30,58,50,0.08)',&#10;            }}&gt;&#10;                &lt;Box style={{ width: 52, height: 52, borderRadius: 26, background: 'rgba(31,122,92,0.1)', justifyContent: 'center', alignItems: 'center' }}&gt;&#10;                    &lt;FAIcon name='question-circle' style={{ fill: '#1F7A5C', width: 28, height: 28 }} /&gt;&#10;                &lt;/Box&gt;&#10;                &lt;Box style={{ flex: 1 }}&gt;&#10;                    &lt;Text style={{ fontSize: 25, fontWeight: 'bold', color: '#1E3A32' }}&gt;产品使用答疑&lt;/Text&gt;&#10;                    &lt;Text style={{ fontSize: 19, color: '#1F7A5C', lineHeight: 1.45, marginTop: 4 }}&gt;&#10;                        想知道&quot;怎么用&quot;就点它 —— 问用法、问时间、问注意事项，这一路最顺&#10;                    &lt;/Text&gt;&#10;                &lt;/Box&gt;&#10;            &lt;/Box&gt;&#10;&#10;            &lt;Box style={{&#10;                flexDirection: 'row', gap: 18, alignItems: 'center', background: '#FFFFFF',&#10;                borderRadius: 14, padding: 18, height: 114, boxShadow: '0 4px 20px rgba(30,58,50,0.08)',&#10;            }}&gt;&#10;                &lt;Box style={{ width: 52, height: 52, borderRadius: 26, background: 'rgba(31,122,92,0.1)', justifyContent: 'center', alignItems: 'center' }}&gt;&#10;                    &lt;FAIcon name='share' style={{ fill: '#1F7A5C', width: 28, height: 28 }} /&gt;&#10;                &lt;/Box&gt;&#10;                &lt;Box style={{ flex: 1 }}&gt;&#10;                    &lt;Text style={{ fontSize: 25, fontWeight: 'bold', color: '#1E3A32' }}&gt;朋友圈帮写&lt;/Text&gt;&#10;                    &lt;Text style={{ fontSize: 19, color: '#1F7A5C', lineHeight: 1.45, marginTop: 4 }}&gt;&#10;                        想发一条朋友圈就点它 —— 把卖点写成能直接发出去的一段话&#10;                    &lt;/Text&gt;&#10;                &lt;/Box&gt;&#10;            &lt;/Box&gt;&#10;&#10;            &lt;Box style={{&#10;                flexDirection: 'row', gap: 18, alignItems: 'center', background: 'rgba(224,138,60,0.14)',&#10;                borderRadius: 14, padding: 18, height: 114,&#10;            }}&gt;&#10;                &lt;Box style={{ width: 52, height: 52, borderRadius: 26, background: '#E08A3C', justifyContent: 'center', alignItems: 'center' }}&gt;&#10;                    &lt;FAIcon name='microphone' style={{ fill: '#FFFFFF', width: 28, height: 28 }} /&gt;&#10;                &lt;/Box&gt;&#10;                &lt;Box style={{ flex: 1 }}&gt;&#10;                    &lt;Text style={{ fontSize: 25, fontWeight: 'bold', color: '#1E3A32' }}&gt;口播文案帮写&lt;/Text&gt;&#10;                    &lt;Text style={{ fontSize: 19, color: '#C9742B', lineHeight: 1.45, marginTop: 4 }}&gt;&#10;                        想说给别人听就点它 —— 整理成能照着念的稿子，拍视频直播都能用&#10;                    &lt;/Text&gt;&#10;                &lt;/Box&gt;&#10;            &lt;/Box&gt;&#10;&#10;            &lt;Box style={{ height: 36, justifyContent: 'center', alignItems: 'center' }}&gt;&#10;                &lt;Text style={{ fontSize: 19, color: '#6B7C75' }}&gt;&#10;                    拿不准就先点第一个 —— 试错成本是零，点错了退出重来就行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06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快捷功能怎么挑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5275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四个按钮，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对应四种</a:t>
            </a:r>
            <a:r>
              <a:rPr lang="en-US" sz="1950" b="1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我现在想干嘛</a:t>
            </a:r>
            <a:r>
              <a:rPr lang="en-US" sz="1950" b="1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85800" y="2200275"/>
            <a:ext cx="29527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选错了不会出错，只是答案会偏一点。判断标准只有一个：你现在是想知道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是什么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，还是想知道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怎么用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，还是想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写点东西发出去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85800" y="3895725"/>
            <a:ext cx="2952750" cy="981075"/>
          </a:xfrm>
          <a:prstGeom prst="roundRect">
            <a:avLst>
              <a:gd name="adj" fmla="val 1359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38200" y="4048125"/>
            <a:ext cx="26479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快捷入口只是帮你开个头，进去之后照样可以随便改问题。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905250" y="1143000"/>
            <a:ext cx="7600950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4076700" y="143827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F7A5C">
              <a:alpha val="10000"/>
            </a:srgbClr>
          </a:solidFill>
          <a:ln/>
        </p:spPr>
        <p:txBody>
          <a:bodyPr/>
          <a:p/>
        </p:txBody>
      </p:sp>
      <p:pic>
        <p:nvPicPr>
          <p:cNvPr id="2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91000" y="1552575"/>
            <a:ext cx="266700" cy="266700"/>
          </a:xfrm>
          <a:prstGeom prst="rect">
            <a:avLst/>
          </a:prstGeom>
          <a:ln/>
        </p:spPr>
      </p:pic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743450" y="1362075"/>
            <a:ext cx="6591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产品资料查询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743450" y="1685925"/>
            <a:ext cx="65913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想知道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是什么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就点它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了解产品特点、适合什么人，先把底子打清楚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3905250" y="2343150"/>
            <a:ext cx="7600950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4076700" y="26384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F7A5C">
              <a:alpha val="10000"/>
            </a:srgbClr>
          </a:solidFill>
          <a:ln/>
        </p:spPr>
        <p:txBody>
          <a:bodyPr/>
          <a:p/>
        </p:txBody>
      </p:sp>
      <p:pic>
        <p:nvPicPr>
          <p:cNvPr id="2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191000" y="2752725"/>
            <a:ext cx="266700" cy="266700"/>
          </a:xfrm>
          <a:prstGeom prst="rect">
            <a:avLst/>
          </a:prstGeom>
          <a:ln/>
        </p:spPr>
      </p:pic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743450" y="2562225"/>
            <a:ext cx="6591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产品使用答疑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743450" y="2886075"/>
            <a:ext cx="65913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想知道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怎么用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就点它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问用法、问时间、问注意事项，这一路最顺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3905250" y="3543300"/>
            <a:ext cx="7600950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4076700" y="383857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F7A5C">
              <a:alpha val="10000"/>
            </a:srgbClr>
          </a:solidFill>
          <a:ln/>
        </p:spPr>
        <p:txBody>
          <a:bodyPr/>
          <a:p/>
        </p:txBody>
      </p:sp>
      <p:pic>
        <p:nvPicPr>
          <p:cNvPr id="2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191000" y="3952875"/>
            <a:ext cx="266700" cy="266700"/>
          </a:xfrm>
          <a:prstGeom prst="rect">
            <a:avLst/>
          </a:prstGeom>
          <a:ln/>
        </p:spPr>
      </p:pic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743450" y="3762375"/>
            <a:ext cx="6591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朋友圈帮写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743450" y="4086225"/>
            <a:ext cx="65913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想发一条朋友圈就点它</a:t>
            </a:r>
            <a:r>
              <a:rPr lang="en-US" sz="1425">
                <a:solidFill>
                  <a:srgbClr val="1F7A5C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把卖点写成能直接发出去的一段话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3905250" y="4743450"/>
            <a:ext cx="7600950" cy="1085850"/>
          </a:xfrm>
          <a:prstGeom prst="roundRect">
            <a:avLst>
              <a:gd name="adj" fmla="val 12281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4076700" y="50387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pic>
        <p:nvPicPr>
          <p:cNvPr id="2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191000" y="5153025"/>
            <a:ext cx="266700" cy="266700"/>
          </a:xfrm>
          <a:prstGeom prst="rect">
            <a:avLst/>
          </a:prstGeom>
          <a:ln/>
        </p:spPr>
      </p:pic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743450" y="4962525"/>
            <a:ext cx="6591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口播文案帮写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743450" y="5286375"/>
            <a:ext cx="65913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想说给别人听就点它</a:t>
            </a:r>
            <a:r>
              <a:rPr lang="en-US" sz="1425">
                <a:solidFill>
                  <a:srgbClr val="C9742B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整理成能照着念的稿子，拍视频直播都能用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210175" y="6010275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拿不准就先点第一个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试错成本是零，点错了退出重来就行</a:t>
            </a:r>
            <a:endParaRPr/>
          </a:p>
        </p:txBody>
      </p:sp>
      <p:pic>
        <p:nvPicPr>
          <p:cNvPr id="2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92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一次完整问答的五步&lt;/Text&gt;&#10;        &lt;Box style={{ width: 56, height: 4, borderRadius: 2, background: '#1F7A5C', marginTop: 8 }} /&gt;&#10;    &lt;/Box&gt;&#10;&#10;    &lt;Box style={{ height: 528 }}&gt;&#10;        &lt;Box style={{ height: 300, background: '#FFFFFF', borderRadius: 14, padding: 16, boxShadow: '0 4px 20px rgba(30,58,50,0.08)' }}&gt;&#10;            &lt;svg width=&quot;1104&quot; height=&quot;268&quot; viewBox=&quot;0 0 1104 268&quot;&gt;&#10;                &lt;rect x=&quot;14&quot; y=&quot;72&quot; width=&quot;182&quot; height=&quot;92&quot; rx=&quot;16&quot; fill=&quot;#1F7A5C&quot; /&gt;&#10;                &lt;text x=&quot;105&quot; y=&quot;112&quot; textAnchor=&quot;middle&quot; fontSize=&quot;24&quot; fontWeight=&quot;bold&quot; fill=&quot;#FFFFFF&quot; fontFamily=&quot;PingFang SC&quot;&gt;1 输入问题&lt;/text&gt;&#10;                &lt;text x=&quot;105&quot; y=&quot;142&quot; textAnchor=&quot;middle&quot; fontSize=&quot;18&quot; fill=&quot;#FFFFFF&quot; opacity=&quot;0.85&quot; fontFamily=&quot;PingFang SC&quot;&gt;像聊天一样打一句话&lt;/text&gt;&#10;&#10;                &lt;path d=&quot;M204 118 L228 118&quot; stroke=&quot;#A8D5BA&quot; strokeWidth=&quot;4&quot; /&gt;&#10;                &lt;path d=&quot;M220 110 L232 118 L220 126 Z&quot; fill=&quot;#A8D5BA&quot; /&gt;&#10;&#10;                &lt;rect x=&quot;240&quot; y=&quot;72&quot; width=&quot;182&quot; height=&quot;92&quot; rx=&quot;16&quot; fill=&quot;rgba(168,213,186,0.5)&quot; /&gt;&#10;                &lt;text x=&quot;331&quot; y=&quot;112&quot; textAnchor=&quot;middle&quot; fontSize=&quot;24&quot; fontWeight=&quot;bold&quot; fill=&quot;#1E3A32&quot; fontFamily=&quot;PingFang SC&quot;&gt;2 等它说完&lt;/text&gt;&#10;                &lt;text x=&quot;331&quot; y=&quot;142&quot; textAnchor=&quot;middle&quot; fontSize=&quot;18&quot; fill=&quot;#1E3A32&quot; opacity=&quot;0.75&quot; fontFamily=&quot;PingFang SC&quot;&gt;文字是一段段出来的&lt;/text&gt;&#10;&#10;                &lt;path d=&quot;M430 118 L454 118&quot; stroke=&quot;#A8D5BA&quot; strokeWidth=&quot;4&quot; /&gt;&#10;                &lt;path d=&quot;M446 110 L458 118 L446 126 Z&quot; fill=&quot;#A8D5BA&quot; /&gt;&#10;&#10;                &lt;rect x=&quot;466&quot; y=&quot;72&quot; width=&quot;182&quot; height=&quot;92&quot; rx=&quot;16&quot; fill=&quot;rgba(168,213,186,0.5)&quot; /&gt;&#10;                &lt;text x=&quot;557&quot; y=&quot;112&quot; textAnchor=&quot;middle&quot; fontSize=&quot;24&quot; fontWeight=&quot;bold&quot; fill=&quot;#1E3A32&quot; fontFamily=&quot;PingFang SC&quot;&gt;3 先看结论&lt;/text&gt;&#10;                &lt;text x=&quot;557&quot; y=&quot;142&quot; textAnchor=&quot;middle&quot; fontSize=&quot;18&quot; fill=&quot;#1E3A32&quot; opacity=&quot;0.75&quot; fontFamily=&quot;PingFang SC&quot;&gt;结论通常在最前面&lt;/text&gt;&#10;&#10;                &lt;path d=&quot;M656 118 L680 118&quot; stroke=&quot;#A8D5BA&quot; strokeWidth=&quot;4&quot; /&gt;&#10;                &lt;path d=&quot;M672 110 L684 118 L672 126 Z&quot; fill=&quot;#A8D5BA&quot; /&gt;&#10;&#10;                &lt;rect x=&quot;692&quot; y=&quot;72&quot; width=&quot;182&quot; height=&quot;92&quot; rx=&quot;16&quot; fill=&quot;#1F7A5C&quot; /&gt;&#10;                &lt;text x=&quot;783&quot; y=&quot;112&quot; textAnchor=&quot;middle&quot; fontSize=&quot;24&quot; fontWeight=&quot;bold&quot; fill=&quot;#FFFFFF&quot; fontFamily=&quot;PingFang SC&quot;&gt;4 看相关案例&lt;/text&gt;&#10;                &lt;text x=&quot;783&quot; y=&quot;142&quot; textAnchor=&quot;middle&quot; fontSize=&quot;18&quot; fill=&quot;#FFFFFF&quot; opacity=&quot;0.85&quot; fontFamily=&quot;PingFang SC&quot;&gt;回答下方自动推荐&lt;/text&gt;&#10;&#10;                &lt;path d=&quot;M882 118 L906 118&quot; stroke=&quot;#A8D5BA&quot; strokeWidth=&quot;4&quot; /&gt;&#10;                &lt;path d=&quot;M898 110 L910 118 L898 126 Z&quot; fill=&quot;#A8D5BA&quot; /&gt;&#10;&#10;                &lt;rect x=&quot;918&quot; y=&quot;72&quot; width=&quot;182&quot; height=&quot;92&quot; rx=&quot;16&quot; fill=&quot;#E08A3C&quot; /&gt;&#10;                &lt;text x=&quot;1009&quot; y=&quot;112&quot; textAnchor=&quot;middle&quot; fontSize=&quot;24&quot; fontWeight=&quot;bold&quot; fill=&quot;#FFFFFF&quot; fontFamily=&quot;PingFang SC&quot;&gt;5 继续追问&lt;/text&gt;&#10;                &lt;text x=&quot;1009&quot; y=&quot;142&quot; textAnchor=&quot;middle&quot; fontSize=&quot;18&quot; fill=&quot;#FFFFFF&quot; opacity=&quot;0.9&quot; fontFamily=&quot;PingFang SC&quot;&gt;没看懂就换个问法&lt;/text&gt;&#10;&#10;                &lt;text x=&quot;105&quot; y=&quot;212&quot; textAnchor=&quot;middle&quot; fontSize=&quot;17&quot; fill=&quot;#6B7C75&quot; fontFamily=&quot;PingFang SC&quot;&gt;别追求一次问对&lt;/text&gt;&#10;                &lt;text x=&quot;331&quot; y=&quot;212&quot; textAnchor=&quot;middle&quot; fontSize=&quot;17&quot; fill=&quot;#6B7C75&quot; fontFamily=&quot;PingFang SC&quot;&gt;中途别打断&lt;/text&gt;&#10;                &lt;text x=&quot;557&quot; y=&quot;212&quot; textAnchor=&quot;middle&quot; fontSize=&quot;17&quot; fill=&quot;#6B7C75&quot; fontFamily=&quot;PingFang SC&quot;&gt;先看结论再看细节&lt;/text&gt;&#10;                &lt;text x=&quot;783&quot; y=&quot;212&quot; textAnchor=&quot;middle&quot; fontSize=&quot;17&quot; fill=&quot;#6B7C75&quot; fontFamily=&quot;PingFang SC&quot;&gt;案例是答案的补充&lt;/text&gt;&#10;                &lt;text x=&quot;1009&quot; y=&quot;212&quot; textAnchor=&quot;middle&quot; fontSize=&quot;17&quot; fill=&quot;#6B7C75&quot; fontFamily=&quot;PingFang SC&quot;&gt;追问才是关键一步&lt;/text&gt;&#10;            &lt;/svg&gt;&#10;        &lt;/Box&gt;&#10;&#10;        &lt;Box style={{&#10;            height: 214, marginTop: 14, flexDirection: 'row', gap: 20,&#10;            background: 'rgba(31,122,92,0.08)', borderRadius: 14, padding: 24,&#10;        }}&gt;&#10;            &lt;Box style={{ flex: 1, gap: 14 }}&gt;&#10;                &lt;Box style={{ flexDirection: 'row', gap: 14, alignItems: 'flex-start' }}&gt;&#10;                    &lt;FAIcon name='exclamation-circle' style={{ fill: '#E08A3C', width: 26, height: 26 }} /&gt;&#10;                    &lt;Text style={{ fontSize: 20, color: '#1E3A32', lineHeight: 1.55, flex: 1 }}&gt;&#10;                        第 3 步和第 5 步最容易被跳过。很多人只看第一屏就走了，其实回答下方的相关案例，往往才是真正贴合你情况的那部分内容。&#10;                    &lt;/Text&gt;&#10;                &lt;/Box&gt;&#10;                &lt;Box style={{ flexDirection: 'row', gap: 14, alignItems: 'flex-start' }}&gt;&#10;                    &lt;FAIcon name='exclamation-circle' style={{ fill: '#E08A3C', width: 26, height: 26 }} /&gt;&#10;                    &lt;Text style={{ fontSize: 20, color: '#1E3A32', lineHeight: 1.55, flex: 1 }}&gt;&#10;                        回答是分段生成的，等它写完再提问；中途打断，你拿到的是半截答案，还得再问一遍。&#10;                    &lt;/Text&gt;&#10;                &lt;/Box&gt;&#10;            &lt;/Box&gt;&#10;&#10;            &lt;Box style={{&#10;                width: 330, background: '#FFFFFF', borderRadius: 14, padding: 18, justifyContent: 'center',&#10;            }}&gt;&#10;                &lt;Text style={{ fontSize: 22, fontWeight: 'bold', color: '#1F7A5C', lineHeight: 1.5 }}&gt;&#10;                    五步走完，一次问答才算真的完成&#10;                &lt;/Text&gt;&#10;                &lt;Text style={{ fontSize: 19, color: '#6B7C75', lineHeight: 1.55, marginTop: 12 }}&gt;&#10;                    只看回答不追问、不看案例，等于只用了这套系统一半的能力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07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一次完整问答的五步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685800" y="1143000"/>
            <a:ext cx="108204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2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295400"/>
            <a:ext cx="10515600" cy="2552700"/>
          </a:xfrm>
          <a:prstGeom prst="rect">
            <a:avLst/>
          </a:prstGeom>
          <a:ln/>
        </p:spPr>
      </p:pic>
      <p:sp>
        <p:nvSpPr>
          <p:cNvPr id="298" name=""/>
          <p:cNvSpPr/>
          <p:nvPr/>
        </p:nvSpPr>
        <p:spPr>
          <a:xfrm rot="0" flipH="0" flipV="0">
            <a:off x="685800" y="4133850"/>
            <a:ext cx="10820400" cy="2038350"/>
          </a:xfrm>
          <a:prstGeom prst="roundRect">
            <a:avLst>
              <a:gd name="adj" fmla="val 654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pic>
        <p:nvPicPr>
          <p:cNvPr id="2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4362450"/>
            <a:ext cx="247650" cy="247650"/>
          </a:xfrm>
          <a:prstGeom prst="rect">
            <a:avLst/>
          </a:prstGeom>
          <a:ln/>
        </p:spPr>
      </p:pic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295400" y="4362450"/>
            <a:ext cx="66484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3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步和第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5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步最容易被跳过。很多人只看第一屏就走了，其实回答下方的相关案例，往往才是真正贴合你情况的那部分内容。</a:t>
            </a:r>
            <a:endParaRPr/>
          </a:p>
        </p:txBody>
      </p:sp>
      <p:pic>
        <p:nvPicPr>
          <p:cNvPr id="3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5210175"/>
            <a:ext cx="247650" cy="247650"/>
          </a:xfrm>
          <a:prstGeom prst="rect">
            <a:avLst/>
          </a:prstGeom>
          <a:ln/>
        </p:spPr>
      </p:pic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295400" y="5210175"/>
            <a:ext cx="66484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回答是分段生成的，等它写完再提问；中途打断，你拿到的是半截答案，还得再问一遍。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8134350" y="4362450"/>
            <a:ext cx="3143250" cy="1895475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305800" y="4533900"/>
            <a:ext cx="28003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F7A5C"/>
                </a:solidFill>
                <a:latin typeface="Microsoft YaHei"/>
                <a:ea typeface="Microsoft YaHei"/>
              </a:rPr>
              <a:t>五步走完，一次问答才算真的完成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305800" y="5410200"/>
            <a:ext cx="28003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只看回答不追问、不看案例，等于只用了这套系统一半的能力。</a:t>
            </a:r>
            <a:endParaRPr/>
          </a:p>
        </p:txBody>
      </p:sp>
      <p:pic>
        <p:nvPicPr>
          <p:cNvPr id="3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09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四类咨询怎么选&lt;/Text&gt;&#10;        &lt;Box style={{ width: 56, height: 4, borderRadius: 2, background: '#1F7A5C', marginTop: 8 }} /&gt;&#10;    &lt;/Box&gt;&#10;&#10;    &lt;Box style={{ height: 528, flexDirection: 'row', gap: 28 }}&gt;&#10;        &lt;Box style={{ width: 310 }}&gt;&#10;            &lt;Text style={{ fontSize: 26, fontWeight: 'bold', color: '#1F7A5C', lineHeight: 1.45 }}&gt;&#10;                选错类型不会报错，&lt;br /&gt;但答案会偏&#10;            &lt;/Text&gt;&#10;            &lt;Text style={{ fontSize: 20, color: '#6B7C75', lineHeight: 1.6, marginTop: 20 }}&gt;&#10;                问&quot;这个产品是什么&quot;和问&quot;这个产品怎么吃&quot;，走的是两套不同的回答逻辑。选对了，第一轮就能拿到能用的答案；选错了，要多绕两三轮才能问到点上。&#10;            &lt;/Text&gt;&#10;            &lt;Box style={{&#10;                marginTop: 24, background: 'rgba(31,122,92,0.08)', borderRadius: 14, padding: 16,&#10;            }}&gt;&#10;                &lt;Text style={{ fontSize: 19, color: '#1E3A32', lineHeight: 1.55 }}&gt;&#10;                    不确定选哪个时，直接把问题打在输入框里，系统会按内容自己判断。&#10;                &lt;/Text&gt;&#10;            &lt;/Box&gt;&#10;        &lt;/Box&gt;&#10;&#10;        &lt;Box style={{ flex: 1, gap: 12 }}&gt;&#10;            &lt;Box style={{&#10;                flexDirection: 'row', gap: 18, background: '#FFFFFF', borderRadius: 14,&#10;                padding: 18, height: 120, boxShadow: '0 4px 20px rgba(30,58,50,0.08)',&#10;            }}&gt;&#10;                &lt;Box style={{ width: 8, borderRadius: 4, background: '#1F7A5C' }} /&gt;&#10;                &lt;Box style={{ flex: 1, justifyContent: 'center' }}&gt;&#10;                    &lt;Text style={{ fontSize: 25, fontWeight: 'bold', color: '#1E3A32' }}&gt;产品资料查询 · 问&quot;是什么&quot;&lt;/Text&gt;&#10;                    &lt;Text style={{ fontSize: 19, color: '#6B7C75', lineHeight: 1.5, marginTop: 6 }}&gt;&#10;                        想摸清底子：成分、特点、适合人群、和其他产品的区别&#10;                    &lt;/Text&gt;&#10;                    &lt;Text style={{ fontSize: 19, color: '#1F7A5C', lineHeight: 1.5, marginTop: 4 }}&gt;&#10;                        例：这个产品主要适合什么人？和另外一款有什么区别？&#10;                    &lt;/Text&gt;&#10;                &lt;/Box&gt;&#10;            &lt;/Box&gt;&#10;&#10;            &lt;Box style={{&#10;                flexDirection: 'row', gap: 18, background: '#FFFFFF', borderRadius: 14,&#10;                padding: 18, height: 120, boxShadow: '0 4px 20px rgba(30,58,50,0.08)',&#10;            }}&gt;&#10;                &lt;Box style={{ width: 8, borderRadius: 4, background: '#1F7A5C' }} /&gt;&#10;                &lt;Box style={{ flex: 1, justifyContent: 'center' }}&gt;&#10;                    &lt;Text style={{ fontSize: 25, fontWeight: 'bold', color: '#1E3A32' }}&gt;产品使用答疑 · 问&quot;怎么用&quot;&lt;/Text&gt;&#10;                    &lt;Text style={{ fontSize: 19, color: '#6B7C75', lineHeight: 1.5, marginTop: 6 }}&gt;&#10;                        想落地执行：时间、剂量、搭配、注意事项、特殊情况&#10;                    &lt;/Text&gt;&#10;                    &lt;Text style={{ fontSize: 19, color: '#1F7A5C', lineHeight: 1.5, marginTop: 4 }}&gt;&#10;                        例：每天什么时候吃？空腹可以吗？忘了吃要不要补？&#10;                    &lt;/Text&gt;&#10;                &lt;/Box&gt;&#10;            &lt;/Box&gt;&#10;&#10;            &lt;Box style={{&#10;                flexDirection: 'row', gap: 18, background: '#FFFFFF', borderRadius: 14,&#10;                padding: 18, height: 120, boxShadow: '0 4px 20px rgba(30,58,50,0.08)',&#10;            }}&gt;&#10;                &lt;Box style={{ width: 8, borderRadius: 4, background: '#1F7A5C' }} /&gt;&#10;                &lt;Box style={{ flex: 1, justifyContent: 'center' }}&gt;&#10;                    &lt;Text style={{ fontSize: 25, fontWeight: 'bold', color: '#1E3A32' }}&gt;朋友圈帮写 · 问&quot;帮我写&quot;&lt;/Text&gt;&#10;                    &lt;Text style={{ fontSize: 19, color: '#6B7C75', lineHeight: 1.5, marginTop: 6 }}&gt;&#10;                        要一段能直接发出去的文字，重点在语气和长度&#10;                    &lt;/Text&gt;&#10;                    &lt;Text style={{ fontSize: 19, color: '#1F7A5C', lineHeight: 1.5, marginTop: 4 }}&gt;&#10;                        例：帮我写一条介绍这个产品的朋友圈，语气轻松一点，别太硬&#10;                    &lt;/Text&gt;&#10;                &lt;/Box&gt;&#10;            &lt;/Box&gt;&#10;&#10;            &lt;Box style={{&#10;                flexDirection: 'row', gap: 18, background: 'rgba(224,138,60,0.14)', borderRadius: 14,&#10;                padding: 18, height: 120,&#10;            }}&gt;&#10;                &lt;Box style={{ width: 8, borderRadius: 4, background: '#E08A3C' }} /&gt;&#10;                &lt;Box style={{ flex: 1, justifyContent: 'center' }}&gt;&#10;                    &lt;Text style={{ fontSize: 25, fontWeight: 'bold', color: '#1E3A32' }}&gt;口播文案帮写 · 问&quot;帮我说&quot;&lt;/Text&gt;&#10;                    &lt;Text style={{ fontSize: 19, color: '#6B7C75', lineHeight: 1.5, marginTop: 6 }}&gt;&#10;                        要一份能照着念的稿子，重点在口语化和节奏&#10;                    &lt;/Text&gt;&#10;                    &lt;Text style={{ fontSize: 19, color: '#C9742B', lineHeight: 1.5, marginTop: 4 }}&gt;&#10;                        例：把这几个卖点整理成一分钟的口播稿，开头要抓人&#10;                    &lt;/Text&gt;&#10;                &lt;/Box&gt;&#10;            &lt;/Box&gt;&#10;&#10;            &lt;Box style={{ height: 36, justifyContent: 'center' }}&gt;&#10;                &lt;Text style={{ fontSize: 19, color: '#6B7C75' }}&gt;&#10;                    四类入口只是帮你开个好头，进去之后照样可以随便改问题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08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四类咨询怎么选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5275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选错类型不会报错，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但答案会偏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85800" y="2200275"/>
            <a:ext cx="2952750" cy="1828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问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这个产品是什么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和问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这个产品怎么吃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，走的是两套不同的回答逻辑。选对了，第一轮就能拿到能用的答案；选错了，要多绕两三轮才能问到点上。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85800" y="4257675"/>
            <a:ext cx="2952750" cy="1323975"/>
          </a:xfrm>
          <a:prstGeom prst="roundRect">
            <a:avLst>
              <a:gd name="adj" fmla="val 1007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38200" y="4410075"/>
            <a:ext cx="26479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不确定选哪个时，直接把问题打在输入框里，系统会按内容自己判断。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3905250" y="1143000"/>
            <a:ext cx="76009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4076700" y="1314450"/>
            <a:ext cx="76200" cy="800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324350" y="1314450"/>
            <a:ext cx="7010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产品资料查询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问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是什么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324350" y="1657350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想摸清底子：成分、特点、适合人群、和其他产品的区别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例：这个产品主要适合什么人？和另外一款有什么区别？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3905250" y="2400300"/>
            <a:ext cx="76009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4076700" y="2571750"/>
            <a:ext cx="76200" cy="800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324350" y="2571750"/>
            <a:ext cx="7010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产品使用答疑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问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怎么用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324350" y="2914650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想落地执行：时间、剂量、搭配、注意事项、特殊情况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324350" y="3286125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例：每天什么时候吃？空腹可以吗？忘了吃要不要补？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3905250" y="3657600"/>
            <a:ext cx="76009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4076700" y="3829050"/>
            <a:ext cx="76200" cy="800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324350" y="3829050"/>
            <a:ext cx="7010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朋友圈帮写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问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帮我写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324350" y="4171950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要一段能直接发出去的文字，重点在语气和长度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324350" y="4543425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例：帮我写一条介绍这个产品的朋友圈，语气轻松一点，别太硬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3905250" y="4914900"/>
            <a:ext cx="7600950" cy="1143000"/>
          </a:xfrm>
          <a:prstGeom prst="roundRect">
            <a:avLst>
              <a:gd name="adj" fmla="val 11667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4076700" y="5086350"/>
            <a:ext cx="76200" cy="8001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324350" y="5086350"/>
            <a:ext cx="7010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口播文案帮写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问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帮我说</a:t>
            </a:r>
            <a:r>
              <a:rPr lang="en-US" sz="18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324350" y="5429250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要一份能照着念的稿子，重点在口语化和节奏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324350" y="5800725"/>
            <a:ext cx="70104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例：把这几个卖点整理成一分钟的口播稿，开头要抓人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3905250" y="6238875"/>
            <a:ext cx="7600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四类入口只是帮你开个好头，进去之后照样可以随便改问题</a:t>
            </a:r>
            <a:endParaRPr/>
          </a:p>
        </p:txBody>
      </p:sp>
      <p:pic>
        <p:nvPicPr>
          <p:cNvPr id="3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41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提问三技巧&lt;/Text&gt;&#10;        &lt;Box style={{ width: 56, height: 4, borderRadius: 2, background: '#1F7A5C', marginTop: 8 }} /&gt;&#10;    &lt;/Box&gt;&#10;&#10;    &lt;Box style={{ height: 528, flexDirection: 'row', gap: 28 }}&gt;&#10;        &lt;Box style={{ width: 320, justifyContent: 'center' }}&gt;&#10;            &lt;Text style={{ fontSize: 180, fontWeight: 'bold', color: '#E08A3C', lineHeight: 1, letterSpacing: -4 }}&gt;3&lt;/Text&gt;&#10;            &lt;Text style={{ fontSize: 30, fontWeight: 'bold', color: '#1E3A32', marginTop: 14 }}&gt;个技巧&lt;/Text&gt;&#10;            &lt;Box style={{ width: 72, height: 5, borderRadius: 3, background: '#1F7A5C', marginTop: 20 }} /&gt;&#10;            &lt;Text style={{ fontSize: 21, color: '#1E3A32', lineHeight: 1.6, marginTop: 20 }}&gt;&#10;                会追问的人，&lt;br /&gt;往往用得最好&#10;            &lt;/Text&gt;&#10;        &lt;/Box&gt;&#10;&#10;        &lt;Box style={{ flex: 1, gap: 16 }}&gt;&#10;            &lt;Box style={{&#10;                flexDirection: 'row', gap: 18, background: '#FFFFFF', borderRadius: 14,&#10;                padding: 20, height: 165, boxShadow: '0 4px 20px rgba(30,58,50,0.08)',&#10;            }}&gt;&#10;                &lt;Box style={{ width: 52, height: 52, borderRadius: 26, background: '#1F7A5C', justifyContent: 'center', alignItems: 'center' }}&gt;&#10;                    &lt;Text style={{ fontSize: 26, fontWeight: 'bold', color: '#FFFFFF' }}&gt;1&lt;/Text&gt;&#10;                &lt;/Box&gt;&#10;                &lt;Box style={{ flex: 1 }}&gt;&#10;                    &lt;Text style={{ fontSize: 27, fontWeight: 'bold', color: '#1E3A32' }}&gt;先问最简单的那句&lt;/Text&gt;&#10;                    &lt;Text style={{ fontSize: 20, color: '#6B7C75', lineHeight: 1.55, marginTop: 8 }}&gt;&#10;                        一上来就想把问题问全，结果自己也乱了。先用最短的一句打开话题，看懂了再往深里问。&#10;                    &lt;/Text&gt;&#10;                    &lt;Box style={{ marginTop: 'auto', background: 'rgba(31,122,92,0.08)', borderRadius: 12, padding: 12 }}&gt;&#10;                        &lt;Text style={{ fontSize: 19, color: '#1F7A5C' }}&gt;「这个产品是做什么的？」&lt;/Text&gt;&#10;                    &lt;/Box&gt;&#10;                &lt;/Box&gt;&#10;            &lt;/Box&gt;&#10;&#10;            &lt;Box style={{&#10;                flexDirection: 'row', gap: 18, background: '#FFFFFF', borderRadius: 14,&#10;                padding: 20, height: 165, boxShadow: '0 4px 20px rgba(30,58,50,0.08)',&#10;            }}&gt;&#10;                &lt;Box style={{ width: 52, height: 52, borderRadius: 26, background: '#1F7A5C', justifyContent: 'center', alignItems: 'center' }}&gt;&#10;                    &lt;Text style={{ fontSize: 26, fontWeight: 'bold', color: '#FFFFFF' }}&gt;2&lt;/Text&gt;&#10;                &lt;/Box&gt;&#10;                &lt;Box style={{ flex: 1 }}&gt;&#10;                    &lt;Text style={{ fontSize: 27, fontWeight: 'bold', color: '#1E3A32' }}&gt;把自己的情况说出来&lt;/Text&gt;&#10;                    &lt;Text style={{ fontSize: 20, color: '#6B7C75', lineHeight: 1.55, marginTop: 8 }}&gt;&#10;                        多说一句自己的情况，回答就会更贴你。不用说得很专业，把真实状态说出来就行。&#10;                    &lt;/Text&gt;&#10;                    &lt;Box style={{ marginTop: 'auto', background: 'rgba(31,122,92,0.08)', borderRadius: 12, padding: 12 }}&gt;&#10;                        &lt;Text style={{ fontSize: 19, color: '#1F7A5C' }}&gt;「我肠胃比较敏感，这个适合我吗？」&lt;/Text&gt;&#10;                    &lt;/Box&gt;&#10;                &lt;/Box&gt;&#10;            &lt;/Box&gt;&#10;&#10;            &lt;Box style={{&#10;                flexDirection: 'row', gap: 18, background: 'rgba(224,138,60,0.14)', borderRadius: 14,&#10;                padding: 20, height: 165,&#10;            }}&gt;&#10;                &lt;Box style={{ width: 52, height: 52, borderRadius: 26, background: '#E08A3C', justifyContent: 'center', alignItems: 'center' }}&gt;&#10;                    &lt;Text style={{ fontSize: 26, fontWeight: 'bold', color: '#FFFFFF' }}&gt;3&lt;/Text&gt;&#10;                &lt;/Box&gt;&#10;                &lt;Box style={{ flex: 1 }}&gt;&#10;                    &lt;Text style={{ fontSize: 27, fontWeight: 'bold', color: '#1E3A32' }}&gt;没听懂，就换个问法&lt;/Text&gt;&#10;                    &lt;Text style={{ fontSize: 20, color: '#6B7C75', lineHeight: 1.55, marginTop: 8 }}&gt;&#10;                        一次没听懂太正常了，直接让它换种说法，不用觉得麻烦，也不用重新解释一遍背景。&#10;                    &lt;/Text&gt;&#10;                    &lt;Box style={{ marginTop: 'auto', background: '#FFFFFF', borderRadius: 12, padding: 12 }}&gt;&#10;                        &lt;Text style={{ fontSize: 19, color: '#C9742B' }}&gt;「请说得简单一点，分成三点告诉我」&lt;/Text&gt;&#10;                    &lt;/Box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09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提问三技巧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85800" y="1790700"/>
            <a:ext cx="3048000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 spc="-300">
                <a:solidFill>
                  <a:srgbClr val="E08A3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85800" y="3981450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个技巧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85800" y="4514850"/>
            <a:ext cx="685800" cy="47625"/>
          </a:xfrm>
          <a:prstGeom prst="roundRect">
            <a:avLst>
              <a:gd name="adj" fmla="val 6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85800" y="4752975"/>
            <a:ext cx="30480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会追问的人，</a:t>
            </a:r>
            <a:endParaRPr/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往往用得最好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4000500" y="1143000"/>
            <a:ext cx="7505700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4191000" y="13335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371975" y="1428750"/>
            <a:ext cx="1428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857750" y="1333500"/>
            <a:ext cx="6457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E3A32"/>
                </a:solidFill>
                <a:latin typeface="Microsoft YaHei"/>
                <a:ea typeface="Microsoft YaHei"/>
              </a:rPr>
              <a:t>先问最简单的那句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4857750" y="1724025"/>
            <a:ext cx="64579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一上来就想把问题问全，结果自己也乱了。先用最短的一句打开话题，看懂了再往深里问。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4857750" y="2438400"/>
            <a:ext cx="6457950" cy="447675"/>
          </a:xfrm>
          <a:prstGeom prst="roundRect">
            <a:avLst>
              <a:gd name="adj" fmla="val 2553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972050" y="2552700"/>
            <a:ext cx="6229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「这个产品是做什么的？」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4000500" y="2867025"/>
            <a:ext cx="7505700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4191000" y="30575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4371975" y="3152775"/>
            <a:ext cx="1428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857750" y="3057525"/>
            <a:ext cx="6457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E3A32"/>
                </a:solidFill>
                <a:latin typeface="Microsoft YaHei"/>
                <a:ea typeface="Microsoft YaHei"/>
              </a:rPr>
              <a:t>把自己的情况说出来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857750" y="3448050"/>
            <a:ext cx="64579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多说一句自己的情况，回答就会更贴你。不用说得很专业，把真实状态说出来就行。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4857750" y="4162425"/>
            <a:ext cx="6457950" cy="447675"/>
          </a:xfrm>
          <a:prstGeom prst="roundRect">
            <a:avLst>
              <a:gd name="adj" fmla="val 2553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972050" y="4276725"/>
            <a:ext cx="6229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F7A5C"/>
                </a:solidFill>
                <a:latin typeface="Microsoft YaHei"/>
                <a:ea typeface="Microsoft YaHei"/>
              </a:rPr>
              <a:t>「我肠胃比较敏感，这个适合我吗？」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000500" y="4591050"/>
            <a:ext cx="7505700" cy="1571625"/>
          </a:xfrm>
          <a:prstGeom prst="roundRect">
            <a:avLst>
              <a:gd name="adj" fmla="val 8485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4191000" y="47815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371975" y="4876800"/>
            <a:ext cx="1428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857750" y="4781550"/>
            <a:ext cx="6457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E3A32"/>
                </a:solidFill>
                <a:latin typeface="Microsoft YaHei"/>
                <a:ea typeface="Microsoft YaHei"/>
              </a:rPr>
              <a:t>没听懂，就换个问法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4857750" y="5172075"/>
            <a:ext cx="64579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一次没听懂太正常了，直接让它换种说法，不用觉得麻烦，也不用重新解释一遍背景。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4857750" y="5886450"/>
            <a:ext cx="6457950" cy="447675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972050" y="6000750"/>
            <a:ext cx="6229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「请说得简单一点，分成三点告诉我」</a:t>
            </a:r>
            <a:endParaRPr/>
          </a:p>
        </p:txBody>
      </p:sp>
      <p:pic>
        <p:nvPicPr>
          <p:cNvPr id="3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不会问，就照着问&lt;/Text&gt;&#10;        &lt;Box style={{ width: 56, height: 4, borderRadius: 2, background: '#1F7A5C', marginTop: 8 }} /&gt;&#10;    &lt;/Box&gt;&#10;&#10;    &lt;Box style={{ height: 528, flexDirection: 'row', gap: 28 }}&gt;&#10;        &lt;Box style={{ width: 660, gap: 14 }}&gt;&#10;            &lt;Box style={{ height: 121, background: '#FFFFFF', borderRadius: 14, padding: 18, boxShadow: '0 4px 20px rgba(30,58,50,0.08)' }}&gt;&#10;                &lt;Text style={{ fontSize: 24, fontWeight: 'bold', color: '#1F7A5C' }}&gt;了解产品&lt;/Text&gt;&#10;                &lt;Box style={{ flexDirection: 'row', flexWrap: 'wrap', gap: 10, marginTop: 12 }}&gt;&#10;                    &lt;Box style={{ background: 'rgba(31,122,92,0.08)', borderRadius: 12, padding: 10 }}&gt;&#10;                        &lt;Text style={{ fontSize: 19, color: '#1E3A32' }}&gt;这个产品主要是做什么的？&lt;/Text&gt;&#10;                    &lt;/Box&gt;&#10;                    &lt;Box style={{ background: 'rgba(31,122,92,0.08)', borderRadius: 12, padding: 10 }}&gt;&#10;                        &lt;Text style={{ fontSize: 19, color: '#1E3A32' }}&gt;它适合什么人？&lt;/Text&gt;&#10;                    &lt;/Box&gt;&#10;                    &lt;Box style={{ background: 'rgba(31,122,92,0.08)', borderRadius: 12, padding: 10 }}&gt;&#10;                        &lt;Text style={{ fontSize: 19, color: '#1E3A32' }}&gt;和另一款比区别在哪？&lt;/Text&gt;&#10;                    &lt;/Box&gt;&#10;                &lt;/Box&gt;&#10;            &lt;/Box&gt;&#10;&#10;            &lt;Box style={{ height: 121, background: '#FFFFFF', borderRadius: 14, padding: 18, boxShadow: '0 4px 20px rgba(30,58,50,0.08)' }}&gt;&#10;                &lt;Text style={{ fontSize: 24, fontWeight: 'bold', color: '#1F7A5C' }}&gt;使用答疑&lt;/Text&gt;&#10;                &lt;Box style={{ flexDirection: 'row', flexWrap: 'wrap', gap: 10, marginTop: 12 }}&gt;&#10;                    &lt;Box style={{ background: 'rgba(31,122,92,0.08)', borderRadius: 12, padding: 10 }}&gt;&#10;                        &lt;Text style={{ fontSize: 19, color: '#1E3A32' }}&gt;这个产品怎么使用？&lt;/Text&gt;&#10;                    &lt;/Box&gt;&#10;                    &lt;Box style={{ background: 'rgba(31,122,92,0.08)', borderRadius: 12, padding: 10 }}&gt;&#10;                        &lt;Text style={{ fontSize: 19, color: '#1E3A32' }}&gt;使用时要注意什么？&lt;/Text&gt;&#10;                    &lt;/Box&gt;&#10;                    &lt;Box style={{ background: 'rgba(31,122,92,0.08)', borderRadius: 12, padding: 10 }}&gt;&#10;                        &lt;Text style={{ fontSize: 19, color: '#1E3A32' }}&gt;我这种情况重点注意什么？&lt;/Text&gt;&#10;                    &lt;/Box&gt;&#10;                &lt;/Box&gt;&#10;            &lt;/Box&gt;&#10;&#10;            &lt;Box style={{ height: 121, background: '#FFFFFF', borderRadius: 14, padding: 18, boxShadow: '0 4px 20px rgba(30,58,50,0.08)' }}&gt;&#10;                &lt;Text style={{ fontSize: 24, fontWeight: 'bold', color: '#1F7A5C' }}&gt;案例参考&lt;/Text&gt;&#10;                &lt;Box style={{ flexDirection: 'row', flexWrap: 'wrap', gap: 10, marginTop: 12 }}&gt;&#10;                    &lt;Box style={{ background: 'rgba(31,122,92,0.08)', borderRadius: 12, padding: 10 }}&gt;&#10;                        &lt;Text style={{ fontSize: 19, color: '#1E3A32' }}&gt;有没有和我情况差不多的案例？&lt;/Text&gt;&#10;                    &lt;/Box&gt;&#10;                    &lt;Box style={{ background: 'rgba(31,122,92,0.08)', borderRadius: 12, padding: 10 }}&gt;&#10;                        &lt;Text style={{ fontSize: 19, color: '#1E3A32' }}&gt;哪类案例更适合我参考？&lt;/Text&gt;&#10;                    &lt;/Box&gt;&#10;                    &lt;Box style={{ background: 'rgba(31,122,92,0.08)', borderRadius: 12, padding: 10 }}&gt;&#10;                        &lt;Text style={{ fontSize: 19, color: '#1E3A32' }}&gt;最值得参考的是哪一点？&lt;/Text&gt;&#10;                    &lt;/Box&gt;&#10;                &lt;/Box&gt;&#10;            &lt;/Box&gt;&#10;&#10;            &lt;Box style={{ height: 121, background: 'rgba(224,138,60,0.14)', borderRadius: 14, padding: 18 }}&gt;&#10;                &lt;Text style={{ fontSize: 24, fontWeight: 'bold', color: '#C9742B' }}&gt;继续追问&lt;/Text&gt;&#10;                &lt;Box style={{ flexDirection: 'row', flexWrap: 'wrap', gap: 10, marginTop: 12 }}&gt;&#10;                    &lt;Box style={{ background: '#FFFFFF', borderRadius: 12, padding: 10 }}&gt;&#10;                        &lt;Text style={{ fontSize: 19, color: '#1E3A32' }}&gt;请你说得简单一点&lt;/Text&gt;&#10;                    &lt;/Box&gt;&#10;                    &lt;Box style={{ background: '#FFFFFF', borderRadius: 12, padding: 10 }}&gt;&#10;                        &lt;Text style={{ fontSize: 19, color: '#1E3A32' }}&gt;请你分点告诉我&lt;/Text&gt;&#10;                    &lt;/Box&gt;&#10;                    &lt;Box style={{ background: '#FFFFFF', borderRadius: 12, padding: 10 }}&gt;&#10;                        &lt;Text style={{ fontSize: 19, color: '#1E3A32' }}&gt;你刚才的重点是什么？&lt;/Text&gt;&#10;                    &lt;/Box&gt;&#10;                &lt;/Box&gt;&#10;            &lt;/Box&gt;&#10;        &lt;/Box&gt;&#10;&#10;        &lt;Box style={{ flex: 1 }}&gt;&#10;            &lt;Text style={{ fontSize: 26, fontWeight: 'bold', color: '#1F7A5C', lineHeight: 1.45 }}&gt;&#10;                背不下来就照抄，&lt;br /&gt;抄几次就成自己的了&#10;            &lt;/Text&gt;&#10;            &lt;Text style={{ fontSize: 20, color: '#6B7C75', lineHeight: 1.6, marginTop: 20 }}&gt;&#10;                这四组模板覆盖了日常八成以上的场景。第一次照着打，第二次改两个词，第三次你会发现——自己写出来的问句，已经自然带上了必要的背景信息。&#10;            &lt;/Text&gt;&#10;            &lt;Text style={{ fontSize: 20, color: '#6B7C75', lineHeight: 1.6, marginTop: 16 }}&gt;&#10;                同一句模板换个产品名就能反复用，比如把&quot;这个产品&quot;换成具体名字，答案的准确度会立刻不一样。&#10;            &lt;/Text&gt;&#10;&#10;            &lt;Box style={{&#10;                marginTop: 'auto', background: '#FFFFFF', borderRadius: 14, padding: 18,&#10;                boxShadow: '0 4px 20px rgba(30,58,50,0.08)',&#10;            }}&gt;&#10;                &lt;Text style={{ fontSize: 21, fontWeight: 'bold', color: '#1E3A32', lineHeight: 1.5 }}&gt;&#10;                    把问题里的&quot;这个产品&quot;&lt;br /&gt;换成具体名字&#10;                &lt;/Text&gt;&#10;                &lt;Text style={{ fontSize: 19, color: '#6B7C75', lineHeight: 1.5, marginTop: 10 }}&gt;&#10;                    这是提升回答质量最快的一招，成本只有三个字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10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不会问，就照着问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685800" y="1143000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57250" y="1314450"/>
            <a:ext cx="5943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了解产品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857250" y="1704975"/>
            <a:ext cx="2362200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52500" y="1800225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这个产品主要是做什么的？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314700" y="1704975"/>
            <a:ext cx="1457325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409950" y="1800225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它适合什么人？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857250" y="2209800"/>
            <a:ext cx="2000250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52500" y="23050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和另一款比区别在哪？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85800" y="2428875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57250" y="2600325"/>
            <a:ext cx="5943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使用答疑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857250" y="2990850"/>
            <a:ext cx="1819275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52500" y="3086100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这个产品怎么使用？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2771775" y="2990850"/>
            <a:ext cx="1819275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867025" y="3086100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使用时要注意什么？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857250" y="3495675"/>
            <a:ext cx="2362200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52500" y="3590925"/>
            <a:ext cx="2171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我这种情况重点注意什么？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85800" y="3714750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57250" y="3886200"/>
            <a:ext cx="5943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案例参考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857250" y="4276725"/>
            <a:ext cx="2724150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52500" y="4371975"/>
            <a:ext cx="2533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有没有和我情况差不多的案例？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3676650" y="4276725"/>
            <a:ext cx="2181225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771900" y="4371975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哪类案例更适合我参考？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857250" y="4781550"/>
            <a:ext cx="2181225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52500" y="4876800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最值得参考的是哪一点？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85800" y="5000625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57250" y="5172075"/>
            <a:ext cx="5943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C9742B"/>
                </a:solidFill>
                <a:latin typeface="Microsoft YaHei"/>
                <a:ea typeface="Microsoft YaHei"/>
              </a:rPr>
              <a:t>继续追问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57250" y="5562600"/>
            <a:ext cx="1638300" cy="409575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52500" y="565785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请你说得简单一点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2590800" y="5562600"/>
            <a:ext cx="1457325" cy="409575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686050" y="5657850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请你分点告诉我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4143375" y="5562600"/>
            <a:ext cx="2000250" cy="409575"/>
          </a:xfrm>
          <a:prstGeom prst="roundRect">
            <a:avLst>
              <a:gd name="adj" fmla="val 279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238625" y="56578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你刚才的重点是什么？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239000" y="1143000"/>
            <a:ext cx="426720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背不下来就照抄，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抄几次就成自己的了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239000" y="2200275"/>
            <a:ext cx="42672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这四组模板覆盖了日常八成以上的场景。第一次照着打，第二次改两个词，第三次你会发现——自己写出来的问句，已经自然带上了必要的背景信息。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239000" y="3457575"/>
            <a:ext cx="42672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同一句模板换个产品名就能反复用，比如把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这个产品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换成具体名字，答案的准确度会立刻不一样。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7239000" y="4352925"/>
            <a:ext cx="4267200" cy="1819275"/>
          </a:xfrm>
          <a:prstGeom prst="roundRect">
            <a:avLst>
              <a:gd name="adj" fmla="val 733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410450" y="4524375"/>
            <a:ext cx="3924300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把问题里的</a:t>
            </a:r>
            <a:r>
              <a:rPr lang="en-US" sz="15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这个产品</a:t>
            </a:r>
            <a:r>
              <a:rPr lang="en-US" sz="1575" b="1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换成具体名字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410450" y="5343525"/>
            <a:ext cx="39243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这是提升回答质量最快的一招，成本只有三个字。</a:t>
            </a:r>
            <a:endParaRPr/>
          </a:p>
        </p:txBody>
      </p:sp>
      <p:pic>
        <p:nvPicPr>
          <p:cNvPr id="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9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回答之后还能做什么&lt;/Text&gt;&#10;        &lt;Box style={{ width: 56, height: 4, borderRadius: 2, background: '#1F7A5C', marginTop: 8 }} /&gt;&#10;    &lt;/Box&gt;&#10;&#10;    &lt;Box style={{ height: 528, flexDirection: 'row', gap: 28 }}&gt;&#10;        &lt;Box style={{ width: 640 }}&gt;&#10;            &lt;svg width=&quot;640&quot; height=&quot;528&quot; viewBox=&quot;0 0 640 528&quot;&gt;&#10;                &lt;rect x=&quot;20&quot; y=&quot;20&quot; width=&quot;600&quot; height=&quot;250&quot; rx=&quot;18&quot; fill=&quot;#FFFFFF&quot; /&gt;&#10;                &lt;rect x=&quot;20&quot; y=&quot;20&quot; width=&quot;600&quot; height=&quot;250&quot; rx=&quot;18&quot; fill=&quot;none&quot; stroke=&quot;#DDE7E1&quot; strokeWidth=&quot;2&quot; /&gt;&#10;                &lt;circle cx=&quot;62&quot; cy=&quot;62&quot; r=&quot;22&quot; fill=&quot;#1F7A5C&quot; /&gt;&#10;                &lt;path d=&quot;M62 52 C52 54 50 62 50 62 C50 62 52 70 62 72 C72 70 74 62 74 62 C74 62 72 54 62 52 Z&quot; fill=&quot;#FFFFFF&quot; transform=&quot;translate(-12,-10) scale(0.9) translate(6,6)&quot; /&gt;&#10;                &lt;text x=&quot;96&quot; y=&quot;70&quot; fontSize=&quot;22&quot; fontWeight=&quot;bold&quot; fill=&quot;#1E3A32&quot; fontFamily=&quot;PingFang SC&quot;&gt;AI宝儿&lt;/text&gt;&#10;                &lt;rect x=&quot;44&quot; y=&quot;104&quot; width=&quot;420&quot; height=&quot;14&quot; rx=&quot;7&quot; fill=&quot;#1F7A5C&quot; opacity=&quot;0.55&quot; /&gt;&#10;                &lt;rect x=&quot;44&quot; y=&quot;134&quot; width=&quot;540&quot; height=&quot;12&quot; rx=&quot;6&quot; fill=&quot;#A8D5BA&quot; opacity=&quot;0.7&quot; /&gt;&#10;                &lt;rect x=&quot;44&quot; y=&quot;160&quot; width=&quot;500&quot; height=&quot;12&quot; rx=&quot;6&quot; fill=&quot;#A8D5BA&quot; opacity=&quot;0.7&quot; /&gt;&#10;                &lt;rect x=&quot;44&quot; y=&quot;186&quot; width=&quot;360&quot; height=&quot;12&quot; rx=&quot;6&quot; fill=&quot;#A8D5BA&quot; opacity=&quot;0.7&quot; /&gt;&#10;                &lt;rect x=&quot;44&quot; y=&quot;222&quot; width=&quot;560&quot; height=&quot;30&quot; rx=&quot;12&quot; fill=&quot;rgba(31,122,92,0.08)&quot; /&gt;&#10;&#10;                &lt;rect x=&quot;20&quot; y=&quot;304&quot; width=&quot;140&quot; height=&quot;120&quot; rx=&quot;16&quot; fill=&quot;#1F7A5C&quot; /&gt;&#10;                &lt;path d=&quot;M76 340 v-24 a10 10 0 0 1 20 0 v24 h8 a8 8 0 0 1 8 8 v26 a8 8 0 0 1 -8 8 h-36 a8 8 0 0 1 -8 -8 v-26 a8 8 0 0 1 8 -8 z&quot; fill=&quot;#FFFFFF&quot; /&gt;&#10;                &lt;text x=&quot;90&quot; y=&quot;404&quot; textAnchor=&quot;middle&quot; fontSize=&quot;19&quot; fill=&quot;#FFFFFF&quot; fontFamily=&quot;PingFang SC&quot;&gt;点赞点踩&lt;/text&gt;&#10;&#10;                &lt;rect x=&quot;180&quot; y=&quot;304&quot; width=&quot;140&quot; height=&quot;120&quot; rx=&quot;16&quot; fill=&quot;rgba(168,213,186,0.5)&quot; /&gt;&#10;                &lt;rect x=&quot;228&quot; y=&quot;328&quot; width=&quot;44&quot; height=&quot;36&quot; rx=&quot;6&quot; fill=&quot;none&quot; stroke=&quot;#1E3A32&quot; strokeWidth=&quot;4&quot; /&gt;&#10;                &lt;path d=&quot;M228 356 l14 -14 l10 10 l12 -14 l8 8 v6 z&quot; fill=&quot;#1E3A32&quot; /&gt;&#10;                &lt;text x=&quot;250&quot; y=&quot;404&quot; textAnchor=&quot;middle&quot; fontSize=&quot;19&quot; fill=&quot;#1E3A32&quot; fontFamily=&quot;PingFang SC&quot;&gt;生成分享图&lt;/text&gt;&#10;&#10;                &lt;rect x=&quot;340&quot; y=&quot;304&quot; width=&quot;140&quot; height=&quot;120&quot; rx=&quot;16&quot; fill=&quot;rgba(168,213,186,0.5)&quot; /&gt;&#10;                &lt;rect x=&quot;398&quot; y=&quot;322&quot; width=&quot;24&quot; height=&quot;42&quot; rx=&quot;12&quot; fill=&quot;none&quot; stroke=&quot;#1E3A32&quot; strokeWidth=&quot;4&quot; /&gt;&#10;                &lt;path d=&quot;M398 348 a12 12 0 0 0 24 0&quot; fill=&quot;none&quot; stroke=&quot;#1E3A32&quot; strokeWidth=&quot;4&quot; /&gt;&#10;                &lt;path d=&quot;M410 364 v10&quot; stroke=&quot;#1E3A32&quot; strokeWidth=&quot;4&quot; strokeLinecap=&quot;round&quot; /&gt;&#10;                &lt;text x=&quot;410&quot; y=&quot;404&quot; textAnchor=&quot;middle&quot; fontSize=&quot;19&quot; fill=&quot;#1E3A32&quot; fontFamily=&quot;PingFang SC&quot;&gt;语音输入&lt;/text&gt;&#10;&#10;                &lt;rect x=&quot;500&quot; y=&quot;304&quot; width=&quot;140&quot; height=&quot;120&quot; rx=&quot;16&quot; fill=&quot;#E08A3C&quot; /&gt;&#10;                &lt;rect x=&quot;536&quot; y=&quot;334&quot; width=&quot;68&quot; height=&quot;44&quot; rx=&quot;8&quot; fill=&quot;none&quot; stroke=&quot;#FFFFFF&quot; strokeWidth=&quot;4&quot; /&gt;&#10;                &lt;path d=&quot;M536 338 l34 22 l34 -22&quot; fill=&quot;none&quot; stroke=&quot;#FFFFFF&quot; strokeWidth=&quot;4&quot; /&gt;&#10;                &lt;text x=&quot;570&quot; y=&quot;404&quot; textAnchor=&quot;middle&quot; fontSize=&quot;19&quot; fill=&quot;#FFFFFF&quot; fontFamily=&quot;PingFang SC&quot;&gt;获取方案&lt;/text&gt;&#10;&#10;                &lt;text x=&quot;320&quot; y=&quot;476&quot; textAnchor=&quot;middle&quot; fontSize=&quot;20&quot; fill=&quot;#6B7C75&quot; fontFamily=&quot;PingFang SC&quot;&gt;每一条回答的操作区里，都藏着这四个按钮&lt;/text&gt;&#10;            &lt;/svg&gt;&#10;        &lt;/Box&gt;&#10;&#10;        &lt;Box style={{ flex: 1 }}&gt;&#10;            &lt;Text style={{ fontSize: 26, fontWeight: 'bold', color: '#1F7A5C', lineHeight: 1.45 }}&gt;&#10;                回答不是终点，&lt;br /&gt;后面还有四步&#10;            &lt;/Text&gt;&#10;&#10;            &lt;Box style={{ marginTop: 22, gap: 16 }}&gt;&#10;                &lt;Box style={{ flexDirection: 'row', gap: 14, alignItems: 'flex-start' }}&gt;&#10;                    &lt;FAIcon name='thumbs-up' style={{ fill: '#1F7A5C', width: 26, height: 26 }} /&gt;&#10;                    &lt;Text style={{ fontSize: 19, color: '#1E3A32', lineHeight: 1.55, flex: 1 }}&gt;&#10;                        &lt;span style={{ fontWeight: 'bold' }}&gt;点赞点踩&lt;/span&gt;：顺手点一下，系统才知道哪类回答有用。点踩时写一句原因，比点十个赞都值钱。&#10;                    &lt;/Text&gt;&#10;                &lt;/Box&gt;&#10;                &lt;Box style={{ flexDirection: 'row', gap: 14, alignItems: 'flex-start' }}&gt;&#10;                    &lt;FAIcon name='image' style={{ fill: '#1F7A5C', width: 26, height: 26 }} /&gt;&#10;                    &lt;Text style={{ fontSize: 19, color: '#1E3A32', lineHeight: 1.55, flex: 1 }}&gt;&#10;                        &lt;span style={{ fontWeight: 'bold' }}&gt;生成分享图&lt;/span&gt;：把一次问答变成一张竖版图片，直接发给客户，不用再手打一遍。&#10;                    &lt;/Text&gt;&#10;                &lt;/Box&gt;&#10;                &lt;Box style={{ flexDirection: 'row', gap: 14, alignItems: 'flex-start' }}&gt;&#10;                    &lt;FAIcon name='microphone' style={{ fill: '#1F7A5C', width: 26, height: 26 }} /&gt;&#10;                    &lt;Text style={{ fontSize: 19, color: '#1E3A32', lineHeight: 1.55, flex: 1 }}&gt;&#10;                        &lt;span style={{ fontWeight: 'bold' }}&gt;语音输入&lt;/span&gt;：按住麦克风说话自动变文字，先落在输入框里，确认没错再发送。&#10;                    &lt;/Text&gt;&#10;                &lt;/Box&gt;&#10;                &lt;Box style={{ flexDirection: 'row', gap: 14, alignItems: 'flex-start' }}&gt;&#10;                    &lt;FAIcon name='envelope' style={{ fill: '#1F7A5C', width: 26, height: 26 }} /&gt;&#10;                    &lt;Text style={{ fontSize: 19, color: '#1E3A32', lineHeight: 1.55, flex: 1 }}&gt;&#10;                        &lt;span style={{ fontWeight: 'bold' }}&gt;获取方案&lt;/span&gt;：需要跟进时留下联系方式和客户诉求，方便后续有人对接。&#10;                    &lt;/Text&gt;&#10;                &lt;/Box&gt;&#10;            &lt;/Box&gt;&#10;&#10;            &lt;Box style={{&#10;                marginTop: 'auto', background: 'rgba(224,138,60,0.14)', borderRadius: 14, padding: 18,&#10;            }}&gt;&#10;                &lt;Text style={{ fontSize: 20, color: '#C9742B', fontWeight: 'bold', lineHeight: 1.5 }}&gt;&#10;                    把 AI 变成业绩的，往往不是提问那一下，而是回答之后的这一步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11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回答之后还能做什么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43000"/>
            <a:ext cx="6096000" cy="5029200"/>
          </a:xfrm>
          <a:prstGeom prst="rect">
            <a:avLst/>
          </a:prstGeom>
          <a:ln/>
        </p:spPr>
      </p:pic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048500" y="1143000"/>
            <a:ext cx="445770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回答不是终点，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后面还有四步</a:t>
            </a:r>
            <a:endParaRPr/>
          </a:p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48500" y="2219325"/>
            <a:ext cx="247650" cy="24765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429500" y="2219325"/>
            <a:ext cx="4076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点赞点踩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：顺手点一下，系统才知道哪类回答有用。点踩时写一句原因，比点十个赞都值钱。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48500" y="3048000"/>
            <a:ext cx="247650" cy="247650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429500" y="3048000"/>
            <a:ext cx="4076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生成分享图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：把一次问答变成一张竖版图片，直接发给客户，不用再手打一遍。</a:t>
            </a:r>
            <a:endParaRPr/>
          </a:p>
        </p:txBody>
      </p:sp>
      <p:pic>
        <p:nvPicPr>
          <p:cNvPr id="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48500" y="3876675"/>
            <a:ext cx="247650" cy="247650"/>
          </a:xfrm>
          <a:prstGeom prst="rect">
            <a:avLst/>
          </a:prstGeom>
          <a:ln/>
        </p:spPr>
      </p:pic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429500" y="3876675"/>
            <a:ext cx="4076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语音输入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：按住麦克风说话自动变文字，先落在输入框里，确认没错再发送。</a:t>
            </a:r>
            <a:endParaRPr/>
          </a:p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048500" y="4705350"/>
            <a:ext cx="247650" cy="247650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429500" y="4705350"/>
            <a:ext cx="4076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获取方案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：需要跟进时留下联系方式和客户诉求，方便后续有人对接。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7048500" y="5381625"/>
            <a:ext cx="4457700" cy="1028700"/>
          </a:xfrm>
          <a:prstGeom prst="roundRect">
            <a:avLst>
              <a:gd name="adj" fmla="val 12963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219950" y="5553075"/>
            <a:ext cx="41148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把</a:t>
            </a:r>
            <a:r>
              <a:rPr lang="en-US" sz="1500" b="1">
                <a:solidFill>
                  <a:srgbClr val="C9742B"/>
                </a:solidFill>
                <a:latin typeface="Microsoft YaHei"/>
                <a:ea typeface="Microsoft YaHei"/>
              </a:rPr>
              <a:t> AI </a:t>
            </a: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变成业绩的，往往不是提问那一下，而是回答之后的这一步。</a:t>
            </a:r>
            <a:endParaRPr/>
          </a:p>
        </p:txBody>
      </p:sp>
      <p:pic>
        <p:nvPicPr>
          <p:cNvPr id="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106150" y="62865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8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第 1 期实操：三个动作，二十分钟&lt;/Text&gt;&#10;        &lt;Box style={{ width: 56, height: 4, borderRadius: 2, background: '#1F7A5C', marginTop: 8 }} /&gt;&#10;    &lt;/Box&gt;&#10;&#10;    &lt;Box style={{ height: 528, flexDirection: 'row', gap: 20 }}&gt;&#10;        &lt;Box style={{&#10;            flex: 1, background: '#FFFFFF', borderRadius: 14, padding: 24,&#10;            boxShadow: '0 4px 20px rgba(30,58,50,0.08)',&#10;        }}&gt;&#10;            &lt;svg width=&quot;90&quot; height=&quot;90&quot; viewBox=&quot;0 0 90 90&quot;&gt;&#10;                &lt;rect x=&quot;8&quot; y=&quot;18&quot; width=&quot;74&quot; height=&quot;54&quot; rx=&quot;12&quot; fill=&quot;#1F7A5C&quot; /&gt;&#10;                &lt;circle cx=&quot;30&quot; cy=&quot;41&quot; r=&quot;11&quot; fill=&quot;#FFFFFF&quot; opacity=&quot;0.9&quot; /&gt;&#10;                &lt;rect x=&quot;46&quot; y=&quot;34&quot; width=&quot;28&quot; height=&quot;6&quot; rx=&quot;3&quot; fill=&quot;#FFFFFF&quot; opacity=&quot;0.85&quot; /&gt;&#10;                &lt;rect x=&quot;46&quot; y=&quot;46&quot; width=&quot;20&quot; height=&quot;6&quot; rx=&quot;3&quot; fill=&quot;#FFFFFF&quot; opacity=&quot;0.55&quot; /&gt;&#10;                &lt;circle cx=&quot;66&quot; cy=&quot;62&quot; r=&quot;15&quot; fill=&quot;#E08A3C&quot; /&gt;&#10;                &lt;path d=&quot;M59 62 L64 67 L73 57&quot; stroke=&quot;#FFFFFF&quot; strokeWidth=&quot;4&quot; fill=&quot;none&quot; strokeLinecap=&quot;round&quot; /&gt;&#10;            &lt;/svg&gt;&#10;            &lt;Text style={{ fontSize: 26, fontWeight: 'bold', color: '#1E3A32', marginTop: 16 }}&gt;动作一：填好身份&lt;/Text&gt;&#10;            &lt;Text style={{ fontSize: 19, color: '#6B7C75', lineHeight: 1.6, marginTop: 12 }}&gt;&#10;                打开首页，从下拉列表里选你所在的团队，填上固定的名字，点确认进入。团队名单是公司统一配的，列表里没有就找管理员加，千万别随便选一个凑合——你问过的每一句都会记到这个团队名下，选错了统计数据就全乱了。填完之后顺手确认一下名字显示对不对。&#10;            &lt;/Text&gt;&#10;            &lt;Box style={{ marginTop: 'auto', background: 'rgba(224,138,60,0.14)', borderRadius: 12, padding: 14 }}&gt;&#10;                &lt;Text style={{ fontSize: 18, color: '#C9742B', fontWeight: 'bold' }}&gt;验收：能说清自己属于哪个团队&lt;/Text&gt;&#10;            &lt;/Box&gt;&#10;        &lt;/Box&gt;&#10;&#10;        &lt;Box style={{&#10;            flex: 1, background: '#FFFFFF', borderRadius: 14, padding: 24,&#10;            boxShadow: '0 4px 20px rgba(30,58,50,0.08)',&#10;        }}&gt;&#10;            &lt;svg width=&quot;90&quot; height=&quot;90&quot; viewBox=&quot;0 0 90 90&quot;&gt;&#10;                &lt;rect x=&quot;6&quot; y=&quot;10&quot; width=&quot;34&quot; height=&quot;34&quot; rx=&quot;10&quot; fill=&quot;rgba(168,213,186,0.5)&quot; /&gt;&#10;                &lt;rect x=&quot;50&quot; y=&quot;10&quot; width=&quot;34&quot; height=&quot;34&quot; rx=&quot;10&quot; fill=&quot;rgba(168,213,186,0.5)&quot; /&gt;&#10;                &lt;rect x=&quot;6&quot; y=&quot;48&quot; width=&quot;34&quot; height=&quot;34&quot; rx=&quot;10&quot; fill=&quot;#1F7A5C&quot; /&gt;&#10;                &lt;rect x=&quot;50&quot; y=&quot;48&quot; width=&quot;34&quot; height=&quot;34&quot; rx=&quot;10&quot; fill=&quot;rgba(168,213,186,0.5)&quot; /&gt;&#10;                &lt;path d=&quot;M62 62 L62 40&quot; stroke=&quot;#E08A3C&quot; strokeWidth=&quot;5&quot; strokeLinecap=&quot;round&quot; /&gt;&#10;                &lt;path d=&quot;M56 46 L62 38 L68 46&quot; stroke=&quot;#E08A3C&quot; strokeWidth=&quot;5&quot; fill=&quot;none&quot; strokeLinecap=&quot;round&quot; /&gt;&#10;            &lt;/svg&gt;&#10;            &lt;Text style={{ fontSize: 26, fontWeight: 'bold', color: '#1E3A32', marginTop: 16 }}&gt;动作二：点一次快捷入口&lt;/Text&gt;&#10;            &lt;Text style={{ fontSize: 19, color: '#6B7C75', lineHeight: 1.6, marginTop: 12 }}&gt;&#10;                在首页找到「快捷功能」那四个按钮，挑一个和你今天工作最相关的点进去。想了解产品就点&quot;产品资料查询&quot;，想问用法就点&quot;产品使用答疑&quot;。进去之后先别急着关，看一眼输入框里有没有自动带出提示语——那是这一类问题的常用开头，照着改比从零想快得多。&#10;            &lt;/Text&gt;&#10;            &lt;Box style={{ marginTop: 'auto', background: 'rgba(224,138,60,0.14)', borderRadius: 12, padding: 14 }}&gt;&#10;                &lt;Text style={{ fontSize: 18, color: '#C9742B', fontWeight: 'bold' }}&gt;验收：能说出四个入口各自的用处&lt;/Text&gt;&#10;            &lt;/Box&gt;&#10;        &lt;/Box&gt;&#10;&#10;        &lt;Box style={{&#10;            flex: 1, background: '#FFFFFF', borderRadius: 14, padding: 24,&#10;            boxShadow: '0 4px 20px rgba(30,58,50,0.08)',&#10;        }}&gt;&#10;            &lt;svg width=&quot;90&quot; height=&quot;90&quot; viewBox=&quot;0 0 90 90&quot;&gt;&#10;                &lt;path d=&quot;M10 16 H64 A10 10 0 0 1 74 26 V52 A10 10 0 0 1 64 62 H34 L18 76 V62 H10 Z&quot; fill=&quot;#1F7A5C&quot; /&gt;&#10;                &lt;rect x=&quot;20&quot; y=&quot;30&quot; width=&quot;42&quot; height=&quot;6&quot; rx=&quot;3&quot; fill=&quot;#FFFFFF&quot; opacity=&quot;0.9&quot; /&gt;&#10;                &lt;rect x=&quot;20&quot; y=&quot;44&quot; width=&quot;28&quot; height=&quot;6&quot; rx=&quot;3&quot; fill=&quot;#FFFFFF&quot; opacity=&quot;0.55&quot; /&gt;&#10;                &lt;circle cx=&quot;66&quot; cy=&quot;72&quot; r=&quot;14&quot; fill=&quot;#E08A3C&quot; /&gt;&#10;                &lt;path d=&quot;M60 72 L72 72&quot; stroke=&quot;#FFFFFF&quot; strokeWidth=&quot;4&quot; strokeLinecap=&quot;round&quot; /&gt;&#10;                &lt;path d=&quot;M66 66 L66 78&quot; stroke=&quot;#FFFFFF&quot; strokeWidth=&quot;4&quot; strokeLinecap=&quot;round&quot; /&gt;&#10;            &lt;/svg&gt;&#10;            &lt;Text style={{ fontSize: 26, fontWeight: 'bold', color: '#1E3A32', marginTop: 16 }}&gt;动作三：发出第一句话&lt;/Text&gt;&#10;            &lt;Text style={{ fontSize: 19, color: '#6B7C75', lineHeight: 1.6, marginTop: 12 }}&gt;&#10;                在输入框里打一句最简单的话，比如&quot;这个产品适合什么人&quot;，然后发送。别追求一次问对，这次的目标只是观察：回答长什么样、分了几段、下面有没有冒出相关案例卡片。把这一句真正发出去，第 1 期就算过关了——剩下的都是熟练度问题。&#10;            &lt;/Text&gt;&#10;            &lt;Box style={{ marginTop: 'auto', background: 'rgba(224,138,60,0.14)', borderRadius: 12, padding: 14 }}&gt;&#10;                &lt;Text style={{ fontSize: 18, color: '#C9742B', fontWeight: 'bold' }}&gt;验收：聊天区出现了一条完整回答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12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第</a:t>
            </a:r>
            <a:r>
              <a:rPr lang="en-US" sz="2700" b="1">
                <a:solidFill>
                  <a:srgbClr val="1E3A32"/>
                </a:solidFill>
                <a:latin typeface="Microsoft YaHei"/>
                <a:ea typeface="Microsoft YaHei"/>
              </a:rPr>
              <a:t> 1 </a:t>
            </a: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期实操：三个动作，二十分钟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685800" y="1143000"/>
            <a:ext cx="3476625" cy="514350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1371600"/>
            <a:ext cx="857250" cy="857250"/>
          </a:xfrm>
          <a:prstGeom prst="rect">
            <a:avLst/>
          </a:prstGeom>
          <a:ln/>
        </p:spPr>
      </p:pic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14400" y="2381250"/>
            <a:ext cx="30194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动作一：填好身份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14400" y="2800350"/>
            <a:ext cx="3019425" cy="2781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打开首页，从下拉列表里选你所在的团队，填上固定的名字，点确认进入。团队名单是公司统一配的，列表里没有就找管理员加，千万别随便选一个凑合——你问过的每一句都会记到这个团队名下，选错了统计数据就全乱了。填完之后顺手确认一下名字显示对不对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914400" y="5581650"/>
            <a:ext cx="3019425" cy="476250"/>
          </a:xfrm>
          <a:prstGeom prst="roundRect">
            <a:avLst>
              <a:gd name="adj" fmla="val 24000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47750" y="5715000"/>
            <a:ext cx="2752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9742B"/>
                </a:solidFill>
                <a:latin typeface="Microsoft YaHei"/>
                <a:ea typeface="Microsoft YaHei"/>
              </a:rPr>
              <a:t>验收：能说清自己属于哪个团队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352925" y="1143000"/>
            <a:ext cx="3486150" cy="5143500"/>
          </a:xfrm>
          <a:prstGeom prst="roundRect">
            <a:avLst>
              <a:gd name="adj" fmla="val 382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81525" y="1371600"/>
            <a:ext cx="857250" cy="857250"/>
          </a:xfrm>
          <a:prstGeom prst="rect">
            <a:avLst/>
          </a:prstGeom>
          <a:ln/>
        </p:spPr>
      </p:pic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581525" y="2381250"/>
            <a:ext cx="30289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动作二：点一次快捷入口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581525" y="2800350"/>
            <a:ext cx="3028950" cy="2781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在首页找到「快捷功能」那四个按钮，挑一个和你今天工作最相关的点进去。想了解产品就点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产品资料查询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，想问用法就点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产品使用答疑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。进去之后先别急着关，看一眼输入框里有没有自动带出提示语——那是这一类问题的常用开头，照着改比从零想快得多。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4581525" y="5581650"/>
            <a:ext cx="3028950" cy="476250"/>
          </a:xfrm>
          <a:prstGeom prst="roundRect">
            <a:avLst>
              <a:gd name="adj" fmla="val 24000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714875" y="5715000"/>
            <a:ext cx="2762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9742B"/>
                </a:solidFill>
                <a:latin typeface="Microsoft YaHei"/>
                <a:ea typeface="Microsoft YaHei"/>
              </a:rPr>
              <a:t>验收：能说出四个入口各自的用处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029575" y="1143000"/>
            <a:ext cx="3476625" cy="502920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58175" y="1371600"/>
            <a:ext cx="857250" cy="857250"/>
          </a:xfrm>
          <a:prstGeom prst="rect">
            <a:avLst/>
          </a:prstGeom>
          <a:ln/>
        </p:spPr>
      </p:pic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258175" y="2381250"/>
            <a:ext cx="30194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动作三：发出第一句话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258175" y="2800350"/>
            <a:ext cx="3019425" cy="2438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在输入框里打一句最简单的话，比如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这个产品适合什么人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，然后发送。别追求一次问对，这次的目标只是观察：回答长什么样、分了几段、下面有没有冒出相关案例卡片。把这一句真正发出去，第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 1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期就算过关了——剩下的都是熟练度问题。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8258175" y="5467350"/>
            <a:ext cx="3019425" cy="476250"/>
          </a:xfrm>
          <a:prstGeom prst="roundRect">
            <a:avLst>
              <a:gd name="adj" fmla="val 24000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391525" y="5600700"/>
            <a:ext cx="2752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9742B"/>
                </a:solidFill>
                <a:latin typeface="Microsoft YaHei"/>
                <a:ea typeface="Microsoft YaHei"/>
              </a:rPr>
              <a:t>验收：聊天区出现了一条完整回答</a:t>
            </a:r>
            <a:endParaRPr/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3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第 2 期实操：三道练习题&lt;/Text&gt;&#10;        &lt;Box style={{ width: 56, height: 4, borderRadius: 2, background: '#1F7A5C', marginTop: 8 }} /&gt;&#10;    &lt;/Box&gt;&#10;&#10;    &lt;Box style={{ height: 528, flexDirection: 'row', gap: 20 }}&gt;&#10;        &lt;Box style={{&#10;            flex: 1, background: '#FFFFFF', borderRadius: 14, padding: 24,&#10;            boxShadow: '0 4px 20px rgba(30,58,50,0.08)',&#10;        }}&gt;&#10;            &lt;svg width=&quot;90&quot; height=&quot;90&quot; viewBox=&quot;0 0 90 90&quot;&gt;&#10;                &lt;circle cx=&quot;40&quot; cy=&quot;40&quot; r=&quot;26&quot; fill=&quot;none&quot; stroke=&quot;#1F7A5C&quot; strokeWidth=&quot;6&quot; /&gt;&#10;                &lt;path d=&quot;M59 59 L78 78&quot; stroke=&quot;#1F7A5C&quot; strokeWidth=&quot;8&quot; strokeLinecap=&quot;round&quot; /&gt;&#10;                &lt;text x=&quot;40&quot; y=&quot;49&quot; textAnchor=&quot;middle&quot; fontSize=&quot;26&quot; fontWeight=&quot;bold&quot; fill=&quot;#E08A3C&quot; fontFamily=&quot;PingFang SC&quot;&gt;?&lt;/text&gt;&#10;            &lt;/svg&gt;&#10;            &lt;Text style={{ fontSize: 25, fontWeight: 'bold', color: '#1E3A32', marginTop: 16 }}&gt;题一：把笼统改具体&lt;/Text&gt;&#10;            &lt;Text style={{ fontSize: 19, color: '#6B7C75', lineHeight: 1.6, marginTop: 12 }}&gt;&#10;                原句是&quot;这个产品好不好？&quot;。请加上你自己的情况——年龄、作息、最想改善的问题——把它改成一句 AI 能给出针对性答案的问句，然后真的发出去，对比两次回答的长度和具体程度。&#10;            &lt;/Text&gt;&#10;            &lt;Box style={{ marginTop: 'auto', background: 'rgba(224,138,60,0.14)', borderRadius: 12, padding: 14 }}&gt;&#10;                &lt;Text style={{ fontSize: 18, color: '#C9742B', lineHeight: 1.5 }}&gt;&#10;                    &lt;span style={{ fontWeight: 'bold' }}&gt;参考答案：&lt;/span&gt;「我平时经常腹胀、作息不规律，这个适合我吗？重点想改善腹胀。」&#10;                &lt;/Text&gt;&#10;            &lt;/Box&gt;&#10;        &lt;/Box&gt;&#10;&#10;        &lt;Box style={{&#10;            flex: 1, background: '#FFFFFF', borderRadius: 14, padding: 24,&#10;            boxShadow: '0 4px 20px rgba(30,58,50,0.08)',&#10;        }}&gt;&#10;            &lt;svg width=&quot;90&quot; height=&quot;90&quot; viewBox=&quot;0 0 90 90&quot;&gt;&#10;                &lt;path d=&quot;M6 20 H60 A10 10 0 0 1 70 30 V46 A10 10 0 0 1 60 56 H28 L14 70 V56 H6 A10 10 0 0 1 6 46 Z&quot; transform=&quot;translate(0,-4)&quot; fill=&quot;rgba(168,213,186,0.5)&quot; /&gt;&#10;                &lt;path d=&quot;M24 44 H84 A10 10 0 0 1 84 64 H56 L44 76 V64 H24 A10 10 0 0 1 24 64 Z&quot; transform=&quot;translate(0,-4)&quot; fill=&quot;#1F7A5C&quot; /&gt;&#10;                &lt;circle cx=&quot;66&quot; cy=&quot;20&quot; r=&quot;14&quot; fill=&quot;#E08A3C&quot; /&gt;&#10;                &lt;text x=&quot;66&quot; y=&quot;27&quot; textAnchor=&quot;middle&quot; fontSize=&quot;17&quot; fontWeight=&quot;bold&quot; fill=&quot;#FFFFFF&quot; fontFamily=&quot;PingFang SC&quot;&gt;2&lt;/text&gt;&#10;            &lt;/svg&gt;&#10;            &lt;Text style={{ fontSize: 25, fontWeight: 'bold', color: '#1E3A32', marginTop: 16 }}&gt;题二：追问到听懂为止&lt;/Text&gt;&#10;            &lt;Text style={{ fontSize: 19, color: '#6B7C75', lineHeight: 1.6, marginTop: 12 }}&gt;&#10;                找一条你看不太懂的回答，用技巧三连续追问两次。目标不是得到更多字，而是能用你自己的话把答案复述给同事听——复述得出来，这一题才算过。&#10;            &lt;/Text&gt;&#10;            &lt;Box style={{ marginTop: 'auto', background: 'rgba(224,138,60,0.14)', borderRadius: 12, padding: 14 }}&gt;&#10;                &lt;Text style={{ fontSize: 18, color: '#C9742B', lineHeight: 1.5 }}&gt;&#10;                    &lt;span style={{ fontWeight: 'bold' }}&gt;参考答案：&lt;/span&gt;「请说得简单一点」→「你刚才的重点是什么？分成三点告诉我」&#10;                &lt;/Text&gt;&#10;            &lt;/Box&gt;&#10;        &lt;/Box&gt;&#10;&#10;        &lt;Box style={{&#10;            flex: 1, background: '#FFFFFF', borderRadius: 14, padding: 24,&#10;            boxShadow: '0 4px 20px rgba(30,58,50,0.08)',&#10;        }}&gt;&#10;            &lt;svg width=&quot;90&quot; height=&quot;90&quot; viewBox=&quot;0 0 90 90&quot;&gt;&#10;                &lt;rect x=&quot;8&quot; y=&quot;14&quot; width=&quot;56&quot; height=&quot;62&quot; rx=&quot;10&quot; fill=&quot;#1F7A5C&quot; /&gt;&#10;                &lt;path d=&quot;M8 56 l16 -14 l12 10 l10 -8 l18 14 v10 a4 4 0 0 1 -4 4 h-48 a4 4 0 0 1 -4 -4 z&quot; fill=&quot;#FFFFFF&quot; opacity=&quot;0.35&quot; /&gt;&#10;                &lt;circle cx=&quot;70&quot; cy=&quot;62&quot; r=&quot;16&quot; fill=&quot;#E08A3C&quot; /&gt;&#10;                &lt;path d=&quot;M70 54 v16&quot; stroke=&quot;#FFFFFF&quot; strokeWidth=&quot;4&quot; strokeLinecap=&quot;round&quot; /&gt;&#10;                &lt;path d=&quot;M62 62 h16&quot; stroke=&quot;#FFFFFF&quot; strokeWidth=&quot;4&quot; strokeLinecap=&quot;round&quot; /&gt;&#10;            &lt;/svg&gt;&#10;            &lt;Text style={{ fontSize: 25, fontWeight: 'bold', color: '#1E3A32', marginTop: 16 }}&gt;题三：做一张分享图&lt;/Text&gt;&#10;            &lt;Text style={{ fontSize: 19, color: '#6B7C75', lineHeight: 1.6, marginTop: 12 }}&gt;&#10;                挑一条你觉得有用的回答，点&quot;生成分享图&quot;，把生成的图片检查一遍：有没有你的问题、回答摘要、相关案例摘要。确认无误后发给一位同事看看他能不能看懂。&#10;            &lt;/Text&gt;&#10;            &lt;Box style={{ marginTop: 'auto', background: 'rgba(224,138,60,0.14)', borderRadius: 12, padding: 14 }}&gt;&#10;                &lt;Text style={{ fontSize: 18, color: '#C9742B', lineHeight: 1.5 }}&gt;&#10;                    &lt;span style={{ fontWeight: 'bold' }}&gt;验收：&lt;/span&gt;图上应含 AI宝儿标识、你的问题、回答摘要和相关案例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13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第</a:t>
            </a:r>
            <a:r>
              <a:rPr lang="en-US" sz="2700" b="1">
                <a:solidFill>
                  <a:srgbClr val="1E3A32"/>
                </a:solidFill>
                <a:latin typeface="Microsoft YaHei"/>
                <a:ea typeface="Microsoft YaHei"/>
              </a:rPr>
              <a:t> 2 </a:t>
            </a: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期实操：三道练习题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685800" y="1143000"/>
            <a:ext cx="3476625" cy="5153025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1371600"/>
            <a:ext cx="857250" cy="857250"/>
          </a:xfrm>
          <a:prstGeom prst="rect">
            <a:avLst/>
          </a:prstGeom>
          <a:ln/>
        </p:spPr>
      </p:pic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14400" y="2381250"/>
            <a:ext cx="30194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题一：把笼统改具体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14400" y="2781300"/>
            <a:ext cx="3019425" cy="2085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原句是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这个产品好不好？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。请加上你自己的情况——年龄、作息、最想改善的问题——把它改成一句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能给出针对性答案的问句，然后真的发出去，对比两次回答的长度和具体程度。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914400" y="4867275"/>
            <a:ext cx="3019425" cy="1200150"/>
          </a:xfrm>
          <a:prstGeom prst="roundRect">
            <a:avLst>
              <a:gd name="adj" fmla="val 9524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047750" y="5000625"/>
            <a:ext cx="27527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C9742B"/>
                </a:solidFill>
                <a:latin typeface="Microsoft YaHei"/>
                <a:ea typeface="Microsoft YaHei"/>
              </a:rPr>
              <a:t>参考答案：</a:t>
            </a:r>
            <a:r>
              <a:rPr lang="zh-CN" sz="1350">
                <a:solidFill>
                  <a:srgbClr val="C9742B"/>
                </a:solidFill>
                <a:latin typeface="Microsoft YaHei"/>
                <a:ea typeface="Microsoft YaHei"/>
              </a:rPr>
              <a:t>「我平时经常腹胀、作息不规律，这个适合我吗？重点想改善腹胀。」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4352925" y="1143000"/>
            <a:ext cx="3486150" cy="5029200"/>
          </a:xfrm>
          <a:prstGeom prst="roundRect">
            <a:avLst>
              <a:gd name="adj" fmla="val 382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81525" y="1371600"/>
            <a:ext cx="857250" cy="857250"/>
          </a:xfrm>
          <a:prstGeom prst="rect">
            <a:avLst/>
          </a:prstGeom>
          <a:ln/>
        </p:spPr>
      </p:pic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581525" y="2381250"/>
            <a:ext cx="30289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题二：追问到听懂为止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581525" y="2781300"/>
            <a:ext cx="3028950" cy="1743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找一条你看不太懂的回答，用技巧三连续追问两次。目标不是得到更多字，而是能用你自己的话把答案复述给同事听——复述得出来，这一题才算过。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4581525" y="4743450"/>
            <a:ext cx="3028950" cy="1200150"/>
          </a:xfrm>
          <a:prstGeom prst="roundRect">
            <a:avLst>
              <a:gd name="adj" fmla="val 9524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714875" y="4876800"/>
            <a:ext cx="27622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C9742B"/>
                </a:solidFill>
                <a:latin typeface="Microsoft YaHei"/>
                <a:ea typeface="Microsoft YaHei"/>
              </a:rPr>
              <a:t>参考答案：</a:t>
            </a:r>
            <a:r>
              <a:rPr lang="zh-CN" sz="1350">
                <a:solidFill>
                  <a:srgbClr val="C9742B"/>
                </a:solidFill>
                <a:latin typeface="Microsoft YaHei"/>
                <a:ea typeface="Microsoft YaHei"/>
              </a:rPr>
              <a:t>「请说得简单一点」→「你刚才的重点是什么？分成三点告诉我」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8029575" y="1143000"/>
            <a:ext cx="3476625" cy="502920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58175" y="1371600"/>
            <a:ext cx="857250" cy="857250"/>
          </a:xfrm>
          <a:prstGeom prst="rect">
            <a:avLst/>
          </a:prstGeom>
          <a:ln/>
        </p:spPr>
      </p:pic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258175" y="2381250"/>
            <a:ext cx="30194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题三：做一张分享图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258175" y="2781300"/>
            <a:ext cx="3019425" cy="1743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挑一条你觉得有用的回答，点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生成分享图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，把生成的图片检查一遍：有没有你的问题、回答摘要、相关案例摘要。确认无误后发给一位同事看看他能不能看懂。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8258175" y="5057775"/>
            <a:ext cx="3019425" cy="885825"/>
          </a:xfrm>
          <a:prstGeom prst="roundRect">
            <a:avLst>
              <a:gd name="adj" fmla="val 12903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391525" y="5191125"/>
            <a:ext cx="27527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C9742B"/>
                </a:solidFill>
                <a:latin typeface="Microsoft YaHei"/>
                <a:ea typeface="Microsoft YaHei"/>
              </a:rPr>
              <a:t>验收：</a:t>
            </a:r>
            <a:r>
              <a:rPr lang="zh-CN" sz="1350">
                <a:solidFill>
                  <a:srgbClr val="C9742B"/>
                </a:solidFill>
                <a:latin typeface="Microsoft YaHei"/>
                <a:ea typeface="Microsoft YaHei"/>
              </a:rPr>
              <a:t>图上应含</a:t>
            </a:r>
            <a:r>
              <a:rPr lang="en-US" sz="1350">
                <a:solidFill>
                  <a:srgbClr val="C9742B"/>
                </a:solidFill>
                <a:latin typeface="Microsoft YaHei"/>
                <a:ea typeface="Microsoft YaHei"/>
              </a:rPr>
              <a:t> AI</a:t>
            </a:r>
            <a:r>
              <a:rPr lang="zh-CN" sz="1350">
                <a:solidFill>
                  <a:srgbClr val="C9742B"/>
                </a:solidFill>
                <a:latin typeface="Microsoft YaHei"/>
                <a:ea typeface="Microsoft YaHei"/>
              </a:rPr>
              <a:t>宝儿标识、你的问题、回答摘要和相关案例</a:t>
            </a:r>
            <a:endParaRPr/>
          </a:p>
        </p:txBody>
      </p:sp>
      <p:pic>
        <p:nvPicPr>
          <p:cNvPr id="1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8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本讲小结&lt;/Text&gt;&#10;        &lt;Box style={{ width: 56, height: 4, borderRadius: 2, background: '#1F7A5C', marginTop: 8 }} /&gt;&#10;    &lt;/Box&gt;&#10;&#10;    &lt;Box style={{ height: 528, flexDirection: 'row', gap: 28 }}&gt;&#10;        &lt;Box style={{ width: 600, height: 528 }}&gt;&#10;            &lt;Text style={{ fontSize: 24, fontWeight: 'bold', color: '#1F7A5C', lineHeight: 1.4 }}&gt;&#10;                这一讲，你已掌握&#10;            &lt;/Text&gt;&#10;            &lt;Box style={{ marginTop: 18, gap: 13 }}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进门与身份：两步进入，填好团队与姓名&lt;/Text&gt;&#10;                &lt;/Box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首页四大区域：轮播 / 快捷 / 示例 / 输入&lt;/Text&gt;&#10;                &lt;/Box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四类快捷入口：按目的选对入口&lt;/Text&gt;&#10;                &lt;/Box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五步问答：输入→回答→结论→案例→追问&lt;/Text&gt;&#10;                &lt;/Box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提问三技巧 + 四组照抄模板&lt;/Text&gt;&#10;                &lt;/Box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回答后四动作：点赞 / 分享 / 语音 / 方案&lt;/Text&gt;&#10;                &lt;/Box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完成两期实操：会进门、会问一句、会追问&lt;/Text&gt;&#10;                &lt;/Box&gt;&#10;            &lt;/Box&gt;&#10;        &lt;/Box&gt;&#10;&#10;        &lt;Box style={{ flex: 1, height: 528, justifyContent: 'center' }}&gt;&#10;            &lt;Box style={{ background: 'linear-gradient(135deg, #1F7A5C 0%, #2E9B77 100%)', borderRadius: 18, padding: 28 }}&gt;&#10;                &lt;Text style={{ fontSize: 24, fontWeight: 'bold', color: '#FFFFFF' }}&gt;下一步去哪&lt;/Text&gt;&#10;                &lt;Box style={{ flexDirection: 'row', alignItems: 'center', gap: 12, marginTop: 18 }}&gt;&#10;                    &lt;FAIcon name='arrow-right' style={{ fill: '#FFFFFF', width: 30, height: 30 }} /&gt;&#10;                    &lt;Text style={{ fontSize: 22, color: '#FFFFFF', lineHeight: 1.5, flex: 1 }}&gt;第 2 套《内容与案例参考》&lt;/Text&gt;&#10;                &lt;/Box&gt;&#10;                &lt;Text style={{ fontSize: 20, color: '#FFFFFF', opacity: 0.9, lineHeight: 1.55, marginTop: 12 }}&gt;&#10;                    学怎么用资讯、产品、历史、案例四类内容，把问题喂得更准、答案贴得更紧。&#10;                &lt;/Text&gt;&#10;            &lt;/Box&gt;&#10;            &lt;Box style={{ marginTop: 22, gap: 14 }}&gt;&#10;                &lt;Text style={{ fontSize: 20, color: '#1E3A32', lineHeight: 1.5 }}&gt;记住一句话：&lt;/Text&gt;&#10;                &lt;Text style={{ fontSize: 22, color: '#C9742B', fontWeight: 'bold', lineHeight: 1.5 }}&gt;&#10;                    先点进去，先问一句，再继续追问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入门与上手&lt;/Text&gt;&#10;        &lt;/Box&gt;&#10;        &lt;Text style={{ fontSize: 14, color: '#6B7C75' }}&gt;14 / 14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本讲小结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5715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这一讲，你已掌握</a:t>
            </a:r>
            <a:endParaRPr/>
          </a:p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752600"/>
            <a:ext cx="228600" cy="22860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28700" y="1704975"/>
            <a:ext cx="3429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进门与身份：两步进入，填好团队与姓名</a:t>
            </a:r>
            <a:endParaRPr/>
          </a:p>
        </p:txBody>
      </p:sp>
      <p:pic>
        <p:nvPicPr>
          <p:cNvPr id="1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2200275"/>
            <a:ext cx="228600" cy="228600"/>
          </a:xfrm>
          <a:prstGeom prst="rect">
            <a:avLst/>
          </a:prstGeom>
          <a:ln/>
        </p:spPr>
      </p:pic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028700" y="2152650"/>
            <a:ext cx="334327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首页四大区域：轮播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快捷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示例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pic>
        <p:nvPicPr>
          <p:cNvPr id="1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2647950"/>
            <a:ext cx="228600" cy="228600"/>
          </a:xfrm>
          <a:prstGeom prst="rect">
            <a:avLst/>
          </a:prstGeom>
          <a:ln/>
        </p:spPr>
      </p:pic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028700" y="2600325"/>
            <a:ext cx="2667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四类快捷入口：按目的选对入口</a:t>
            </a:r>
            <a:endParaRPr/>
          </a:p>
        </p:txBody>
      </p:sp>
      <p:pic>
        <p:nvPicPr>
          <p:cNvPr id="1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3095625"/>
            <a:ext cx="228600" cy="228600"/>
          </a:xfrm>
          <a:prstGeom prst="rect">
            <a:avLst/>
          </a:prstGeom>
          <a:ln/>
        </p:spPr>
      </p:pic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028700" y="3048000"/>
            <a:ext cx="36195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五步问答：输入→回答→结论→案例→追问</a:t>
            </a:r>
            <a:endParaRPr/>
          </a:p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3543300"/>
            <a:ext cx="228600" cy="22860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028700" y="3495675"/>
            <a:ext cx="231457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提问三技巧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四组照抄模板</a:t>
            </a:r>
            <a:endParaRPr/>
          </a:p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3990975"/>
            <a:ext cx="228600" cy="22860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28700" y="3943350"/>
            <a:ext cx="334327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回答后四动作：点赞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分享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语音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方案</a:t>
            </a:r>
            <a:endParaRPr/>
          </a:p>
        </p:txBody>
      </p:sp>
      <p:pic>
        <p:nvPicPr>
          <p:cNvPr id="1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4438650"/>
            <a:ext cx="228600" cy="228600"/>
          </a:xfrm>
          <a:prstGeom prst="rect">
            <a:avLst/>
          </a:prstGeom>
          <a:ln/>
        </p:spPr>
      </p:pic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28700" y="4391025"/>
            <a:ext cx="36195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完成两期实操：会进门、会问一句、会追问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667500" y="2028825"/>
            <a:ext cx="4838700" cy="2190750"/>
          </a:xfrm>
          <a:prstGeom prst="roundRect">
            <a:avLst>
              <a:gd name="adj" fmla="val 7826"/>
            </a:avLst>
          </a:prstGeom>
          <a:gradFill>
            <a:gsLst>
              <a:gs pos="0">
                <a:srgbClr val="1F7A5C"/>
              </a:gs>
              <a:gs pos="100000">
                <a:srgbClr val="2E9B7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934200" y="2295525"/>
            <a:ext cx="4305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下一步去哪</a:t>
            </a:r>
            <a:endParaRPr/>
          </a:p>
        </p:txBody>
      </p:sp>
      <p:pic>
        <p:nvPicPr>
          <p:cNvPr id="1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34200" y="2790825"/>
            <a:ext cx="285750" cy="285750"/>
          </a:xfrm>
          <a:prstGeom prst="rect">
            <a:avLst/>
          </a:prstGeom>
          <a:ln/>
        </p:spPr>
      </p:pic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334250" y="2743200"/>
            <a:ext cx="390525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2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套《内容与案例参考》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667500" y="4429125"/>
            <a:ext cx="48387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记住一句话：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667500" y="4905375"/>
            <a:ext cx="48387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C9742B"/>
                </a:solidFill>
                <a:latin typeface="Microsoft YaHei"/>
                <a:ea typeface="Microsoft YaHei"/>
              </a:rPr>
              <a:t>先点进去，先问一句，再继续追问。</a:t>
            </a:r>
            <a:endParaRPr/>
          </a:p>
        </p:txBody>
      </p:sp>
      <p:pic>
        <p:nvPicPr>
          <p:cNvPr id="1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入门与上手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14 / 14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934200" y="3238500"/>
            <a:ext cx="43053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学怎么用资讯、产品、历史、案例四类内容，把问题喂得更准、答案贴得更紧。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2026-08-31T16:35:02Z</dcterms:created>
  <dcterms:modified xsi:type="dcterms:W3CDTF">2026-08-31T16:35:02Z</dcterms:modified>
</cp:coreProperties>
</file>