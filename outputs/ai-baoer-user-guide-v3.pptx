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E8541E"/>
              </a:gs>
              <a:gs pos="55">
                <a:srgbClr val="FF6B35"/>
              </a:gs>
              <a:gs pos="100">
                <a:srgbClr val="FF8A5B"/>
              </a:gs>
            </a:gsLst>
            <a:lin ang="378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548640"/>
            <a:ext cx="2926080" cy="2926080"/>
          </a:xfrm>
          <a:prstGeom prst="ellipse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737360"/>
            <a:ext cx="1280160" cy="1280160"/>
          </a:xfrm>
          <a:prstGeom prst="ellipse">
            <a:avLst/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55480" y="-45720"/>
            <a:ext cx="457200" cy="457200"/>
          </a:xfrm>
          <a:prstGeom prst="ellipse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8686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助手 · 用户使用指南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00200"/>
            <a:ext cx="6949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宝儿</a:t>
            </a:r>
          </a:p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使用指南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FFE9DE"/>
                </a:solidFill>
                <a:latin typeface="Microsoft YaHei"/>
                <a:ea typeface="Microsoft YaHei"/>
                <a:cs typeface="Microsoft YaHei"/>
              </a:rPr>
              <a:t>先认识平台，再学会提问。</a:t>
            </a:r>
          </a:p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FFE9DE"/>
                </a:solidFill>
                <a:latin typeface="Microsoft YaHei"/>
                <a:ea typeface="Microsoft YaHei"/>
                <a:cs typeface="Microsoft YaHei"/>
              </a:rPr>
              <a:t>照着步骤来，第一次也能顺利用起来。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914400"/>
            <a:ext cx="3840480" cy="1170432"/>
          </a:xfrm>
          <a:prstGeom prst="roundRect">
            <a:avLst>
              <a:gd name="adj" fmla="val 10000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7848" y="1143000"/>
            <a:ext cx="713232" cy="713232"/>
          </a:xfrm>
          <a:prstGeom prst="ellipse">
            <a:avLst/>
          </a:prstGeom>
          <a:solidFill>
            <a:srgbClr val="FFFFFF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114300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11556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先认识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48132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E9DE"/>
                </a:solidFill>
                <a:latin typeface="Microsoft YaHei"/>
                <a:ea typeface="Microsoft YaHei"/>
                <a:cs typeface="Microsoft YaHei"/>
              </a:rPr>
              <a:t>AI宝儿是什么 · 它能帮你做什么 · 从哪里开始用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322576"/>
            <a:ext cx="3840480" cy="1170432"/>
          </a:xfrm>
          <a:prstGeom prst="roundRect">
            <a:avLst>
              <a:gd name="adj" fmla="val 10000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27848" y="2551176"/>
            <a:ext cx="713232" cy="713232"/>
          </a:xfrm>
          <a:prstGeom prst="ellipse">
            <a:avLst/>
          </a:prstGeom>
          <a:solidFill>
            <a:srgbClr val="FFFFFF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8" y="2551176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52374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再上手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889504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E9DE"/>
                </a:solidFill>
                <a:latin typeface="Microsoft YaHei"/>
                <a:ea typeface="Microsoft YaHei"/>
                <a:cs typeface="Microsoft YaHei"/>
              </a:rPr>
              <a:t>首页怎么用 · 快捷功能怎么选 · 智能问答怎么问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730752"/>
            <a:ext cx="3840480" cy="1170432"/>
          </a:xfrm>
          <a:prstGeom prst="roundRect">
            <a:avLst>
              <a:gd name="adj" fmla="val 10000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27848" y="3959352"/>
            <a:ext cx="713232" cy="713232"/>
          </a:xfrm>
          <a:prstGeom prst="ellipse">
            <a:avLst/>
          </a:prstGeom>
          <a:solidFill>
            <a:srgbClr val="FFFFFF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3959352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9319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最后会问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297680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FFE9DE"/>
                </a:solidFill>
                <a:latin typeface="Microsoft YaHei"/>
                <a:ea typeface="Microsoft YaHei"/>
                <a:cs typeface="Microsoft YaHei"/>
              </a:rPr>
              <a:t>不会问时照着模板问 · 看不懂时继续追问 · 越问越清楚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532120"/>
            <a:ext cx="6766560" cy="749808"/>
          </a:xfrm>
          <a:prstGeom prst="roundRect">
            <a:avLst>
              <a:gd name="adj" fmla="val 10000"/>
            </a:avLst>
          </a:prstGeom>
          <a:solidFill>
            <a:srgbClr val="FFFFFF">
              <a:alpha val="8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32120"/>
            <a:ext cx="14630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适合谁看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532120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FE9DE"/>
                </a:solidFill>
                <a:latin typeface="Microsoft YaHei"/>
                <a:ea typeface="Microsoft YaHei"/>
                <a:cs typeface="Microsoft YaHei"/>
              </a:rPr>
              <a:t>第一次使用 AI 宝儿的用户 · 带用户学习平台的老师和运营人员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355080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FFD9C7"/>
                </a:solidFill>
                <a:latin typeface="Microsoft YaHei"/>
                <a:ea typeface="Microsoft YaHei"/>
                <a:cs typeface="Microsoft YaHe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2194560"/>
            <a:ext cx="3108960" cy="3108960"/>
          </a:xfrm>
          <a:prstGeom prst="ellipse">
            <a:avLst/>
          </a:prstGeom>
          <a:solidFill>
            <a:srgbClr val="FF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02568" y="-2743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943600"/>
            <a:ext cx="2011680" cy="2011680"/>
          </a:xfrm>
          <a:prstGeom prst="ellipse">
            <a:avLst/>
          </a:prstGeom>
          <a:solidFill>
            <a:srgbClr val="FFEDE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64592" cy="31089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5720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认识 AI 宝儿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AI 宝儿是一个随时在线的小助手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可以问产品、问使用方法、看相关案例，也可以让它帮你整理表达。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20"/>
            <a:ext cx="11091672" cy="1325880"/>
          </a:xfrm>
          <a:prstGeom prst="roundRect">
            <a:avLst>
              <a:gd name="adj" fmla="val 5000"/>
            </a:avLst>
          </a:prstGeom>
          <a:solidFill>
            <a:srgbClr val="F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2167128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67128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011680"/>
            <a:ext cx="9784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AI 宝儿是什么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432304"/>
            <a:ext cx="9875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AI 宝儿是一个可以随时提问、查看内容的智能服务平台。你可以像发微信一样，把想问的内容直接告诉它。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01568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F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34156"/>
            <a:ext cx="603504" cy="6035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7034" y="3660892"/>
            <a:ext cx="277612" cy="2776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5490" y="3944539"/>
            <a:ext cx="120701" cy="84491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401568"/>
            <a:ext cx="99943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一句话理解：不用懂 AI，不用会专业词。你只要先问一句，AI 宝儿会帮你把问题讲清楚。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26280"/>
            <a:ext cx="249859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2376" y="480974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7100" y="4945807"/>
            <a:ext cx="317480" cy="23811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892454" y="5138562"/>
            <a:ext cx="113386" cy="102047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367528"/>
            <a:ext cx="20596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问产品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733288"/>
            <a:ext cx="205968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了解产品是什么、有什么特点、适合什么人。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1558" y="4526280"/>
            <a:ext cx="249859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95294" y="480974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08680" y="4923130"/>
            <a:ext cx="283464" cy="283464"/>
          </a:xfrm>
          <a:prstGeom prst="ellipse">
            <a:avLst/>
          </a:prstGeom>
          <a:noFill/>
          <a:ln w="70866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852459" y="5166909"/>
            <a:ext cx="96377" cy="96377"/>
          </a:xfrm>
          <a:prstGeom prst="line">
            <a:avLst/>
          </a:prstGeom>
          <a:ln w="7086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41014" y="5367528"/>
            <a:ext cx="20596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问使用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1014" y="5733288"/>
            <a:ext cx="205968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想知道怎么使用、什么时候用、要注意什么。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4476" y="4526280"/>
            <a:ext cx="249859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68212" y="480974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15613" y="4911791"/>
            <a:ext cx="272125" cy="35149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40337" y="4923130"/>
            <a:ext cx="14173" cy="32881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3932" y="5367528"/>
            <a:ext cx="20596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看案例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3932" y="5733288"/>
            <a:ext cx="205968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参考相似情况，帮助理解回答，不是生搬硬套。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7394" y="4526280"/>
            <a:ext cx="249859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41130" y="480974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188531" y="4951476"/>
            <a:ext cx="124724" cy="1247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35933" y="4951476"/>
            <a:ext cx="124724" cy="1247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99870" y="5127224"/>
            <a:ext cx="170078" cy="1247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35933" y="5127224"/>
            <a:ext cx="170078" cy="1247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86850" y="5367528"/>
            <a:ext cx="20596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帮表达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86850" y="5733288"/>
            <a:ext cx="205968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把想发给朋友或群里的话整理得更自然。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3AF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2194560"/>
            <a:ext cx="3108960" cy="3108960"/>
          </a:xfrm>
          <a:prstGeom prst="ellipse">
            <a:avLst/>
          </a:prstGeom>
          <a:solidFill>
            <a:srgbClr val="FF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02568" y="-2743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943600"/>
            <a:ext cx="2011680" cy="2011680"/>
          </a:xfrm>
          <a:prstGeom prst="ellipse">
            <a:avLst/>
          </a:prstGeom>
          <a:solidFill>
            <a:srgbClr val="FFEDE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64592" cy="31089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5720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平台模块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平台主要模块一览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先知道每个模块负责什么，用的时候就更容易找到入口。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" y="220370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4108" y="2509845"/>
            <a:ext cx="283464" cy="20409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824423" y="2362444"/>
            <a:ext cx="362834" cy="192756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614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1272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看提示、找入口、开始第一次提问。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9202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11040" y="2203704"/>
            <a:ext cx="566928" cy="566928"/>
          </a:xfrm>
          <a:prstGeom prst="ellipse">
            <a:avLst/>
          </a:prstGeom>
          <a:solidFill>
            <a:srgbClr val="11A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>
            <a:off x="4726473" y="2317090"/>
            <a:ext cx="124724" cy="170078"/>
          </a:xfrm>
          <a:prstGeom prst="line">
            <a:avLst/>
          </a:prstGeom>
          <a:ln w="7086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26473" y="2487168"/>
            <a:ext cx="102047" cy="0"/>
          </a:xfrm>
          <a:prstGeom prst="line">
            <a:avLst/>
          </a:prstGeom>
          <a:ln w="7086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737811" y="2487168"/>
            <a:ext cx="90709" cy="170078"/>
          </a:xfrm>
          <a:prstGeom prst="line">
            <a:avLst/>
          </a:prstGeom>
          <a:ln w="7086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56760" y="27614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快捷功能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60" y="31272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不知道怎么问时，先点这里进入常用场景。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5968" y="19202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99704" y="220370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4428" y="2339767"/>
            <a:ext cx="317480" cy="23811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8469782" y="2532522"/>
            <a:ext cx="113386" cy="102047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5424" y="27614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智能问答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5424" y="31272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直接输入问题，回答后还能继续追问。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776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2376" y="426110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9777" y="4363151"/>
            <a:ext cx="272125" cy="35149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4501" y="4374490"/>
            <a:ext cx="14173" cy="32881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8188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资讯模块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1846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先阅读平台图文内容，再带着问题回来问。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7304" y="39776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11040" y="4261104"/>
            <a:ext cx="566928" cy="566928"/>
          </a:xfrm>
          <a:prstGeom prst="ellipse">
            <a:avLst/>
          </a:prstGeom>
          <a:solidFill>
            <a:srgbClr val="11A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652772" y="4555907"/>
            <a:ext cx="283464" cy="226771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31008" y="4555907"/>
            <a:ext cx="13606" cy="226771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44394" y="4555907"/>
            <a:ext cx="13606" cy="226771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6760" y="48188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产品模块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6760" y="51846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查看产品基础资料，再问适合谁、怎么用。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25968" y="39776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99704" y="426110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47105" y="4402836"/>
            <a:ext cx="124724" cy="1247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94507" y="4402836"/>
            <a:ext cx="124724" cy="1247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58444" y="4578584"/>
            <a:ext cx="170078" cy="1247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94507" y="4578584"/>
            <a:ext cx="170078" cy="1247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45424" y="48188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案例与社区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5424" y="51846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看相似案例，也看别人都在问什么。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3AF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2194560"/>
            <a:ext cx="3108960" cy="3108960"/>
          </a:xfrm>
          <a:prstGeom prst="ellipse">
            <a:avLst/>
          </a:prstGeom>
          <a:solidFill>
            <a:srgbClr val="FF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02568" y="-2743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943600"/>
            <a:ext cx="2011680" cy="2011680"/>
          </a:xfrm>
          <a:prstGeom prst="ellipse">
            <a:avLst/>
          </a:prstGeom>
          <a:solidFill>
            <a:srgbClr val="FFEDE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64592" cy="31089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5720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第一次使用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第一次使用，照着这 4 步来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不用一下子学会所有功能，先完成一次提问就算上手。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2498598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19456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50008"/>
            <a:ext cx="144703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看首页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34640"/>
            <a:ext cx="144703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先看看页面提示，找到常用功能入口。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1558" y="1965960"/>
            <a:ext cx="2498598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4438" y="219456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4438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0238" y="2350008"/>
            <a:ext cx="144703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点入口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0238" y="2834640"/>
            <a:ext cx="144703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想了解产品就点产品资料，想问用法就点使用答疑。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4476" y="1965960"/>
            <a:ext cx="2498598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77356" y="219456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7356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3156" y="2350008"/>
            <a:ext cx="144703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问一句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2834640"/>
            <a:ext cx="144703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先问最简单的问题，比如“这个产品适合什么人？”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7394" y="1965960"/>
            <a:ext cx="2498598" cy="2057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50274" y="219456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0274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6074" y="2350008"/>
            <a:ext cx="144703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再追问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6074" y="2834640"/>
            <a:ext cx="144703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看完回答以后，不懂就继续问一句。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544982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4088" y="4544568"/>
            <a:ext cx="603504" cy="6035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6859" y="4689409"/>
            <a:ext cx="337962" cy="253472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885139" y="4894600"/>
            <a:ext cx="120701" cy="108631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40" y="4544568"/>
            <a:ext cx="4352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第一句推荐这样问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965192"/>
            <a:ext cx="4352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这个产品适合什么人？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这个产品怎么使用？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有没有相关案例可以看看？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2784" y="4343400"/>
            <a:ext cx="544982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28232" y="4544568"/>
            <a:ext cx="603504" cy="603504"/>
          </a:xfrm>
          <a:prstGeom prst="ellipse">
            <a:avLst/>
          </a:prstGeom>
          <a:solidFill>
            <a:srgbClr val="11A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45445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7184" y="4544568"/>
            <a:ext cx="4352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看完回答以后做什么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87184" y="4965192"/>
            <a:ext cx="43525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没看懂，就让它说简单一点。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看到案例，就问和自己像不像。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看到资讯或产品资料，就补一句自己的情况。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3AF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2194560"/>
            <a:ext cx="3108960" cy="3108960"/>
          </a:xfrm>
          <a:prstGeom prst="ellipse">
            <a:avLst/>
          </a:prstGeom>
          <a:solidFill>
            <a:srgbClr val="FF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02568" y="-2743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943600"/>
            <a:ext cx="2011680" cy="2011680"/>
          </a:xfrm>
          <a:prstGeom prst="ellipse">
            <a:avLst/>
          </a:prstGeom>
          <a:solidFill>
            <a:srgbClr val="FFEDE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64592" cy="31089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5720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怎么用模块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内容模块适合先看，问答模块适合继续问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先看内容建立理解，再用智能问答把自己的问题问清楚。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51434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" y="224942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777" y="2351471"/>
            <a:ext cx="272125" cy="35149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4501" y="2362810"/>
            <a:ext cx="14173" cy="32881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80720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资讯模块怎么用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172968"/>
            <a:ext cx="30754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想先了解平台内容、图文知识和动态时，先看资讯。看完以后，不懂的地方可以继续问 AI 宝儿。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965960"/>
            <a:ext cx="351434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11040" y="224942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2772" y="2544227"/>
            <a:ext cx="283464" cy="226771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31008" y="2544227"/>
            <a:ext cx="13606" cy="226771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4394" y="2544227"/>
            <a:ext cx="13606" cy="226771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6760" y="280720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产品模块怎么用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60" y="3172968"/>
            <a:ext cx="30754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想了解某个产品时，先看名称、介绍、分类和亮点。再回到问答区问适合谁、怎么用。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40"/>
            <a:ext cx="351434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376" y="4261104"/>
            <a:ext cx="566928" cy="566928"/>
          </a:xfrm>
          <a:prstGeom prst="ellipse">
            <a:avLst/>
          </a:prstGeom>
          <a:solidFill>
            <a:srgbClr val="11A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9777" y="4363151"/>
            <a:ext cx="272125" cy="35149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4501" y="4374490"/>
            <a:ext cx="14173" cy="32881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8188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案例推荐怎么用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184648"/>
            <a:ext cx="30754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回答下方出现相关案例时，重点看是否和自己情况相似。案例是参考，不是完全照搬。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7304" y="3977640"/>
            <a:ext cx="351434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11040" y="426110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58441" y="4402836"/>
            <a:ext cx="124724" cy="1247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05843" y="4402836"/>
            <a:ext cx="124724" cy="1247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669780" y="4578584"/>
            <a:ext cx="170078" cy="1247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05843" y="4578584"/>
            <a:ext cx="170078" cy="1247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6760" y="48188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社区问答怎么用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6760" y="5184648"/>
            <a:ext cx="30754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不知道自己该问什么时，可以先看看别人都在问什么，再结合自己的情况去问。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9788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F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4088" y="5879592"/>
            <a:ext cx="603504" cy="6035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67034" y="6006328"/>
            <a:ext cx="277612" cy="2776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5490" y="6289975"/>
            <a:ext cx="120701" cy="84491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63040" y="5897880"/>
            <a:ext cx="99943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一句话记住：先用内容模块建立理解，再用智能问答把自己的问题问透。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3AF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2194560"/>
            <a:ext cx="3108960" cy="3108960"/>
          </a:xfrm>
          <a:prstGeom prst="ellipse">
            <a:avLst/>
          </a:prstGeom>
          <a:solidFill>
            <a:srgbClr val="FF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02568" y="-2743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943600"/>
            <a:ext cx="2011680" cy="2011680"/>
          </a:xfrm>
          <a:prstGeom prst="ellipse">
            <a:avLst/>
          </a:prstGeom>
          <a:solidFill>
            <a:srgbClr val="FFEDE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64592" cy="31089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5720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怎么提问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提问不用专业，像聊天一样问就行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先问简单问题，再补充自己的情况，回答会更清楚。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51434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" y="224942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7100" y="2385487"/>
            <a:ext cx="317480" cy="23811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892454" y="2578242"/>
            <a:ext cx="113386" cy="102047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80720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像聊天一样问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172968"/>
            <a:ext cx="307543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不用写得正式，像平时说话一样就行。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965960"/>
            <a:ext cx="351434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11040" y="2249424"/>
            <a:ext cx="566928" cy="566928"/>
          </a:xfrm>
          <a:prstGeom prst="ellipse">
            <a:avLst/>
          </a:prstGeom>
          <a:solidFill>
            <a:srgbClr val="11A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1040" y="224942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6760" y="280720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一次先问一件事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6760" y="3172968"/>
            <a:ext cx="307543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问题越单纯，回答越清楚，自己也更容易看懂。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351434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2376" y="453542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9777" y="4677156"/>
            <a:ext cx="124724" cy="1247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7179" y="4677156"/>
            <a:ext cx="124724" cy="1247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1116" y="4852904"/>
            <a:ext cx="170078" cy="1247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17179" y="4852904"/>
            <a:ext cx="170078" cy="1247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09320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把自己的情况说出来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458968"/>
            <a:ext cx="307543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只要说真实情况，不用专业术语，回答就会更贴近你。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7304" y="4251960"/>
            <a:ext cx="3514344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11040" y="453542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1040" y="453542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6760" y="509320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没听懂就继续问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6760" y="5458968"/>
            <a:ext cx="3075432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可以直接说：请你说简单一点，或者分三点告诉我。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3AF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2194560"/>
            <a:ext cx="3108960" cy="3108960"/>
          </a:xfrm>
          <a:prstGeom prst="ellipse">
            <a:avLst/>
          </a:prstGeom>
          <a:solidFill>
            <a:srgbClr val="FF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02568" y="-2743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943600"/>
            <a:ext cx="2011680" cy="2011680"/>
          </a:xfrm>
          <a:prstGeom prst="ellipse">
            <a:avLst/>
          </a:prstGeom>
          <a:solidFill>
            <a:srgbClr val="FFEDE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64592" cy="31089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5720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照着问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不会问时，直接照着这几句问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把下面这些句子发给 AI 宝儿，就可以开始使用。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3422904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" y="220370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7100" y="2339767"/>
            <a:ext cx="317480" cy="23811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892454" y="2532522"/>
            <a:ext cx="113386" cy="102047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61488"/>
            <a:ext cx="2983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产品了解类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127248"/>
            <a:ext cx="2983992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这个产品主要是做什么的？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这个产品适合什么人？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这个产品有什么特点？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5864" y="1920240"/>
            <a:ext cx="3422904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19600" y="220370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2986" y="2317090"/>
            <a:ext cx="283464" cy="283464"/>
          </a:xfrm>
          <a:prstGeom prst="ellipse">
            <a:avLst/>
          </a:prstGeom>
          <a:noFill/>
          <a:ln w="70866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776765" y="2560869"/>
            <a:ext cx="96377" cy="96377"/>
          </a:xfrm>
          <a:prstGeom prst="line">
            <a:avLst/>
          </a:prstGeom>
          <a:ln w="7086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65320" y="2761488"/>
            <a:ext cx="2983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使用答疑类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5320" y="3127248"/>
            <a:ext cx="2983992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这个产品怎么使用？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使用时需要注意什么？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我这种情况要重点注意什么？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3088" y="1920240"/>
            <a:ext cx="3422904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16824" y="2203704"/>
            <a:ext cx="566928" cy="566928"/>
          </a:xfrm>
          <a:prstGeom prst="ellipse">
            <a:avLst/>
          </a:prstGeom>
          <a:solidFill>
            <a:srgbClr val="11A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6824" y="22037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2544" y="2761488"/>
            <a:ext cx="29839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继续追问类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2544" y="3127248"/>
            <a:ext cx="2983992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请你说简单一点。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请你分点告诉我。</a:t>
            </a:r>
          </a:p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你刚才说的重点是什么？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72000"/>
            <a:ext cx="1109167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8" y="4956048"/>
            <a:ext cx="603504" cy="6035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0999" y="5064679"/>
            <a:ext cx="289682" cy="3741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3770" y="5076749"/>
            <a:ext cx="15088" cy="35003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47731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案例参考类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193792"/>
            <a:ext cx="99029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有没有和我情况差不多的案例？    哪类案例更适合我参考？    这个案例和我像不像？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3AF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2194560"/>
            <a:ext cx="3108960" cy="3108960"/>
          </a:xfrm>
          <a:prstGeom prst="ellipse">
            <a:avLst/>
          </a:prstGeom>
          <a:solidFill>
            <a:srgbClr val="FF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02568" y="-2743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943600"/>
            <a:ext cx="2011680" cy="2011680"/>
          </a:xfrm>
          <a:prstGeom prst="ellipse">
            <a:avLst/>
          </a:prstGeom>
          <a:solidFill>
            <a:srgbClr val="FFEDE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64592" cy="31089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5720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越问越清楚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看完回答以后，要学会继续追问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AI 宝儿不是只能回答一次。越会追问，越容易得到自己真正想知道的内容。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" y="224942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24942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7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80720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回答太长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17296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可以问：请你说得简单一点。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也可以问：请你分成三点告诉我。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7304" y="196596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11040" y="224942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1040" y="224942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760" y="280720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回答没看懂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6760" y="317296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可以问：你刚才说的重点是什么？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也可以问：请你用更容易懂的话说一遍。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2376" y="4261104"/>
            <a:ext cx="566928" cy="566928"/>
          </a:xfrm>
          <a:prstGeom prst="ellipse">
            <a:avLst/>
          </a:prstGeom>
          <a:solidFill>
            <a:srgbClr val="11A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9777" y="4402836"/>
            <a:ext cx="124724" cy="1247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7179" y="4402836"/>
            <a:ext cx="124724" cy="1247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1116" y="4578584"/>
            <a:ext cx="170078" cy="1247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7179" y="4578584"/>
            <a:ext cx="170078" cy="1247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8188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想结合自己情况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1846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可以补一句：我平时肠胃比较敏感。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也可以补一句：我想看适合我年龄的参考。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7304" y="39776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11040" y="426110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58441" y="4363151"/>
            <a:ext cx="272125" cy="35149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83165" y="4374490"/>
            <a:ext cx="14173" cy="32881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6760" y="48188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看到相关案例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6760" y="51846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可以问：这个案例和我像不像？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也可以问：这个案例最值得参考的是什么？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3AF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2194560"/>
            <a:ext cx="3108960" cy="3108960"/>
          </a:xfrm>
          <a:prstGeom prst="ellipse">
            <a:avLst/>
          </a:prstGeom>
          <a:solidFill>
            <a:srgbClr val="FF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02568" y="-2743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943600"/>
            <a:ext cx="2011680" cy="2011680"/>
          </a:xfrm>
          <a:prstGeom prst="ellipse">
            <a:avLst/>
          </a:prstGeom>
          <a:solidFill>
            <a:srgbClr val="FFEDE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64592" cy="31089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5720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安全提醒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使用时记住这几条提醒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这些提醒可以放在培训结尾，也可以做成用户手册里的安全说明。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" y="2203704"/>
            <a:ext cx="566928" cy="566928"/>
          </a:xfrm>
          <a:prstGeom prst="ellipse">
            <a:avLst/>
          </a:prstGeom>
          <a:solidFill>
            <a:srgbClr val="11A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58439" y="2498507"/>
            <a:ext cx="113385" cy="113385"/>
          </a:xfrm>
          <a:prstGeom prst="line">
            <a:avLst/>
          </a:prstGeom>
          <a:ln w="7086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71824" y="2362444"/>
            <a:ext cx="204094" cy="249448"/>
          </a:xfrm>
          <a:prstGeom prst="line">
            <a:avLst/>
          </a:prstGeom>
          <a:ln w="7086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8096" y="27614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不用担心问错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1272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问错了重新问就行。AI 宝儿不会因为你问得不专业就不能回答。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9202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11040" y="220370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1040" y="22037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6760" y="27614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不要一次问太多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6760" y="31272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一次先问一件事，看懂以后再问下一件。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5968" y="19202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99704" y="220370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47105" y="2305751"/>
            <a:ext cx="272125" cy="35149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71829" y="2317090"/>
            <a:ext cx="14173" cy="32881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5424" y="27614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案例只能作参考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5424" y="31272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别人情况和自己不一定完全一样，重点看相似点。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776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261104"/>
            <a:ext cx="566928" cy="566928"/>
          </a:xfrm>
          <a:prstGeom prst="ellipse">
            <a:avLst/>
          </a:prstGeom>
          <a:solidFill>
            <a:srgbClr val="E89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785" y="4567245"/>
            <a:ext cx="238110" cy="1927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139" y="4425513"/>
            <a:ext cx="147401" cy="147401"/>
          </a:xfrm>
          <a:prstGeom prst="ellipse">
            <a:avLst/>
          </a:prstGeom>
          <a:noFill/>
          <a:ln w="70866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8188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隐私信息不要发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51846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身份证、银行卡、验证码等敏感信息不要输入。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7304" y="39776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11040" y="4261104"/>
            <a:ext cx="566928" cy="566928"/>
          </a:xfrm>
          <a:prstGeom prst="ellipse">
            <a:avLst/>
          </a:prstGeom>
          <a:solidFill>
            <a:srgbClr val="E89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4819" y="4385828"/>
            <a:ext cx="79370" cy="31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35764" y="4504883"/>
            <a:ext cx="317480" cy="793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6760" y="48188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身体不适要就医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6760" y="51846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AI 宝儿可以帮助理解内容，但不能替代医生诊断。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5968" y="3977640"/>
            <a:ext cx="3514344" cy="1874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99704" y="4261104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9704" y="426110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5424" y="4818888"/>
            <a:ext cx="30754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越用越会问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5424" y="5184648"/>
            <a:ext cx="307543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先学会第一句，后面慢慢就会越问越清楚。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3AF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2194560"/>
            <a:ext cx="3108960" cy="3108960"/>
          </a:xfrm>
          <a:prstGeom prst="ellipse">
            <a:avLst/>
          </a:prstGeom>
          <a:solidFill>
            <a:srgbClr val="FF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02568" y="-2743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943600"/>
            <a:ext cx="2011680" cy="2011680"/>
          </a:xfrm>
          <a:prstGeom prst="ellipse">
            <a:avLst/>
          </a:prstGeom>
          <a:solidFill>
            <a:srgbClr val="FFEDE3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164592" cy="31089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57200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开始使用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686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学会第一句，就会越用越顺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1790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最重要的是先完成第一次成功提问。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781812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8660" y="2171700"/>
            <a:ext cx="868680" cy="8686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" y="217170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" y="308610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先看首页</a:t>
            </a:r>
          </a:p>
        </p:txBody>
      </p:sp>
      <p:sp>
        <p:nvSpPr>
          <p:cNvPr id="13" name="Oval 12"/>
          <p:cNvSpPr/>
          <p:nvPr/>
        </p:nvSpPr>
        <p:spPr>
          <a:xfrm>
            <a:off x="3086100" y="2171700"/>
            <a:ext cx="868680" cy="8686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6100" y="217170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08610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点快捷功能</a:t>
            </a:r>
          </a:p>
        </p:txBody>
      </p:sp>
      <p:sp>
        <p:nvSpPr>
          <p:cNvPr id="16" name="Oval 15"/>
          <p:cNvSpPr/>
          <p:nvPr/>
        </p:nvSpPr>
        <p:spPr>
          <a:xfrm>
            <a:off x="5463540" y="2171700"/>
            <a:ext cx="868680" cy="8686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63540" y="217170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08610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问第一句</a:t>
            </a:r>
          </a:p>
        </p:txBody>
      </p:sp>
      <p:sp>
        <p:nvSpPr>
          <p:cNvPr id="19" name="Oval 18"/>
          <p:cNvSpPr/>
          <p:nvPr/>
        </p:nvSpPr>
        <p:spPr>
          <a:xfrm>
            <a:off x="708660" y="3589020"/>
            <a:ext cx="868680" cy="8686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" y="358902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450342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看回答</a:t>
            </a:r>
          </a:p>
        </p:txBody>
      </p:sp>
      <p:sp>
        <p:nvSpPr>
          <p:cNvPr id="22" name="Oval 21"/>
          <p:cNvSpPr/>
          <p:nvPr/>
        </p:nvSpPr>
        <p:spPr>
          <a:xfrm>
            <a:off x="3086100" y="3589020"/>
            <a:ext cx="868680" cy="8686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86100" y="358902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50342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看案例或产品资料</a:t>
            </a:r>
          </a:p>
        </p:txBody>
      </p:sp>
      <p:sp>
        <p:nvSpPr>
          <p:cNvPr id="25" name="Oval 24"/>
          <p:cNvSpPr/>
          <p:nvPr/>
        </p:nvSpPr>
        <p:spPr>
          <a:xfrm>
            <a:off x="5463540" y="3589020"/>
            <a:ext cx="868680" cy="868680"/>
          </a:xfrm>
          <a:prstGeom prst="ellipse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63540" y="358902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50342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继续问一句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77340" y="2606040"/>
            <a:ext cx="1508760" cy="0"/>
          </a:xfrm>
          <a:prstGeom prst="line">
            <a:avLst/>
          </a:prstGeom>
          <a:ln w="38100">
            <a:solidFill>
              <a:srgbClr val="FF6B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54780" y="2606040"/>
            <a:ext cx="1508760" cy="0"/>
          </a:xfrm>
          <a:prstGeom prst="line">
            <a:avLst/>
          </a:prstGeom>
          <a:ln w="38100">
            <a:solidFill>
              <a:srgbClr val="FF6B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577340" y="4023360"/>
            <a:ext cx="1508760" cy="0"/>
          </a:xfrm>
          <a:prstGeom prst="line">
            <a:avLst/>
          </a:prstGeom>
          <a:ln w="38100">
            <a:solidFill>
              <a:srgbClr val="FF6B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954780" y="4023360"/>
            <a:ext cx="1508760" cy="0"/>
          </a:xfrm>
          <a:prstGeom prst="line">
            <a:avLst/>
          </a:prstGeom>
          <a:ln w="38100">
            <a:solidFill>
              <a:srgbClr val="FF6B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43000" y="3040380"/>
            <a:ext cx="0" cy="548640"/>
          </a:xfrm>
          <a:prstGeom prst="line">
            <a:avLst/>
          </a:prstGeom>
          <a:ln w="38100">
            <a:solidFill>
              <a:srgbClr val="FF6B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641080" y="1920240"/>
            <a:ext cx="2999232" cy="4160520"/>
          </a:xfrm>
          <a:prstGeom prst="roundRect">
            <a:avLst>
              <a:gd name="adj" fmla="val 5000"/>
            </a:avLst>
          </a:prstGeom>
          <a:solidFill>
            <a:srgbClr val="F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21488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F6B35"/>
                </a:solidFill>
                <a:latin typeface="Microsoft YaHei"/>
                <a:ea typeface="Microsoft YaHei"/>
                <a:cs typeface="Microsoft YaHei"/>
              </a:rPr>
              <a:t>最后记住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2651760"/>
            <a:ext cx="2606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不会没关系。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先问一句就行。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看不懂就让它说简单一点。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用得越多，越知道怎么问。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263640"/>
            <a:ext cx="11091672" cy="502920"/>
          </a:xfrm>
          <a:prstGeom prst="roundRect">
            <a:avLst>
              <a:gd name="adj" fmla="val 6000"/>
            </a:avLst>
          </a:prstGeom>
          <a:solidFill>
            <a:srgbClr val="FF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4088" y="6213348"/>
            <a:ext cx="603504" cy="6035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848929" y="6527170"/>
            <a:ext cx="120701" cy="120701"/>
          </a:xfrm>
          <a:prstGeom prst="line">
            <a:avLst/>
          </a:prstGeom>
          <a:ln w="75438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69630" y="6382329"/>
            <a:ext cx="217261" cy="265542"/>
          </a:xfrm>
          <a:prstGeom prst="line">
            <a:avLst/>
          </a:prstGeom>
          <a:ln w="75438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463040" y="6263640"/>
            <a:ext cx="999439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430"/>
                </a:solidFill>
                <a:latin typeface="Microsoft YaHei"/>
                <a:ea typeface="Microsoft YaHei"/>
                <a:cs typeface="Microsoft YaHei"/>
              </a:rPr>
              <a:t>先点进去，先问一句，再继续追问。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400800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A3AF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