
<file path=[Content_Types].xml><?xml version="1.0" encoding="utf-8"?>
<Types xmlns="http://schemas.openxmlformats.org/package/2006/content-types">
  <Default Extension="svg" ContentType="image/svg+xml"/>
  <Default Extension="xml" ContentType="application/xml"/>
  <Default Extension="rels" ContentType="application/vnd.openxmlformats-package.relationships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33.xml" ContentType="application/vnd.openxmlformats-officedocument.presentationml.slide+xml"/>
  <Override PartName="/ppt/slides/slide11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25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30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s/slide29.xml" ContentType="application/vnd.openxmlformats-officedocument.presentationml.slide+xml"/>
  <Override PartName="/ppt/slides/slide3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32.xml" ContentType="application/vnd.openxmlformats-officedocument.presentationml.slide+xml"/>
  <Override PartName="/ppt/presentation.xml" ContentType="application/vnd.openxmlformats-officedocument.presentationml.presentation.main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viewProps.xml" ContentType="application/vnd.openxmlformats-officedocument.presentationml.viewProps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34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6" Type="http://schemas.openxmlformats.org/officeDocument/2006/relationships/slide" Target="slides/slide6.xml" /><Relationship Id="rId37" Type="http://schemas.openxmlformats.org/officeDocument/2006/relationships/viewProps" Target="viewProps.xml" /><Relationship Id="rId35" Type="http://schemas.openxmlformats.org/officeDocument/2006/relationships/presProps" Target="presProps.xml" /><Relationship Id="rId34" Type="http://schemas.openxmlformats.org/officeDocument/2006/relationships/notesMaster" Target="notesMasters/notesMaster1.xml" /><Relationship Id="rId31" Type="http://schemas.openxmlformats.org/officeDocument/2006/relationships/slide" Target="slides/slide31.xml" /><Relationship Id="rId30" Type="http://schemas.openxmlformats.org/officeDocument/2006/relationships/slide" Target="slides/slide30.xml" /><Relationship Id="rId28" Type="http://schemas.openxmlformats.org/officeDocument/2006/relationships/slide" Target="slides/slide28.xml" /><Relationship Id="rId27" Type="http://schemas.openxmlformats.org/officeDocument/2006/relationships/slide" Target="slides/slide27.xml" /><Relationship Id="rId18" Type="http://schemas.openxmlformats.org/officeDocument/2006/relationships/slide" Target="slides/slide18.xml" /><Relationship Id="rId29" Type="http://schemas.openxmlformats.org/officeDocument/2006/relationships/slide" Target="slides/slide29.xml" /><Relationship Id="rId26" Type="http://schemas.openxmlformats.org/officeDocument/2006/relationships/slide" Target="slides/slide26.xml" /><Relationship Id="rId25" Type="http://schemas.openxmlformats.org/officeDocument/2006/relationships/slide" Target="slides/slide25.xml" /><Relationship Id="rId32" Type="http://schemas.openxmlformats.org/officeDocument/2006/relationships/slide" Target="slides/slide32.xml" /><Relationship Id="rId24" Type="http://schemas.openxmlformats.org/officeDocument/2006/relationships/slide" Target="slides/slide24.xml" /><Relationship Id="rId4" Type="http://schemas.openxmlformats.org/officeDocument/2006/relationships/slide" Target="slides/slide4.xml" /><Relationship Id="rId23" Type="http://schemas.openxmlformats.org/officeDocument/2006/relationships/slide" Target="slides/slide23.xml" /><Relationship Id="rId2" Type="http://schemas.openxmlformats.org/officeDocument/2006/relationships/slide" Target="slides/slide2.xml" /><Relationship Id="rId19" Type="http://schemas.openxmlformats.org/officeDocument/2006/relationships/slide" Target="slides/slide19.xml" /><Relationship Id="rId10" Type="http://schemas.openxmlformats.org/officeDocument/2006/relationships/slide" Target="slides/slide10.xml" /><Relationship Id="rId15" Type="http://schemas.openxmlformats.org/officeDocument/2006/relationships/slide" Target="slides/slide15.xml" /><Relationship Id="rId7" Type="http://schemas.openxmlformats.org/officeDocument/2006/relationships/slide" Target="slides/slide7.xml" /><Relationship Id="rId16" Type="http://schemas.openxmlformats.org/officeDocument/2006/relationships/slide" Target="slides/slide16.xml" /><Relationship Id="rId14" Type="http://schemas.openxmlformats.org/officeDocument/2006/relationships/slide" Target="slides/slide14.xml" /><Relationship Id="rId1" Type="http://schemas.openxmlformats.org/officeDocument/2006/relationships/slide" Target="slides/slide1.xml" /><Relationship Id="rId20" Type="http://schemas.openxmlformats.org/officeDocument/2006/relationships/slide" Target="slides/slide20.xml" /><Relationship Id="rId11" Type="http://schemas.openxmlformats.org/officeDocument/2006/relationships/slide" Target="slides/slide11.xml" /><Relationship Id="rId36" Type="http://schemas.openxmlformats.org/officeDocument/2006/relationships/tableStyles" Target="tableStyles.xml" /><Relationship Id="rId33" Type="http://schemas.openxmlformats.org/officeDocument/2006/relationships/slide" Target="slides/slide33.xml" /><Relationship Id="rId12" Type="http://schemas.openxmlformats.org/officeDocument/2006/relationships/slide" Target="slides/slide12.xml" /><Relationship Id="rId21" Type="http://schemas.openxmlformats.org/officeDocument/2006/relationships/slide" Target="slides/slide21.xml" /><Relationship Id="rId17" Type="http://schemas.openxmlformats.org/officeDocument/2006/relationships/slide" Target="slides/slide17.xml" /><Relationship Id="rId22" Type="http://schemas.openxmlformats.org/officeDocument/2006/relationships/slide" Target="slides/slide22.xml" /><Relationship Id="rId5" Type="http://schemas.openxmlformats.org/officeDocument/2006/relationships/slide" Target="slides/slide5.xml" /><Relationship Id="rId3" Type="http://schemas.openxmlformats.org/officeDocument/2006/relationships/slide" Target="slides/slide3.xml" /><Relationship Id="rId13" Type="http://schemas.openxmlformats.org/officeDocument/2006/relationships/slide" Target="slides/slide13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3" Type="http://schemas.openxmlformats.org/officeDocument/2006/relationships/image" Target="media/image3.svg" /><Relationship Id="rId2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6.sv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39.sv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5" Type="http://schemas.openxmlformats.org/officeDocument/2006/relationships/image" Target="media/image6.svg" /><Relationship Id="rId4" Type="http://schemas.openxmlformats.org/officeDocument/2006/relationships/image" Target="media/image47.svg" /><Relationship Id="rId3" Type="http://schemas.openxmlformats.org/officeDocument/2006/relationships/image" Target="media/image46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4.svg" /><Relationship Id="rId2" Type="http://schemas.openxmlformats.org/officeDocument/2006/relationships/image" Target="media/image45.svg" /></Relationships>
</file>

<file path=ppt/slides/_rels/slide5.xml.rels><?xml version="1.0" encoding="UTF-8" standalone="yes"?><Relationships xmlns="http://schemas.openxmlformats.org/package/2006/relationships"><Relationship Id="rId3" Type="http://schemas.openxmlformats.org/officeDocument/2006/relationships/image" Target="media/image6.svg" /><Relationship Id="rId2" Type="http://schemas.openxmlformats.org/officeDocument/2006/relationships/image" Target="media/image49.svg" /><Relationship Id="rId1" Type="http://schemas.openxmlformats.org/officeDocument/2006/relationships/image" Target="media/image48.sv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5" Type="http://schemas.openxmlformats.org/officeDocument/2006/relationships/image" Target="media/image6.svg" /><Relationship Id="rId4" Type="http://schemas.openxmlformats.org/officeDocument/2006/relationships/image" Target="media/image53.svg" /><Relationship Id="rId2" Type="http://schemas.openxmlformats.org/officeDocument/2006/relationships/image" Target="media/image51.svg" /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52.svg" /><Relationship Id="rId1" Type="http://schemas.openxmlformats.org/officeDocument/2006/relationships/image" Target="media/image50.svg" /></Relationships>
</file>

<file path=ppt/slides/_rels/slide7.xml.rels><?xml version="1.0" encoding="UTF-8" standalone="yes"?><Relationships xmlns="http://schemas.openxmlformats.org/package/2006/relationships"><Relationship Id="rId5" Type="http://schemas.openxmlformats.org/officeDocument/2006/relationships/image" Target="media/image6.svg" /><Relationship Id="rId4" Type="http://schemas.openxmlformats.org/officeDocument/2006/relationships/image" Target="media/image57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55.svg" /><Relationship Id="rId1" Type="http://schemas.openxmlformats.org/officeDocument/2006/relationships/image" Target="media/image54.svg" /><Relationship Id="rId3" Type="http://schemas.openxmlformats.org/officeDocument/2006/relationships/image" Target="media/image56.svg" /></Relationships>
</file>

<file path=ppt/slides/_rels/slide8.xml.rels><?xml version="1.0" encoding="UTF-8" standalone="yes"?><Relationships xmlns="http://schemas.openxmlformats.org/package/2006/relationships"><Relationship Id="rId4" Type="http://schemas.openxmlformats.org/officeDocument/2006/relationships/image" Target="media/image6.svg" /><Relationship Id="rId2" Type="http://schemas.openxmlformats.org/officeDocument/2006/relationships/image" Target="media/image59.svg" /><Relationship Id="rId3" Type="http://schemas.openxmlformats.org/officeDocument/2006/relationships/image" Target="media/image60.svg" /><Relationship Id="rId1" Type="http://schemas.openxmlformats.org/officeDocument/2006/relationships/image" Target="media/image58.sv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61.sv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3" Type="http://schemas.openxmlformats.org/officeDocument/2006/relationships/image" Target="media/image6.svg" /><Relationship Id="rId2" Type="http://schemas.openxmlformats.org/officeDocument/2006/relationships/image" Target="media/image5.svg" /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6.sv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6.sv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6.sv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6" Type="http://schemas.openxmlformats.org/officeDocument/2006/relationships/image" Target="media/image6.svg" /><Relationship Id="rId5" Type="http://schemas.openxmlformats.org/officeDocument/2006/relationships/image" Target="media/image11.svg" /><Relationship Id="rId4" Type="http://schemas.openxmlformats.org/officeDocument/2006/relationships/image" Target="media/image10.svg" /><Relationship Id="rId2" Type="http://schemas.openxmlformats.org/officeDocument/2006/relationships/image" Target="media/image8.svg" /><Relationship Id="rId1" Type="http://schemas.openxmlformats.org/officeDocument/2006/relationships/image" Target="media/image7.svg" /><Relationship Id="rId3" Type="http://schemas.openxmlformats.org/officeDocument/2006/relationships/image" Target="media/image9.sv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4" Type="http://schemas.openxmlformats.org/officeDocument/2006/relationships/image" Target="media/image6.svg" /><Relationship Id="rId2" Type="http://schemas.openxmlformats.org/officeDocument/2006/relationships/image" Target="media/image13.svg" /><Relationship Id="rId1" Type="http://schemas.openxmlformats.org/officeDocument/2006/relationships/image" Target="media/image12.svg" /><Relationship Id="rId3" Type="http://schemas.openxmlformats.org/officeDocument/2006/relationships/image" Target="media/image14.sv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15.sv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2" Type="http://schemas.openxmlformats.org/officeDocument/2006/relationships/image" Target="media/image6.svg" /><Relationship Id="rId1" Type="http://schemas.openxmlformats.org/officeDocument/2006/relationships/image" Target="media/image16.sv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5" Type="http://schemas.openxmlformats.org/officeDocument/2006/relationships/image" Target="media/image6.svg" /><Relationship Id="rId3" Type="http://schemas.openxmlformats.org/officeDocument/2006/relationships/image" Target="media/image19.svg" /><Relationship Id="rId4" Type="http://schemas.openxmlformats.org/officeDocument/2006/relationships/image" Target="media/image20.svg" /><Relationship Id="rId2" Type="http://schemas.openxmlformats.org/officeDocument/2006/relationships/image" Target="media/image18.svg" /><Relationship Id="rId1" Type="http://schemas.openxmlformats.org/officeDocument/2006/relationships/image" Target="media/image17.sv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6.sv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2" Type="http://schemas.openxmlformats.org/officeDocument/2006/relationships/image" Target="media/image18.svg" /><Relationship Id="rId1" Type="http://schemas.openxmlformats.org/officeDocument/2006/relationships/image" Target="media/image21.svg" /><Relationship Id="rId3" Type="http://schemas.openxmlformats.org/officeDocument/2006/relationships/image" Target="media/image6.sv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22.svg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2" Type="http://schemas.openxmlformats.org/officeDocument/2006/relationships/image" Target="media/image18.svg" /><Relationship Id="rId1" Type="http://schemas.openxmlformats.org/officeDocument/2006/relationships/image" Target="media/image23.svg" /><Relationship Id="rId3" Type="http://schemas.openxmlformats.org/officeDocument/2006/relationships/image" Target="media/image6.svg" /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6" Type="http://schemas.openxmlformats.org/officeDocument/2006/relationships/image" Target="media/image6.svg" /><Relationship Id="rId4" Type="http://schemas.openxmlformats.org/officeDocument/2006/relationships/image" Target="media/image27.svg" /><Relationship Id="rId5" Type="http://schemas.openxmlformats.org/officeDocument/2006/relationships/image" Target="media/image28.svg" /><Relationship Id="rId3" Type="http://schemas.openxmlformats.org/officeDocument/2006/relationships/image" Target="media/image26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25.svg" /><Relationship Id="rId1" Type="http://schemas.openxmlformats.org/officeDocument/2006/relationships/image" Target="media/image24.svg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image" Target="media/image6.svg" /><Relationship Id="rId0" Type="http://schemas.openxmlformats.org/officeDocument/2006/relationships/slideLayout" Target="../slideLayouts/slideLayout1.xml" /></Relationships>
</file>

<file path=ppt/slides/_rels/slide25.xml.rels><?xml version="1.0" encoding="UTF-8" standalone="yes"?><Relationships xmlns="http://schemas.openxmlformats.org/package/2006/relationships"><Relationship Id="rId2" Type="http://schemas.openxmlformats.org/officeDocument/2006/relationships/image" Target="media/image6.svg" /><Relationship Id="rId1" Type="http://schemas.openxmlformats.org/officeDocument/2006/relationships/image" Target="media/image29.svg" /><Relationship Id="rId0" Type="http://schemas.openxmlformats.org/officeDocument/2006/relationships/slideLayout" Target="../slideLayouts/slideLayout1.xml" /></Relationships>
</file>

<file path=ppt/slides/_rels/slide26.xml.rels><?xml version="1.0" encoding="UTF-8" standalone="yes"?><Relationships xmlns="http://schemas.openxmlformats.org/package/2006/relationships"><Relationship Id="rId3" Type="http://schemas.openxmlformats.org/officeDocument/2006/relationships/image" Target="media/image6.svg" /><Relationship Id="rId2" Type="http://schemas.openxmlformats.org/officeDocument/2006/relationships/image" Target="media/image31.svg" /><Relationship Id="rId1" Type="http://schemas.openxmlformats.org/officeDocument/2006/relationships/image" Target="media/image30.svg" /><Relationship Id="rId0" Type="http://schemas.openxmlformats.org/officeDocument/2006/relationships/slideLayout" Target="../slideLayouts/slideLayout1.xml" 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image" Target="media/image32.svg" /><Relationship Id="rId0" Type="http://schemas.openxmlformats.org/officeDocument/2006/relationships/slideLayout" Target="../slideLayouts/slideLayout1.xml" /></Relationships>
</file>

<file path=ppt/slides/_rels/slide28.xml.rels><?xml version="1.0" encoding="UTF-8" standalone="yes"?><Relationships xmlns="http://schemas.openxmlformats.org/package/2006/relationships"><Relationship Id="rId6" Type="http://schemas.openxmlformats.org/officeDocument/2006/relationships/image" Target="media/image38.svg" /><Relationship Id="rId4" Type="http://schemas.openxmlformats.org/officeDocument/2006/relationships/image" Target="media/image36.svg" /><Relationship Id="rId7" Type="http://schemas.openxmlformats.org/officeDocument/2006/relationships/image" Target="media/image6.svg" /><Relationship Id="rId3" Type="http://schemas.openxmlformats.org/officeDocument/2006/relationships/image" Target="media/image35.svg" /><Relationship Id="rId2" Type="http://schemas.openxmlformats.org/officeDocument/2006/relationships/image" Target="media/image34.svg" /><Relationship Id="rId1" Type="http://schemas.openxmlformats.org/officeDocument/2006/relationships/image" Target="media/image33.svg" /><Relationship Id="rId5" Type="http://schemas.openxmlformats.org/officeDocument/2006/relationships/image" Target="media/image37.svg" /><Relationship Id="rId0" Type="http://schemas.openxmlformats.org/officeDocument/2006/relationships/slideLayout" Target="../slideLayouts/slideLayout1.xml" 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image" Target="media/image6.svg" /><Relationship Id="rId0" Type="http://schemas.openxmlformats.org/officeDocument/2006/relationships/slideLayout" Target="../slideLayouts/slideLayout1.xml" 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image" Target="media/image6.svg" /><Relationship Id="rId0" Type="http://schemas.openxmlformats.org/officeDocument/2006/relationships/slideLayout" Target="../slideLayouts/slideLayout1.xml" /></Relationships>
</file>

<file path=ppt/slides/_rels/slide31.xml.rels><?xml version="1.0" encoding="UTF-8" standalone="yes"?><Relationships xmlns="http://schemas.openxmlformats.org/package/2006/relationships"><Relationship Id="rId3" Type="http://schemas.openxmlformats.org/officeDocument/2006/relationships/image" Target="media/image6.svg" /><Relationship Id="rId1" Type="http://schemas.openxmlformats.org/officeDocument/2006/relationships/image" Target="media/image40.svg" /><Relationship Id="rId2" Type="http://schemas.openxmlformats.org/officeDocument/2006/relationships/image" Target="media/image41.svg" /><Relationship Id="rId0" Type="http://schemas.openxmlformats.org/officeDocument/2006/relationships/slideLayout" Target="../slideLayouts/slideLayout1.xml" /></Relationships>
</file>

<file path=ppt/slides/_rels/slide32.xml.rels><?xml version="1.0" encoding="UTF-8" standalone="yes"?><Relationships xmlns="http://schemas.openxmlformats.org/package/2006/relationships"><Relationship Id="rId2" Type="http://schemas.openxmlformats.org/officeDocument/2006/relationships/image" Target="media/image6.svg" /><Relationship Id="rId1" Type="http://schemas.openxmlformats.org/officeDocument/2006/relationships/image" Target="media/image42.svg" /><Relationship Id="rId0" Type="http://schemas.openxmlformats.org/officeDocument/2006/relationships/slideLayout" Target="../slideLayouts/slideLayout1.xml" 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2" Type="http://schemas.openxmlformats.org/officeDocument/2006/relationships/image" Target="media/image43.svg" /><Relationship Id="rId0" Type="http://schemas.openxmlformats.org/officeDocument/2006/relationships/slideLayout" Target="../slideLayouts/slideLayout1.xml" /></Relationships>
</file>

<file path=ppt/slides/slide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" name="" descr="&lt;Slide style={{&#10;    background: 'linear-gradient(135deg, #F2F8F4 0%, #DCEDE3 100%)',&#10;    padding: 0,&#10;}}&gt;&#10;    &lt;Box style={{ flexDirection: 'row', width: '100%', height: '100%' }}&gt;&#10;        &lt;Box style={{ width: 660, height: '100%', paddingLeft: 72, paddingRight: 24, paddingTop: 132 }}&gt;&#10;            &lt;Box style={{ flexDirection: 'row', alignItems: 'center', gap: 14 }}&gt;&#10;                &lt;Box style={{ width: 46, height: 46, borderRadius: 23, background: '#1F7A5C', justifyContent: 'center', alignItems: 'center' }}&gt;&#10;                    &lt;svg width=&quot;26&quot; height=&quot;26&quot; viewBox=&quot;0 0 24 24&quot;&gt;&#10;                        &lt;path d=&quot;M12 21C12 21 4 17 4 10C4 6 7 3 12 3C17 3 20 6 20 10C20 17 12 21 12 21Z&quot; fill=&quot;#FFFFFF&quot; /&gt;&#10;                        &lt;path d=&quot;M12 21V6&quot; stroke=&quot;#1F7A5C&quot; strokeWidth=&quot;1.8&quot; fill=&quot;none&quot; /&gt;&#10;                    &lt;/svg&gt;&#10;                &lt;/Box&gt;&#10;                &lt;Text style={{ fontSize: 22, color: '#1F7A5C', fontWeight: 'bold', letterSpacing: 1 }}&gt;AI宝儿智能体&lt;/Text&gt;&#10;            &lt;/Box&gt;&#10;&#10;            &lt;Text style={{ fontSize: 72, fontWeight: 'bold', color: '#1E3A32', lineHeight: 1.15, marginTop: 42 }}&gt;&#10;                五期&lt;br /&gt;上手课&#10;            &lt;/Text&gt;&#10;&#10;            &lt;Box style={{ width: 96, height: 5, borderRadius: 3, background: '#E08A3C', marginTop: 28 }} /&gt;&#10;&#10;            &lt;Text style={{ fontSize: 26, color: '#1E3A32', lineHeight: 1.55, marginTop: 26 }}&gt;&#10;                从「不会问」到「&lt;span style={{ color: '#C9742B', fontWeight: 'bold' }}&gt;问得准&lt;/span&gt;」&lt;br /&gt;&#10;                终端用户完整使用指南&#10;            &lt;/Text&gt;&#10;&#10;            &lt;Box style={{&#10;                flexDirection: 'row', alignItems: 'center', gap: 18, marginTop: 48,&#10;                background: 'rgba(255,255,255,0.72)', borderRadius: 14, padding: 18, width: 470,&#10;            }}&gt;&#10;                &lt;FAIcon name='clock' style={{ fill: '#1F7A5C', width: 26, height: 26 }} /&gt;&#10;                &lt;Text style={{ fontSize: 20, color: '#1E3A32' }}&gt;&#10;                    5 期 × 60–90 分钟 · 讲练结合 · 面向一线使用者&#10;                &lt;/Text&gt;&#10;            &lt;/Box&gt;&#10;        &lt;/Box&gt;&#10;&#10;        &lt;Box style={{ flex: 1, height: '100%' }}&gt;&#10;            &lt;svg width=&quot;620&quot; height=&quot;720&quot; viewBox=&quot;0 0 620 720&quot;&gt;&#10;                &lt;circle cx=&quot;452&quot; cy=&quot;168&quot; r=&quot;132&quot; fill=&quot;#E08A3C&quot; opacity=&quot;0.26&quot; /&gt;&#10;                &lt;circle cx=&quot;452&quot; cy=&quot;168&quot; r=&quot;88&quot; fill=&quot;#E08A3C&quot; opacity=&quot;0.2&quot; /&gt;&#10;                &lt;path d=&quot;M0 500 Q150 402 300 484 T620 448 L620 720 L0 720 Z&quot; fill=&quot;#A8D5BA&quot; opacity=&quot;0.55&quot; /&gt;&#10;                &lt;path d=&quot;M0 566 Q190 486 380 548 T620 522 L620 720 L0 720 Z&quot; fill=&quot;#1F7A5C&quot; opacity=&quot;0.26&quot; /&gt;&#10;                &lt;path d=&quot;M0 638 Q170 588 350 630 T620 604 L620 720 L0 720 Z&quot; fill=&quot;#1F7A5C&quot; opacity=&quot;0.46&quot; /&gt;&#10;                &lt;path d=&quot;M120 470 q30 -46 74 -58 q-8 50 -74 58Z&quot; fill=&quot;#1F7A5C&quot; opacity=&quot;0.55&quot; /&gt;&#10;                &lt;path d=&quot;M212 512 q26 -40 64 -50 q-7 44 -64 50Z&quot; fill=&quot;#1F7A5C&quot; opacity=&quot;0.4&quot; /&gt;&#10;                &lt;path d=&quot;M470 300 q34 -52 84 -66 q-9 57 -84 66Z&quot; fill=&quot;#1F7A5C&quot; opacity=&quot;0.32&quot; /&gt;&#10;                &lt;path d=&quot;M60 452 L120 470&quot; stroke=&quot;#1F7A5C&quot; strokeWidth=&quot;4&quot; opacity=&quot;0.45&quot; fill=&quot;none&quot; /&gt;&#10;                &lt;path d=&quot;M470 300 L470 250&quot; stroke=&quot;#1F7A5C&quot; strokeWidth=&quot;4&quot; opacity=&quot;0.35&quot; fill=&quot;none&quot; /&gt;&#10;            &lt;/svg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2F8F4"/>
              </a:gs>
              <a:gs pos="100000">
                <a:srgbClr val="DCEDE3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85800" y="12573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81050" y="1352550"/>
            <a:ext cx="247650" cy="247650"/>
          </a:xfrm>
          <a:prstGeom prst="rect">
            <a:avLst/>
          </a:prstGeom>
          <a:ln/>
        </p:spPr>
      </p:pic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1257300" y="1352550"/>
            <a:ext cx="1323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75">
                <a:solidFill>
                  <a:srgbClr val="1F7A5C"/>
                </a:solidFill>
                <a:latin typeface="Microsoft YaHei"/>
                <a:ea typeface="Microsoft YaHei"/>
              </a:rPr>
              <a:t>AI</a:t>
            </a:r>
            <a:r>
              <a:rPr lang="zh-CN" sz="1650" b="1" spc="75">
                <a:solidFill>
                  <a:srgbClr val="1F7A5C"/>
                </a:solidFill>
                <a:latin typeface="Microsoft YaHei"/>
                <a:ea typeface="Microsoft YaHei"/>
              </a:rPr>
              <a:t>宝儿智能体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85800" y="2095500"/>
            <a:ext cx="5372100" cy="18954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5400" b="1">
                <a:solidFill>
                  <a:srgbClr val="1E3A32"/>
                </a:solidFill>
                <a:latin typeface="Microsoft YaHei"/>
                <a:ea typeface="Microsoft YaHei"/>
              </a:rPr>
              <a:t>五期</a:t>
            </a:r>
            <a:endParaRPr/>
          </a:p>
          <a:p>
            <a:pPr>
              <a:lnSpc>
                <a:spcPct val="114999"/>
              </a:lnSpc>
            </a:pPr>
            <a:r>
              <a:rPr lang="zh-CN" sz="5400" b="1">
                <a:solidFill>
                  <a:srgbClr val="1E3A32"/>
                </a:solidFill>
                <a:latin typeface="Microsoft YaHei"/>
                <a:ea typeface="Microsoft YaHei"/>
              </a:rPr>
              <a:t>上手课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85800" y="4257675"/>
            <a:ext cx="914400" cy="47625"/>
          </a:xfrm>
          <a:prstGeom prst="roundRect">
            <a:avLst>
              <a:gd name="adj" fmla="val 60000"/>
            </a:avLst>
          </a:prstGeom>
          <a:solidFill>
            <a:srgbClr val="E08A3C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85800" y="4552950"/>
            <a:ext cx="5372100" cy="9239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950">
                <a:solidFill>
                  <a:srgbClr val="1E3A32"/>
                </a:solidFill>
                <a:latin typeface="Microsoft YaHei"/>
                <a:ea typeface="Microsoft YaHei"/>
              </a:rPr>
              <a:t>从「不会问」到「</a:t>
            </a:r>
            <a:r>
              <a:rPr lang="zh-CN" sz="1950" b="1">
                <a:solidFill>
                  <a:srgbClr val="C9742B"/>
                </a:solidFill>
                <a:latin typeface="Microsoft YaHei"/>
                <a:ea typeface="Microsoft YaHei"/>
              </a:rPr>
              <a:t>问得准</a:t>
            </a:r>
            <a:r>
              <a:rPr lang="zh-CN" sz="1950">
                <a:solidFill>
                  <a:srgbClr val="1E3A32"/>
                </a:solidFill>
                <a:latin typeface="Microsoft YaHei"/>
                <a:ea typeface="Microsoft YaHei"/>
              </a:rPr>
              <a:t>」</a:t>
            </a:r>
            <a:endParaRPr/>
          </a:p>
          <a:p>
            <a:pPr>
              <a:lnSpc>
                <a:spcPct val="155000"/>
              </a:lnSpc>
            </a:pPr>
            <a:r>
              <a:rPr lang="zh-CN" sz="1950">
                <a:solidFill>
                  <a:srgbClr val="1E3A32"/>
                </a:solidFill>
                <a:latin typeface="Microsoft YaHei"/>
                <a:ea typeface="Microsoft YaHei"/>
              </a:rPr>
              <a:t>终端用户完整使用指南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85800" y="5934075"/>
            <a:ext cx="4476750" cy="590550"/>
          </a:xfrm>
          <a:prstGeom prst="roundRect">
            <a:avLst>
              <a:gd name="adj" fmla="val 22581"/>
            </a:avLst>
          </a:prstGeom>
          <a:solidFill>
            <a:srgbClr val="FFFFFF">
              <a:alpha val="72000"/>
            </a:srgbClr>
          </a:solidFill>
          <a:ln/>
        </p:spPr>
        <p:txBody>
          <a:bodyPr/>
          <a:p/>
        </p:txBody>
      </p:sp>
      <p:pic>
        <p:nvPicPr>
          <p:cNvPr id="1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57250" y="6105525"/>
            <a:ext cx="247650" cy="247650"/>
          </a:xfrm>
          <a:prstGeom prst="rect">
            <a:avLst/>
          </a:prstGeom>
          <a:ln/>
        </p:spPr>
      </p:pic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1257300" y="6115050"/>
            <a:ext cx="3733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5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期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 × 60–90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分钟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讲练结合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面向一线使用者</a:t>
            </a:r>
            <a:endParaRPr/>
          </a:p>
        </p:txBody>
      </p:sp>
      <p:pic>
        <p:nvPicPr>
          <p:cNvPr id="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286500" y="0"/>
            <a:ext cx="5905500" cy="6858000"/>
          </a:xfrm>
          <a:prstGeom prst="rect">
            <a:avLst/>
          </a:prstGeom>
          <a:ln/>
        </p:spPr>
      </p:pic>
    </p:spTree>
  </p:cSld>
</p:sld>
</file>

<file path=ppt/slides/slide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89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五期路线图&lt;/Text&gt;&#10;        &lt;Box style={{ width: 56, height: 4, borderRadius: 2, background: '#1F7A5C', marginTop: 8 }} /&gt;&#10;    &lt;/Box&gt;&#10;&#10;    &lt;Box style={{ height: 528, flexDirection: 'row', gap: 28 }}&gt;&#10;        &lt;Box style={{ width: 300, paddingRight: 8 }}&gt;&#10;            &lt;Text style={{ fontSize: 24, fontWeight: 'bold', color: '#1F7A5C', lineHeight: 1.45 }}&gt;&#10;                每一期只解决&lt;br /&gt;一个具体的障碍&#10;            &lt;/Text&gt;&#10;            &lt;Text style={{ fontSize: 20, color: '#6B7C75', lineHeight: 1.6, marginTop: 18 }}&gt;&#10;                不敢用 → 不会问 → 问不准 → 不会用案例 → 用不久。五期走完，从第一次点开页面，到能自己找答案。&#10;            &lt;/Text&gt;&#10;            &lt;Box style={{&#10;                marginTop: 26, background: 'rgba(31,122,92,0.08)', borderRadius: 14, padding: 18,&#10;            }}&gt;&#10;                &lt;Text style={{ fontSize: 18, color: '#1E3A32', lineHeight: 1.55 }}&gt;&#10;                    每期都是「讲一遍 + 练一遍」，下课之前必须自己动手做完。&#10;                &lt;/Text&gt;&#10;            &lt;/Box&gt;&#10;        &lt;/Box&gt;&#10;&#10;        &lt;Box style={{ flex: 1, gap: 14 }}&gt;&#10;            &lt;Box style={{ height: 94, flexDirection: 'row', gap: 20, background: '#FFFFFF', borderRadius: 14, padding: 18, boxShadow: '0 4px 20px rgba(30,58,50,0.08)' }}&gt;&#10;                &lt;Text style={{ fontSize: 34, fontWeight: 'bold', color: '#1F7A5C', width: 56 }}&gt;01&lt;/Text&gt;&#10;                &lt;Box style={{ flex: 1, justifyContent: 'center' }}&gt;&#10;                    &lt;Text style={{ fontSize: 26, fontWeight: 'bold', color: '#1E3A32' }}&gt;认识 AI宝儿&lt;/Text&gt;&#10;                    &lt;Text style={{ fontSize: 19, color: '#6B7C75', lineHeight: 1.5 }}&gt;填好身份、认全首页四大区域、挑对快捷入口，发出第一句话&lt;/Text&gt;&#10;                &lt;/Box&gt;&#10;            &lt;/Box&gt;&#10;&#10;            &lt;Box style={{ height: 94, flexDirection: 'row', gap: 20, background: '#FFFFFF', borderRadius: 14, padding: 18, boxShadow: '0 4px 20px rgba(30,58,50,0.08)' }}&gt;&#10;                &lt;Text style={{ fontSize: 34, fontWeight: 'bold', color: '#1F7A5C', width: 56 }}&gt;02&lt;/Text&gt;&#10;                &lt;Box style={{ flex: 1, justifyContent: 'center' }}&gt;&#10;                    &lt;Text style={{ fontSize: 26, fontWeight: 'bold', color: '#1E3A32' }}&gt;会提问才会用&lt;/Text&gt;&#10;                    &lt;Text style={{ fontSize: 19, color: '#6B7C75', lineHeight: 1.5 }}&gt;走完一次问答的五步，记住三个提问技巧，背不下模板就照抄&lt;/Text&gt;&#10;                &lt;/Box&gt;&#10;            &lt;/Box&gt;&#10;&#10;            &lt;Box style={{ height: 94, flexDirection: 'row', gap: 20, background: '#FFFFFF', borderRadius: 14, padding: 18, boxShadow: '0 4px 20px rgba(30,58,50,0.08)' }}&gt;&#10;                &lt;Text style={{ fontSize: 34, fontWeight: 'bold', color: '#1F7A5C', width: 56 }}&gt;03&lt;/Text&gt;&#10;                &lt;Box style={{ flex: 1, justifyContent: 'center' }}&gt;&#10;                    &lt;Text style={{ fontSize: 26, fontWeight: 'bold', color: '#1E3A32' }}&gt;先读再问&lt;/Text&gt;&#10;                    &lt;Text style={{ fontSize: 19, color: '#6B7C75', lineHeight: 1.5 }}&gt;用资讯和产品资料喂出更好的问题，顺手回看自己的历史记录&lt;/Text&gt;&#10;                &lt;/Box&gt;&#10;            &lt;/Box&gt;&#10;&#10;            &lt;Box style={{ height: 94, flexDirection: 'row', gap: 20, background: '#FFFFFF', borderRadius: 14, padding: 18, boxShadow: '0 4px 20px rgba(30,58,50,0.08)' }}&gt;&#10;                &lt;Text style={{ fontSize: 34, fontWeight: 'bold', color: '#1F7A5C', width: 56 }}&gt;04&lt;/Text&gt;&#10;                &lt;Box style={{ flex: 1, justifyContent: 'center' }}&gt;&#10;                    &lt;Text style={{ fontSize: 26, fontWeight: 'bold', color: '#1E3A32' }}&gt;把经验变成参考&lt;/Text&gt;&#10;                    &lt;Text style={{ fontSize: 19, color: '#6B7C75', lineHeight: 1.5 }}&gt;看懂回答下方的案例卡，用三个问题判断这条案例值不值得看&lt;/Text&gt;&#10;                &lt;/Box&gt;&#10;            &lt;/Box&gt;&#10;&#10;            &lt;Box style={{ height: 94, flexDirection: 'row', gap: 20, background: '#FFFFFF', borderRadius: 14, padding: 18, boxShadow: '0 4px 20px rgba(30,58,50,0.08)' }}&gt;&#10;                &lt;Text style={{ fontSize: 34, fontWeight: 'bold', color: '#1F7A5C', width: 56 }}&gt;05&lt;/Text&gt;&#10;                &lt;Box style={{ flex: 1, justifyContent: 'center' }}&gt;&#10;                    &lt;Text style={{ fontSize: 26, fontWeight: 'bold', color: '#1E3A32' }}&gt;用得久、用得顺&lt;/Text&gt;&#10;                    &lt;Text style={{ fontSize: 19, color: '#6B7C75', lineHeight: 1.5 }}&gt;逛社区、找真人营养师、养成五个好习惯、避开四个坑&lt;/Text&gt;&#10;                &lt;/Box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五期上手课&lt;/Text&gt;&#10;        &lt;/Box&gt;&#10;        &lt;Text style={{ fontSize: 14, color: '#6B7C75' }}&gt;02 / 3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五期路线图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781300" cy="8001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1F7A5C"/>
                </a:solidFill>
                <a:latin typeface="Microsoft YaHei"/>
                <a:ea typeface="Microsoft YaHei"/>
              </a:rPr>
              <a:t>每一期只解决</a:t>
            </a:r>
            <a:endParaRPr/>
          </a:p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1F7A5C"/>
                </a:solidFill>
                <a:latin typeface="Microsoft YaHei"/>
                <a:ea typeface="Microsoft YaHei"/>
              </a:rPr>
              <a:t>一个具体的障碍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85800" y="2114550"/>
            <a:ext cx="2781300" cy="1466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不敢用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 → 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不会问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 → 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问不准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 → 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不会用案例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 → 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用不久。五期走完，从第一次点开页面，到能自己找答案。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685800" y="3829050"/>
            <a:ext cx="2781300" cy="981075"/>
          </a:xfrm>
          <a:prstGeom prst="roundRect">
            <a:avLst>
              <a:gd name="adj" fmla="val 13592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857250" y="4000500"/>
            <a:ext cx="24384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1E3A32"/>
                </a:solidFill>
                <a:latin typeface="Microsoft YaHei"/>
                <a:ea typeface="Microsoft YaHei"/>
              </a:rPr>
              <a:t>每期都是「讲一遍</a:t>
            </a:r>
            <a:r>
              <a:rPr lang="en-US" sz="1350">
                <a:solidFill>
                  <a:srgbClr val="1E3A32"/>
                </a:solidFill>
                <a:latin typeface="Microsoft YaHei"/>
                <a:ea typeface="Microsoft YaHei"/>
              </a:rPr>
              <a:t> + </a:t>
            </a:r>
            <a:r>
              <a:rPr lang="zh-CN" sz="1350">
                <a:solidFill>
                  <a:srgbClr val="1E3A32"/>
                </a:solidFill>
                <a:latin typeface="Microsoft YaHei"/>
                <a:ea typeface="Microsoft YaHei"/>
              </a:rPr>
              <a:t>练一遍」，下课之前必须自己动手做完。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3810000" y="1143000"/>
            <a:ext cx="7696200" cy="895350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3981450" y="1314450"/>
            <a:ext cx="5334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F7A5C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4705350" y="1314450"/>
            <a:ext cx="66294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E3A32"/>
                </a:solidFill>
                <a:latin typeface="Microsoft YaHei"/>
                <a:ea typeface="Microsoft YaHei"/>
              </a:rPr>
              <a:t>认识</a:t>
            </a:r>
            <a:r>
              <a:rPr lang="en-US" sz="1950" b="1">
                <a:solidFill>
                  <a:srgbClr val="1E3A32"/>
                </a:solidFill>
                <a:latin typeface="Microsoft YaHei"/>
                <a:ea typeface="Microsoft YaHei"/>
              </a:rPr>
              <a:t> AI</a:t>
            </a:r>
            <a:r>
              <a:rPr lang="zh-CN" sz="1950" b="1">
                <a:solidFill>
                  <a:srgbClr val="1E3A32"/>
                </a:solidFill>
                <a:latin typeface="Microsoft YaHei"/>
                <a:ea typeface="Microsoft YaHei"/>
              </a:rPr>
              <a:t>宝儿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4705350" y="1619250"/>
            <a:ext cx="66294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填好身份、认全首页四大区域、挑对快捷入口，发出第一句话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3810000" y="2171700"/>
            <a:ext cx="7696200" cy="895350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3981450" y="2343150"/>
            <a:ext cx="5334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F7A5C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4705350" y="2343150"/>
            <a:ext cx="66294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E3A32"/>
                </a:solidFill>
                <a:latin typeface="Microsoft YaHei"/>
                <a:ea typeface="Microsoft YaHei"/>
              </a:rPr>
              <a:t>会提问才会用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4705350" y="2647950"/>
            <a:ext cx="66294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走完一次问答的五步，记住三个提问技巧，背不下模板就照抄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3810000" y="3200400"/>
            <a:ext cx="7696200" cy="895350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3981450" y="3371850"/>
            <a:ext cx="5334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F7A5C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4705350" y="3371850"/>
            <a:ext cx="66294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E3A32"/>
                </a:solidFill>
                <a:latin typeface="Microsoft YaHei"/>
                <a:ea typeface="Microsoft YaHei"/>
              </a:rPr>
              <a:t>先读再问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4705350" y="3676650"/>
            <a:ext cx="66294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用资讯和产品资料喂出更好的问题，顺手回看自己的历史记录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3810000" y="4229100"/>
            <a:ext cx="7696200" cy="895350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3981450" y="4400550"/>
            <a:ext cx="5334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F7A5C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4705350" y="4400550"/>
            <a:ext cx="66294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E3A32"/>
                </a:solidFill>
                <a:latin typeface="Microsoft YaHei"/>
                <a:ea typeface="Microsoft YaHei"/>
              </a:rPr>
              <a:t>把经验变成参考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4705350" y="4705350"/>
            <a:ext cx="66294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看懂回答下方的案例卡，用三个问题判断这条案例值不值得看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3810000" y="5257800"/>
            <a:ext cx="7696200" cy="895350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3981450" y="5429250"/>
            <a:ext cx="5334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F7A5C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4705350" y="5429250"/>
            <a:ext cx="66294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E3A32"/>
                </a:solidFill>
                <a:latin typeface="Microsoft YaHei"/>
                <a:ea typeface="Microsoft YaHei"/>
              </a:rPr>
              <a:t>用得久、用得顺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4705350" y="5734050"/>
            <a:ext cx="66294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逛社区、找真人营养师、养成五个好习惯、避开四个坑</a:t>
            </a:r>
            <a:endParaRPr/>
          </a:p>
        </p:txBody>
      </p:sp>
      <p:pic>
        <p:nvPicPr>
          <p:cNvPr id="3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五期上手课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02 / 33</a:t>
            </a:r>
            <a:endParaRPr/>
          </a:p>
        </p:txBody>
      </p:sp>
    </p:spTree>
  </p:cSld>
</p:sld>
</file>

<file path=ppt/slides/slide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565" name="" descr="&lt;Slide style={{ background: '#F7FAF6', padding: 0 }}&gt;&#10;    &lt;Box style={{ flexDirection: 'row', width: '100%', height: '100%' }}&gt;&#10;        &lt;Box style={{&#10;            width: 742, height: '100%',&#10;            background: 'linear-gradient(135deg, #1F7A5C 0%, #2E9B77 100%)',&#10;            paddingLeft: 72, paddingRight: 48, justifyContent: 'center',&#10;        }}&gt;&#10;            &lt;Text style={{ fontSize: 120, fontWeight: 'bold', color: '#FFFFFF', opacity: 0.28, lineHeight: 1 }}&gt;01&lt;/Text&gt;&#10;            &lt;Text style={{ fontSize: 68, fontWeight: 'bold', color: '#FFFFFF', lineHeight: 1.15, marginTop: 12 }}&gt;&#10;                认识 AI宝儿&#10;            &lt;/Text&gt;&#10;            &lt;Box style={{ width: 96, height: 5, borderRadius: 3, background: '#E08A3C', marginTop: 26 }} /&gt;&#10;            &lt;Text style={{ fontSize: 26, color: '#FFFFFF', opacity: 0.88, lineHeight: 1.55, marginTop: 24 }}&gt;&#10;                从登录到第一次提问&lt;br /&gt;先把「门」找到，再谈技巧&#10;            &lt;/Text&gt;&#10;        &lt;/Box&gt;&#10;&#10;        &lt;Box style={{ flex: 1, height: '100%', background: '#F7FAF6' }}&gt;&#10;            &lt;svg width=&quot;538&quot; height=&quot;720&quot; viewBox=&quot;0 0 538 720&quot;&gt;&#10;                &lt;circle cx=&quot;404&quot; cy=&quot;150&quot; r=&quot;96&quot; fill=&quot;#E08A3C&quot; opacity=&quot;0.18&quot; /&gt;&#10;                &lt;path d=&quot;M0 300 Q130 232 260 300 T538 288 L538 356 Q400 300 260 356 T0 366 Z&quot; fill=&quot;#A8D5BA&quot; opacity=&quot;0.55&quot; /&gt;&#10;                &lt;path d=&quot;M0 420 Q140 356 280 420 T538 408 L538 476 Q390 420 260 476 T0 486 Z&quot; fill=&quot;#1F7A5C&quot; opacity=&quot;0.22&quot; /&gt;&#10;                &lt;path d=&quot;M0 540 Q150 484 300 540 T538 528 L538 596 Q400 540 260 596 T0 606 Z&quot; fill=&quot;#1F7A5C&quot; opacity=&quot;0.38&quot; /&gt;&#10;                &lt;path d=&quot;M0 660 Q160 620 320 660 T538 648 L538 720 L0 720 Z&quot; fill=&quot;#1F7A5C&quot; opacity=&quot;0.5&quot; /&gt;&#10;            &lt;/svg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567" name=""/>
          <p:cNvSpPr/>
          <p:nvPr/>
        </p:nvSpPr>
        <p:spPr>
          <a:xfrm rot="0" flipH="0" flipV="0">
            <a:off x="0" y="0"/>
            <a:ext cx="7067550" cy="6858000"/>
          </a:xfrm>
          <a:prstGeom prst="rect">
            <a:avLst/>
          </a:prstGeom>
          <a:gradFill>
            <a:gsLst>
              <a:gs pos="0">
                <a:srgbClr val="1F7A5C"/>
              </a:gs>
              <a:gs pos="100000">
                <a:srgbClr val="2E9B77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685800" y="3000375"/>
            <a:ext cx="5924550" cy="8953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5100" b="1">
                <a:solidFill>
                  <a:srgbClr val="FFFFFF"/>
                </a:solidFill>
                <a:latin typeface="Microsoft YaHei"/>
                <a:ea typeface="Microsoft YaHei"/>
              </a:rPr>
              <a:t>认识</a:t>
            </a:r>
            <a:r>
              <a:rPr lang="en-US" sz="5100" b="1">
                <a:solidFill>
                  <a:srgbClr val="FFFFFF"/>
                </a:solidFill>
                <a:latin typeface="Microsoft YaHei"/>
                <a:ea typeface="Microsoft YaHei"/>
              </a:rPr>
              <a:t> AI</a:t>
            </a:r>
            <a:r>
              <a:rPr lang="zh-CN" sz="5100" b="1">
                <a:solidFill>
                  <a:srgbClr val="FFFFFF"/>
                </a:solidFill>
                <a:latin typeface="Microsoft YaHei"/>
                <a:ea typeface="Microsoft YaHei"/>
              </a:rPr>
              <a:t>宝儿</a:t>
            </a:r>
            <a:endParaRPr/>
          </a:p>
        </p:txBody>
      </p:sp>
      <p:sp>
        <p:nvSpPr>
          <p:cNvPr id="569" name=""/>
          <p:cNvSpPr/>
          <p:nvPr/>
        </p:nvSpPr>
        <p:spPr>
          <a:xfrm rot="0" flipH="0" flipV="0">
            <a:off x="685800" y="4143375"/>
            <a:ext cx="914400" cy="47625"/>
          </a:xfrm>
          <a:prstGeom prst="roundRect">
            <a:avLst>
              <a:gd name="adj" fmla="val 60000"/>
            </a:avLst>
          </a:prstGeom>
          <a:solidFill>
            <a:srgbClr val="E08A3C"/>
          </a:solidFill>
          <a:ln/>
        </p:spPr>
        <p:txBody>
          <a:bodyPr/>
          <a:p/>
        </p:txBody>
      </p:sp>
      <p:sp>
        <p:nvSpPr>
          <p:cNvPr id="570" name=""/>
          <p:cNvSpPr/>
          <p:nvPr/>
        </p:nvSpPr>
        <p:spPr>
          <a:xfrm rot="0" flipH="0" flipV="0">
            <a:off x="7067550" y="0"/>
            <a:ext cx="512445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pic>
        <p:nvPicPr>
          <p:cNvPr id="5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067550" y="0"/>
            <a:ext cx="5124450" cy="6858000"/>
          </a:xfrm>
          <a:prstGeom prst="rect">
            <a:avLst/>
          </a:prstGeom>
          <a:ln/>
        </p:spPr>
      </p:pic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685800" y="1514475"/>
            <a:ext cx="5924550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685800" y="4419600"/>
            <a:ext cx="5924550" cy="9239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95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从登录到第一次提问</a:t>
            </a:r>
            <a:endParaRPr/>
          </a:p>
          <a:p>
            <a:pPr>
              <a:lnSpc>
                <a:spcPct val="155000"/>
              </a:lnSpc>
            </a:pPr>
            <a:r>
              <a:rPr lang="zh-CN" sz="195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先把「门」找到，再谈技巧</a:t>
            </a:r>
            <a:endParaRPr/>
          </a:p>
        </p:txBody>
      </p:sp>
    </p:spTree>
  </p:cSld>
</p:sld>
</file>

<file path=ppt/slides/slide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671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AI宝儿是什么&lt;/Text&gt;&#10;        &lt;Box style={{ width: 56, height: 4, borderRadius: 2, background: '#1F7A5C', marginTop: 8 }} /&gt;&#10;    &lt;/Box&gt;&#10;&#10;    &lt;Box style={{ height: 528, flexDirection: 'row', gap: 28 }}&gt;&#10;        &lt;Box style={{ width: 605, height: 528 }}&gt;&#10;            &lt;svg width=&quot;605&quot; height=&quot;528&quot; viewBox=&quot;0 0 620 528&quot;&gt;&#10;                &lt;circle cx=&quot;310&quot; cy=&quot;264&quot; r=&quot;176&quot; fill=&quot;#A8D5BA&quot; opacity=&quot;0.18&quot; /&gt;&#10;                &lt;path d=&quot;M310 264 L310 96&quot; stroke=&quot;#A8D5BA&quot; strokeWidth=&quot;3&quot; /&gt;&#10;                &lt;path d=&quot;M310 264 L462 178&quot; stroke=&quot;#A8D5BA&quot; strokeWidth=&quot;3&quot; /&gt;&#10;                &lt;path d=&quot;M310 264 L462 350&quot; stroke=&quot;#A8D5BA&quot; strokeWidth=&quot;3&quot; /&gt;&#10;                &lt;path d=&quot;M310 264 L310 432&quot; stroke=&quot;#A8D5BA&quot; strokeWidth=&quot;3&quot; /&gt;&#10;                &lt;path d=&quot;M310 264 L158 350&quot; stroke=&quot;#A8D5BA&quot; strokeWidth=&quot;3&quot; /&gt;&#10;                &lt;path d=&quot;M310 264 L158 178&quot; stroke=&quot;#A8D5BA&quot; strokeWidth=&quot;3&quot; /&gt;&#10;&#10;                &lt;rect x=&quot;245&quot; y=&quot;70&quot; width=&quot;130&quot; height=&quot;52&quot; rx=&quot;14&quot; fill=&quot;#1F7A5C&quot; /&gt;&#10;                &lt;text x=&quot;310&quot; y=&quot;103&quot; textAnchor=&quot;middle&quot; fontSize=&quot;21&quot; fill=&quot;#FFFFFF&quot; fontFamily=&quot;PingFang SC&quot;&gt;问产品&lt;/text&gt;&#10;&#10;                &lt;rect x=&quot;397&quot; y=&quot;152&quot; width=&quot;130&quot; height=&quot;52&quot; rx=&quot;14&quot; fill=&quot;rgba(168,213,186,0.45)&quot; /&gt;&#10;                &lt;text x=&quot;462&quot; y=&quot;185&quot; textAnchor=&quot;middle&quot; fontSize=&quot;21&quot; fill=&quot;#1E3A32&quot; fontFamily=&quot;PingFang SC&quot;&gt;看案例&lt;/text&gt;&#10;&#10;                &lt;rect x=&quot;397&quot; y=&quot;324&quot; width=&quot;130&quot; height=&quot;52&quot; rx=&quot;14&quot; fill=&quot;rgba(168,213,186,0.45)&quot; /&gt;&#10;                &lt;text x=&quot;462&quot; y=&quot;357&quot; textAnchor=&quot;middle&quot; fontSize=&quot;21&quot; fill=&quot;#1E3A32&quot; fontFamily=&quot;PingFang SC&quot;&gt;读资讯&lt;/text&gt;&#10;&#10;                &lt;rect x=&quot;245&quot; y=&quot;406&quot; width=&quot;130&quot; height=&quot;52&quot; rx=&quot;14&quot; fill=&quot;rgba(168,213,186,0.45)&quot; /&gt;&#10;                &lt;text x=&quot;310&quot; y=&quot;439&quot; textAnchor=&quot;middle&quot; fontSize=&quot;21&quot; fill=&quot;#1E3A32&quot; fontFamily=&quot;PingFang SC&quot;&gt;整理表达&lt;/text&gt;&#10;&#10;                &lt;rect x=&quot;93&quot; y=&quot;324&quot; width=&quot;130&quot; height=&quot;52&quot; rx=&quot;14&quot; fill=&quot;#1F7A5C&quot; /&gt;&#10;                &lt;text x=&quot;158&quot; y=&quot;357&quot; textAnchor=&quot;middle&quot; fontSize=&quot;21&quot; fill=&quot;#FFFFFF&quot; fontFamily=&quot;PingFang SC&quot;&gt;问用法&lt;/text&gt;&#10;&#10;                &lt;rect x=&quot;93&quot; y=&quot;152&quot; width=&quot;130&quot; height=&quot;52&quot; rx=&quot;14&quot; fill=&quot;#E08A3C&quot; /&gt;&#10;                &lt;text x=&quot;158&quot; y=&quot;185&quot; textAnchor=&quot;middle&quot; fontSize=&quot;21&quot; fill=&quot;#FFFFFF&quot; fontFamily=&quot;PingFang SC&quot;&gt;转人工&lt;/text&gt;&#10;&#10;                &lt;circle cx=&quot;310&quot; cy=&quot;264&quot; r=&quot;80&quot; fill=&quot;#1F7A5C&quot; /&gt;&#10;                &lt;circle cx=&quot;310&quot; cy=&quot;264&quot; r=&quot;66&quot; fill=&quot;#FFFFFF&quot; opacity=&quot;0.12&quot; /&gt;&#10;                &lt;text x=&quot;310&quot; y=&quot;256&quot; textAnchor=&quot;middle&quot; fontSize=&quot;26&quot; fontWeight=&quot;bold&quot; fill=&quot;#FFFFFF&quot; fontFamily=&quot;PingFang SC&quot;&gt;AI宝儿&lt;/text&gt;&#10;                &lt;text x=&quot;310&quot; y=&quot;288&quot; textAnchor=&quot;middle&quot; fontSize=&quot;17&quot; fill=&quot;#FFFFFF&quot; opacity=&quot;0.85&quot; fontFamily=&quot;PingFang SC&quot;&gt;随时在线&lt;/text&gt;&#10;            &lt;/svg&gt;&#10;        &lt;/Box&gt;&#10;&#10;        &lt;Box style={{ flex: 1, height: 528 }}&gt;&#10;            &lt;Text style={{ fontSize: 26, fontWeight: 'bold', color: '#1F7A5C', lineHeight: 1.4 }}&gt;&#10;                一个随时在线的小助手&#10;            &lt;/Text&gt;&#10;            &lt;Text style={{ fontSize: 21, color: '#1E3A32', lineHeight: 1.6, marginTop: 18 }}&gt;&#10;                AI宝儿不是一套要你先学技术才会用的软件。你只要像平时聊天一样，把想问的打进去，它就帮你找答案、把话说清楚、再挑几条可以参考的案例给你。&#10;            &lt;/Text&gt;&#10;            &lt;Text style={{ fontSize: 21, color: '#1E3A32', lineHeight: 1.6, marginTop: 14 }}&gt;&#10;                它记得住你问过什么，也知道别人都在关心什么。实在拿不准的时候，还能帮你接上真人营养师。&#10;            &lt;/Text&gt;&#10;&#10;            &lt;Box style={{ marginTop: 26, gap: 16 }}&gt;&#10;                &lt;Box style={{ flexDirection: 'row', gap: 14, alignItems: 'flex-start' }}&gt;&#10;                    &lt;FAIcon name='smile' style={{ fill: '#1F7A5C', width: 26, height: 26 }} /&gt;&#10;                    &lt;Text style={{ fontSize: 20, color: '#1E3A32', lineHeight: 1.5, flex: 1 }}&gt;&#10;                        不懂 AI 也能用：不需要背任何指令&#10;                    &lt;/Text&gt;&#10;                &lt;/Box&gt;&#10;                &lt;Box style={{ flexDirection: 'row', gap: 14, alignItems: 'flex-start' }}&gt;&#10;                    &lt;FAIcon name='comment' style={{ fill: '#1F7A5C', width: 26, height: 26 }} /&gt;&#10;                    &lt;Text style={{ fontSize: 20, color: '#1E3A32', lineHeight: 1.5, flex: 1 }}&gt;&#10;                        不会提问也有办法：照着示例问就行&#10;                    &lt;/Text&gt;&#10;                &lt;/Box&gt;&#10;                &lt;Box style={{ flexDirection: 'row', gap: 14, alignItems: 'flex-start' }}&gt;&#10;                    &lt;FAIcon name='undo' style={{ fill: '#1F7A5C', width: 26, height: 26 }} /&gt;&#10;                    &lt;Text style={{ fontSize: 20, color: '#1E3A32', lineHeight: 1.5, flex: 1 }}&gt;&#10;                        问错了不要紧：重新问一次就好&#10;                    &lt;/Text&gt;&#10;                &lt;/Box&gt;&#10;            &lt;/Box&gt;&#10;&#10;            &lt;Box style={{&#10;                marginTop: 'auto', background: 'rgba(224,138,60,0.14)', borderRadius: 14, padding: 16,&#10;            }}&gt;&#10;                &lt;Text style={{ fontSize: 20, color: '#C9742B', fontWeight: 'bold' }}&gt;&#10;                    先点进去，先问一句，再继续追问。&#10;                &lt;/Text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五期上手课&lt;/Text&gt;&#10;        &lt;/Box&gt;&#10;        &lt;Text style={{ fontSize: 14, color: '#6B7C75' }}&gt;04 / 3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E3A32"/>
                </a:solidFill>
                <a:latin typeface="Microsoft YaHei"/>
                <a:ea typeface="Microsoft YaHei"/>
              </a:rPr>
              <a:t>AI</a:t>
            </a: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宝儿是什么</a:t>
            </a:r>
            <a:endParaRPr/>
          </a:p>
        </p:txBody>
      </p:sp>
      <p:sp>
        <p:nvSpPr>
          <p:cNvPr id="674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6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143000"/>
            <a:ext cx="5762625" cy="5029200"/>
          </a:xfrm>
          <a:prstGeom prst="rect">
            <a:avLst/>
          </a:prstGeom>
          <a:ln/>
        </p:spPr>
      </p:pic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6715125" y="1143000"/>
            <a:ext cx="4791075" cy="4191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一个随时在线的小助手</a:t>
            </a:r>
            <a:endParaRPr/>
          </a:p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6715125" y="1733550"/>
            <a:ext cx="4791075" cy="1152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575">
                <a:solidFill>
                  <a:srgbClr val="1E3A32"/>
                </a:solidFill>
                <a:latin typeface="Microsoft YaHei"/>
                <a:ea typeface="Microsoft YaHei"/>
              </a:rPr>
              <a:t>AI</a:t>
            </a:r>
            <a:r>
              <a:rPr lang="zh-CN" sz="1575">
                <a:solidFill>
                  <a:srgbClr val="1E3A32"/>
                </a:solidFill>
                <a:latin typeface="Microsoft YaHei"/>
                <a:ea typeface="Microsoft YaHei"/>
              </a:rPr>
              <a:t>宝儿不是一套要你先学技术才会用的软件。你只要像平时聊天一样，把想问的打进去，它就帮你找答案、把话说清楚、再挑几条可以参考的案例给你。</a:t>
            </a:r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6715125" y="3019425"/>
            <a:ext cx="4791075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75">
                <a:solidFill>
                  <a:srgbClr val="1E3A32"/>
                </a:solidFill>
                <a:latin typeface="Microsoft YaHei"/>
                <a:ea typeface="Microsoft YaHei"/>
              </a:rPr>
              <a:t>它记得住你问过什么，也知道别人都在关心什么。实在拿不准的时候，还能帮你接上真人营养师。</a:t>
            </a:r>
            <a:endParaRPr/>
          </a:p>
        </p:txBody>
      </p:sp>
      <p:pic>
        <p:nvPicPr>
          <p:cNvPr id="6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715125" y="4038600"/>
            <a:ext cx="247650" cy="247650"/>
          </a:xfrm>
          <a:prstGeom prst="rect">
            <a:avLst/>
          </a:prstGeom>
          <a:ln/>
        </p:spPr>
      </p:pic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7096125" y="4038600"/>
            <a:ext cx="4410075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不懂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 AI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也能用：不需要背任何指令</a:t>
            </a:r>
            <a:endParaRPr/>
          </a:p>
        </p:txBody>
      </p:sp>
      <p:pic>
        <p:nvPicPr>
          <p:cNvPr id="6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715125" y="4533900"/>
            <a:ext cx="247650" cy="247650"/>
          </a:xfrm>
          <a:prstGeom prst="rect">
            <a:avLst/>
          </a:prstGeom>
          <a:ln/>
        </p:spPr>
      </p:pic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7096125" y="4533900"/>
            <a:ext cx="4410075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不会提问也有办法：照着示例问就行</a:t>
            </a:r>
            <a:endParaRPr/>
          </a:p>
        </p:txBody>
      </p:sp>
      <p:pic>
        <p:nvPicPr>
          <p:cNvPr id="6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715125" y="5029200"/>
            <a:ext cx="247650" cy="247650"/>
          </a:xfrm>
          <a:prstGeom prst="rect">
            <a:avLst/>
          </a:prstGeom>
          <a:ln/>
        </p:spPr>
      </p:pic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7096125" y="5029200"/>
            <a:ext cx="4410075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问错了不要紧：重新问一次就好</a:t>
            </a:r>
            <a:endParaRPr/>
          </a:p>
        </p:txBody>
      </p:sp>
      <p:sp>
        <p:nvSpPr>
          <p:cNvPr id="685" name=""/>
          <p:cNvSpPr/>
          <p:nvPr/>
        </p:nvSpPr>
        <p:spPr>
          <a:xfrm rot="0" flipH="0" flipV="0">
            <a:off x="6715125" y="5638800"/>
            <a:ext cx="4791075" cy="533400"/>
          </a:xfrm>
          <a:prstGeom prst="roundRect">
            <a:avLst>
              <a:gd name="adj" fmla="val 25000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6867525" y="5791200"/>
            <a:ext cx="4486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9742B"/>
                </a:solidFill>
                <a:latin typeface="Microsoft YaHei"/>
                <a:ea typeface="Microsoft YaHei"/>
              </a:rPr>
              <a:t>先点进去，先问一句，再继续追问。</a:t>
            </a:r>
            <a:endParaRPr/>
          </a:p>
        </p:txBody>
      </p:sp>
      <p:pic>
        <p:nvPicPr>
          <p:cNvPr id="6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五期上手课</a:t>
            </a:r>
            <a:endParaRPr/>
          </a:p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04 / 33</a:t>
            </a:r>
            <a:endParaRPr/>
          </a:p>
        </p:txBody>
      </p:sp>
    </p:spTree>
  </p:cSld>
</p:sld>
</file>

<file path=ppt/slides/slide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690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第一次使用：两步进门&lt;/Text&gt;&#10;        &lt;Box style={{ width: 56, height: 4, borderRadius: 2, background: '#1F7A5C', marginTop: 8 }} /&gt;&#10;    &lt;/Box&gt;&#10;&#10;    &lt;Box style={{ height: 528, flexDirection: 'row', gap: 28 }}&gt;&#10;        &lt;Box style={{ width: 660 }}&gt;&#10;            &lt;Text style={{ fontSize: 26, fontWeight: 'bold', color: '#1F7A5C', lineHeight: 1.4 }}&gt;&#10;                先选团队，再填姓名，两步就进去了&#10;            &lt;/Text&gt;&#10;&#10;            &lt;Box style={{ marginTop: 24, gap: 20 }}&gt;&#10;                &lt;Box style={{&#10;                    flexDirection: 'row', gap: 18, background: '#FFFFFF', borderRadius: 14,&#10;                    padding: 20, boxShadow: '0 4px 20px rgba(30,58,50,0.08)',&#10;                }}&gt;&#10;                    &lt;Box style={{&#10;                        width: 44, height: 44, borderRadius: 22, background: '#1F7A5C',&#10;                        justifyContent: 'center', alignItems: 'center',&#10;                    }}&gt;&#10;                        &lt;Text style={{ fontSize: 22, fontWeight: 'bold', color: '#FFFFFF' }}&gt;1&lt;/Text&gt;&#10;                    &lt;/Box&gt;&#10;                    &lt;Box style={{ flex: 1 }}&gt;&#10;                        &lt;Text style={{ fontSize: 24, fontWeight: 'bold', color: '#1E3A32' }}&gt;选择你所在的团队&lt;/Text&gt;&#10;                        &lt;Text style={{ fontSize: 20, color: '#6B7C75', lineHeight: 1.55, marginTop: 8 }}&gt;&#10;                            团队名单由公司统一配置，只能从下拉列表里选。列表里没有你的团队时，找管理员加，不要随便选一个——你问过的内容会归到团队名下，选错就统计错了。&#10;                        &lt;/Text&gt;&#10;                    &lt;/Box&gt;&#10;                &lt;/Box&gt;&#10;&#10;                &lt;Box style={{&#10;                    flexDirection: 'row', gap: 18, background: '#FFFFFF', borderRadius: 14,&#10;                    padding: 20, boxShadow: '0 4px 20px rgba(30,58,50,0.08)',&#10;                }}&gt;&#10;                    &lt;Box style={{&#10;                        width: 44, height: 44, borderRadius: 22, background: '#1F7A5C',&#10;                        justifyContent: 'center', alignItems: 'center',&#10;                    }}&gt;&#10;                        &lt;Text style={{ fontSize: 22, fontWeight: 'bold', color: '#FFFFFF' }}&gt;2&lt;/Text&gt;&#10;                    &lt;/Box&gt;&#10;                    &lt;Box style={{ flex: 1 }}&gt;&#10;                        &lt;Text style={{ fontSize: 24, fontWeight: 'bold', color: '#1E3A32' }}&gt;填写你的姓名&lt;/Text&gt;&#10;                        &lt;Text style={{ fontSize: 20, color: '#6B7C75', lineHeight: 1.55, marginTop: 8 }}&gt;&#10;                            填常用的名字就行，不用真名全称，但要固定——今天叫&quot;小王&quot;，明天别叫&quot;王某某&quot;，否则系统认不出是同一个人，历史记录会断成两截。&#10;                        &lt;/Text&gt;&#10;                    &lt;/Box&gt;&#10;                &lt;/Box&gt;&#10;            &lt;/Box&gt;&#10;&#10;            &lt;Box style={{&#10;                marginTop: 'auto', background: 'rgba(31,122,92,0.08)', borderRadius: 14, padding: 18,&#10;                flexDirection: 'row', gap: 14, alignItems: 'center',&#10;            }}&gt;&#10;                &lt;FAIcon name='info-circle' style={{ fill: '#1F7A5C', width: 26, height: 26 }} /&gt;&#10;                &lt;Text style={{ fontSize: 20, color: '#1E3A32', lineHeight: 1.5, flex: 1 }}&gt;&#10;                    身份存在这台设备的浏览器里，换手机、换浏览器或清了缓存，需要重新填一次。&#10;                &lt;/Text&gt;&#10;            &lt;/Box&gt;&#10;        &lt;/Box&gt;&#10;&#10;        &lt;Box style={{ flex: 1 }}&gt;&#10;            &lt;svg width=&quot;448&quot; height=&quot;528&quot; viewBox=&quot;0 0 448 528&quot;&gt;&#10;                &lt;rect x=&quot;74&quot; y=&quot;56&quot; width=&quot;300&quot; height=&quot;76&quot; rx=&quot;16&quot; fill=&quot;#1F7A5C&quot; /&gt;&#10;                &lt;text x=&quot;118&quot; y=&quot;102&quot; fontSize=&quot;26&quot; fontWeight=&quot;bold&quot; fill=&quot;#FFFFFF&quot; fontFamily=&quot;PingFang SC&quot;&gt;1  选择你的团队&lt;/text&gt;&#10;&#10;                &lt;path d=&quot;M224 148 L224 188&quot; stroke=&quot;#A8D5BA&quot; strokeWidth=&quot;4&quot; /&gt;&#10;                &lt;path d=&quot;M214 180 L224 196 L234 180 Z&quot; fill=&quot;#A8D5BA&quot; /&gt;&#10;&#10;                &lt;rect x=&quot;74&quot; y=&quot;196&quot; width=&quot;300&quot; height=&quot;76&quot; rx=&quot;16&quot; fill=&quot;#1F7A5C&quot; opacity=&quot;0.8&quot; /&gt;&#10;                &lt;text x=&quot;118&quot; y=&quot;242&quot; fontSize=&quot;26&quot; fontWeight=&quot;bold&quot; fill=&quot;#FFFFFF&quot; fontFamily=&quot;PingFang SC&quot;&gt;2  填写你的姓名&lt;/text&gt;&#10;&#10;                &lt;path d=&quot;M224 288 L224 328&quot; stroke=&quot;#A8D5BA&quot; strokeWidth=&quot;4&quot; /&gt;&#10;                &lt;path d=&quot;M214 320 L224 336 L234 320 Z&quot; fill=&quot;#A8D5BA&quot; /&gt;&#10;&#10;                &lt;rect x=&quot;74&quot; y=&quot;336&quot; width=&quot;300&quot; height=&quot;76&quot; rx=&quot;16&quot; fill=&quot;#E08A3C&quot; /&gt;&#10;                &lt;text x=&quot;118&quot; y=&quot;382&quot; fontSize=&quot;26&quot; fontWeight=&quot;bold&quot; fill=&quot;#FFFFFF&quot; fontFamily=&quot;PingFang SC&quot;&gt;3  进入首页开始提问&lt;/text&gt;&#10;&#10;                &lt;rect x=&quot;74&quot; y=&quot;440&quot; width=&quot;300&quot; height=&quot;72&quot; rx=&quot;14&quot; fill=&quot;rgba(31,122,92,0.1)&quot; /&gt;&#10;                &lt;text x=&quot;224&quot; y=&quot;470&quot; textAnchor=&quot;middle&quot; fontSize=&quot;19&quot; fill=&quot;#1E3A32&quot; fontFamily=&quot;PingFang SC&quot;&gt;身份保存在本机浏览器&lt;/text&gt;&#10;                &lt;text x=&quot;224&quot; y=&quot;496&quot; textAnchor=&quot;middle&quot; fontSize=&quot;19&quot; fill=&quot;#6B7C75&quot; fontFamily=&quot;PingFang SC&quot;&gt;换设备后需要重填&lt;/text&gt;&#10;            &lt;/svg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五期上手课&lt;/Text&gt;&#10;        &lt;/Box&gt;&#10;        &lt;Text style={{ fontSize: 14, color: '#6B7C75' }}&gt;05 / 3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第一次使用：两步进门</a:t>
            </a:r>
            <a:endParaRPr/>
          </a:p>
        </p:txBody>
      </p:sp>
      <p:sp>
        <p:nvSpPr>
          <p:cNvPr id="693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6286500" cy="4191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先选团队，再填姓名，两步就进去了</a:t>
            </a:r>
            <a:endParaRPr/>
          </a:p>
        </p:txBody>
      </p:sp>
      <p:sp>
        <p:nvSpPr>
          <p:cNvPr id="695" name=""/>
          <p:cNvSpPr/>
          <p:nvPr/>
        </p:nvSpPr>
        <p:spPr>
          <a:xfrm rot="0" flipH="0" flipV="0">
            <a:off x="685800" y="1790700"/>
            <a:ext cx="6286500" cy="180022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96" name=""/>
          <p:cNvSpPr/>
          <p:nvPr/>
        </p:nvSpPr>
        <p:spPr>
          <a:xfrm rot="0" flipH="0" flipV="0">
            <a:off x="876300" y="19812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1028700" y="206692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1466850" y="1981200"/>
            <a:ext cx="53149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选择你所在的团队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1466850" y="2333625"/>
            <a:ext cx="5314950" cy="1066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团队名单由公司统一配置，只能从下拉列表里选。列表里没有你的团队时，找管理员加，不要随便选一个——你问过的内容会归到团队名下，选错就统计错了。</a:t>
            </a:r>
            <a:endParaRPr/>
          </a:p>
        </p:txBody>
      </p:sp>
      <p:sp>
        <p:nvSpPr>
          <p:cNvPr id="700" name=""/>
          <p:cNvSpPr/>
          <p:nvPr/>
        </p:nvSpPr>
        <p:spPr>
          <a:xfrm rot="0" flipH="0" flipV="0">
            <a:off x="685800" y="3781425"/>
            <a:ext cx="6286500" cy="180022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01" name=""/>
          <p:cNvSpPr/>
          <p:nvPr/>
        </p:nvSpPr>
        <p:spPr>
          <a:xfrm rot="0" flipH="0" flipV="0">
            <a:off x="876300" y="39719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1028700" y="405765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1466850" y="3971925"/>
            <a:ext cx="53149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填写你的姓名</a:t>
            </a:r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1466850" y="4324350"/>
            <a:ext cx="5314950" cy="1066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填常用的名字就行，不用真名全称，但要固定——今天叫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小王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，明天别叫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王某某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，否则系统认不出是同一个人，历史记录会断成两截。</a:t>
            </a:r>
            <a:endParaRPr/>
          </a:p>
        </p:txBody>
      </p:sp>
      <p:sp>
        <p:nvSpPr>
          <p:cNvPr id="705" name=""/>
          <p:cNvSpPr/>
          <p:nvPr/>
        </p:nvSpPr>
        <p:spPr>
          <a:xfrm rot="0" flipH="0" flipV="0">
            <a:off x="685800" y="5581650"/>
            <a:ext cx="6286500" cy="1028700"/>
          </a:xfrm>
          <a:prstGeom prst="roundRect">
            <a:avLst>
              <a:gd name="adj" fmla="val 12963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pic>
        <p:nvPicPr>
          <p:cNvPr id="70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5972175"/>
            <a:ext cx="247650" cy="247650"/>
          </a:xfrm>
          <a:prstGeom prst="rect">
            <a:avLst/>
          </a:prstGeom>
          <a:ln/>
        </p:spPr>
      </p:pic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1238250" y="5753100"/>
            <a:ext cx="55626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身份存在这台设备的浏览器里，换手机、换浏览器或清了缓存，需要重新填一次。</a:t>
            </a:r>
            <a:endParaRPr/>
          </a:p>
        </p:txBody>
      </p:sp>
      <p:pic>
        <p:nvPicPr>
          <p:cNvPr id="70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239000" y="1143000"/>
            <a:ext cx="4267200" cy="5029200"/>
          </a:xfrm>
          <a:prstGeom prst="rect">
            <a:avLst/>
          </a:prstGeom>
          <a:ln/>
        </p:spPr>
      </p:pic>
      <p:pic>
        <p:nvPicPr>
          <p:cNvPr id="7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五期上手课</a:t>
            </a:r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05 / 33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712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首页四大区域&lt;/Text&gt;&#10;        &lt;Box style={{ width: 56, height: 4, borderRadius: 2, background: '#1F7A5C', marginTop: 8 }} /&gt;&#10;    &lt;/Box&gt;&#10;&#10;    &lt;Box style={{ height: 528, flexDirection: 'row', gap: 28 }}&gt;&#10;        &lt;Box style={{ width: 330, justifyContent: 'center' }}&gt;&#10;            &lt;Text style={{ fontSize: 180, fontWeight: 'bold', color: '#E08A3C', lineHeight: 1, letterSpacing: -4 }}&gt;4&lt;/Text&gt;&#10;            &lt;Text style={{ fontSize: 30, fontWeight: 'bold', color: '#1E3A32', marginTop: 14 }}&gt;大区域&lt;/Text&gt;&#10;            &lt;Text style={{ fontSize: 20, color: '#6B7C75', lineHeight: 1.55, marginTop: 14 }}&gt;&#10;                认全这四块，&lt;br /&gt;首页就永远不会迷路&#10;            &lt;/Text&gt;&#10;        &lt;/Box&gt;&#10;&#10;        &lt;Box style={{ flex: 1, gap: 16 }}&gt;&#10;            &lt;Box style={{&#10;                flexDirection: 'row', gap: 18, background: '#FFFFFF', borderRadius: 14,&#10;                padding: 18, boxShadow: '0 4px 20px rgba(30,58,50,0.08)', height: 118,&#10;            }}&gt;&#10;                &lt;Box style={{ width: 46, height: 46, borderRadius: 23, background: '#1F7A5C', justifyContent: 'center', alignItems: 'center' }}&gt;&#10;                    &lt;FAIcon name='newspaper' style={{ fill: '#FFFFFF', width: 24, height: 24 }} /&gt;&#10;                &lt;/Box&gt;&#10;                &lt;Box style={{ flex: 1, justifyContent: 'center' }}&gt;&#10;                    &lt;Text style={{ fontSize: 25, fontWeight: 'bold', color: '#1E3A32' }}&gt;顶部轮播 · 精选资讯&lt;/Text&gt;&#10;                    &lt;Text style={{ fontSize: 19, color: '#6B7C75', lineHeight: 1.5, marginTop: 6 }}&gt;&#10;                        首页最上面会自动滚动的重点内容。不用逐条点开，先扫标题，看到和手头工作相关的再进去细看。&#10;                    &lt;/Text&gt;&#10;                &lt;/Box&gt;&#10;            &lt;/Box&gt;&#10;&#10;            &lt;Box style={{&#10;                flexDirection: 'row', gap: 18, background: '#FFFFFF', borderRadius: 14,&#10;                padding: 18, boxShadow: '0 4px 20px rgba(30,58,50,0.08)', height: 110,&#10;            }}&gt;&#10;                &lt;Box style={{ width: 46, height: 46, borderRadius: 23, background: '#1F7A5C', justifyContent: 'center', alignItems: 'center' }}&gt;&#10;                    &lt;FAIcon name='th-large' style={{ fill: '#FFFFFF', width: 24, height: 24 }} /&gt;&#10;                &lt;/Box&gt;&#10;                &lt;Box style={{ flex: 1, justifyContent: 'center' }}&gt;&#10;                    &lt;Text style={{ fontSize: 25, fontWeight: 'bold', color: '#1E3A32' }}&gt;快捷功能四个按钮&lt;/Text&gt;&#10;                    &lt;Text style={{ fontSize: 19, color: '#6B7C75', lineHeight: 1.5, marginTop: 6 }}&gt;&#10;                        四个入口对应四类常见需求。不知道从哪问起的时候，先点一个，比对着空输入框发呆强。&#10;                    &lt;/Text&gt;&#10;                &lt;/Box&gt;&#10;            &lt;/Box&gt;&#10;&#10;            &lt;Box style={{&#10;                flexDirection: 'row', gap: 18, background: '#FFFFFF', borderRadius: 14,&#10;                padding: 18, boxShadow: '0 4px 20px rgba(30,58,50,0.08)', height: 126,&#10;            }}&gt;&#10;                &lt;Box style={{ width: 46, height: 46, borderRadius: 23, background: '#1F7A5C', justifyContent: 'center', alignItems: 'center' }}&gt;&#10;                    &lt;FAIcon name='lightbulb' style={{ fill: '#FFFFFF', width: 24, height: 24 }} /&gt;&#10;                &lt;/Box&gt;&#10;                &lt;Box style={{ flex: 1, justifyContent: 'center' }}&gt;&#10;                    &lt;Text style={{ fontSize: 25, fontWeight: 'bold', color: '#1E3A32' }}&gt;示例问题 · 不知道怎么问？试试这些&lt;/Text&gt;&#10;                    &lt;Text style={{ fontSize: 19, color: '#6B7C75', lineHeight: 1.5, marginTop: 6 }}&gt;&#10;                        系统准备好的现成问句，点一下就直接发出去。第一次用的人从这里开始最省事，问过一次就知道该怎么写。&#10;                    &lt;/Text&gt;&#10;                &lt;/Box&gt;&#10;            &lt;/Box&gt;&#10;&#10;            &lt;Box style={{&#10;                flexDirection: 'row', gap: 18, background: 'rgba(224,138,60,0.14)', borderRadius: 14,&#10;                padding: 18, height: 118,&#10;            }}&gt;&#10;                &lt;Box style={{ width: 46, height: 46, borderRadius: 23, background: '#E08A3C', justifyContent: 'center', alignItems: 'center' }}&gt;&#10;                    &lt;FAIcon name='keyboard' style={{ fill: '#FFFFFF', width: 24, height: 24 }} /&gt;&#10;                &lt;/Box&gt;&#10;                &lt;Box style={{ flex: 1, justifyContent: 'center' }}&gt;&#10;                    &lt;Text style={{ fontSize: 25, fontWeight: 'bold', color: '#1E3A32' }}&gt;聊天输入区&lt;/Text&gt;&#10;                    &lt;Text style={{ fontSize: 19, color: '#6B7C75', lineHeight: 1.5, marginTop: 6 }}&gt;&#10;                        想问什么直接打字发送。公司开了语音功能时，右边会出现麦克风，按住说话也能变成文字。&#10;                    &lt;/Text&gt;&#10;                &lt;/Box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五期上手课&lt;/Text&gt;&#10;        &lt;/Box&gt;&#10;        &lt;Text style={{ fontSize: 14, color: '#6B7C75' }}&gt;06 / 3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首页四大区域</a:t>
            </a:r>
            <a:endParaRPr/>
          </a:p>
        </p:txBody>
      </p:sp>
      <p:sp>
        <p:nvSpPr>
          <p:cNvPr id="715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685800" y="1971675"/>
            <a:ext cx="3143250" cy="2057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0" b="1" spc="-300">
                <a:solidFill>
                  <a:srgbClr val="E08A3C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685800" y="4162425"/>
            <a:ext cx="3143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3A32"/>
                </a:solidFill>
                <a:latin typeface="Microsoft YaHei"/>
                <a:ea typeface="Microsoft YaHei"/>
              </a:rPr>
              <a:t>大区域</a:t>
            </a:r>
            <a:endParaRPr/>
          </a:p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685800" y="4638675"/>
            <a:ext cx="3143250" cy="7143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认全这四块，</a:t>
            </a:r>
            <a:endParaRPr/>
          </a:p>
          <a:p>
            <a:pPr>
              <a:lnSpc>
                <a:spcPct val="155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首页就永远不会迷路</a:t>
            </a:r>
            <a:endParaRPr/>
          </a:p>
        </p:txBody>
      </p:sp>
      <p:sp>
        <p:nvSpPr>
          <p:cNvPr id="719" name=""/>
          <p:cNvSpPr/>
          <p:nvPr/>
        </p:nvSpPr>
        <p:spPr>
          <a:xfrm rot="0" flipH="0" flipV="0">
            <a:off x="4095750" y="1143000"/>
            <a:ext cx="7410450" cy="1123950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20" name=""/>
          <p:cNvSpPr/>
          <p:nvPr/>
        </p:nvSpPr>
        <p:spPr>
          <a:xfrm rot="0" flipH="0" flipV="0">
            <a:off x="4267200" y="13144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7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371975" y="1419225"/>
            <a:ext cx="228600" cy="228600"/>
          </a:xfrm>
          <a:prstGeom prst="rect">
            <a:avLst/>
          </a:prstGeom>
          <a:ln/>
        </p:spPr>
      </p:pic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4876800" y="1314450"/>
            <a:ext cx="64579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顶部轮播</a:t>
            </a:r>
            <a:r>
              <a:rPr lang="en-US" sz="1875" b="1">
                <a:solidFill>
                  <a:srgbClr val="1E3A32"/>
                </a:solidFill>
                <a:latin typeface="Microsoft YaHei"/>
                <a:ea typeface="Microsoft YaHei"/>
              </a:rPr>
              <a:t> · </a:t>
            </a: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精选资讯</a:t>
            </a:r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4876800" y="1657350"/>
            <a:ext cx="64579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首页最上面会自动滚动的重点内容。不用逐条点开，先扫标题，看到和手头工作相关的再进去细看。</a:t>
            </a:r>
            <a:endParaRPr/>
          </a:p>
        </p:txBody>
      </p:sp>
      <p:sp>
        <p:nvSpPr>
          <p:cNvPr id="724" name=""/>
          <p:cNvSpPr/>
          <p:nvPr/>
        </p:nvSpPr>
        <p:spPr>
          <a:xfrm rot="0" flipH="0" flipV="0">
            <a:off x="4095750" y="2419350"/>
            <a:ext cx="7410450" cy="104775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25" name=""/>
          <p:cNvSpPr/>
          <p:nvPr/>
        </p:nvSpPr>
        <p:spPr>
          <a:xfrm rot="0" flipH="0" flipV="0">
            <a:off x="4267200" y="25908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7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371975" y="2695575"/>
            <a:ext cx="228600" cy="228600"/>
          </a:xfrm>
          <a:prstGeom prst="rect">
            <a:avLst/>
          </a:prstGeom>
          <a:ln/>
        </p:spPr>
      </p:pic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4876800" y="2590800"/>
            <a:ext cx="64579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快捷功能四个按钮</a:t>
            </a:r>
            <a:endParaRPr/>
          </a:p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4876800" y="2933700"/>
            <a:ext cx="64579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四个入口对应四类常见需求。不知道从哪问起的时候，先点一个，比对着空输入框发呆强。</a:t>
            </a:r>
            <a:endParaRPr/>
          </a:p>
        </p:txBody>
      </p:sp>
      <p:sp>
        <p:nvSpPr>
          <p:cNvPr id="729" name=""/>
          <p:cNvSpPr/>
          <p:nvPr/>
        </p:nvSpPr>
        <p:spPr>
          <a:xfrm rot="0" flipH="0" flipV="0">
            <a:off x="4095750" y="3619500"/>
            <a:ext cx="7410450" cy="12001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30" name=""/>
          <p:cNvSpPr/>
          <p:nvPr/>
        </p:nvSpPr>
        <p:spPr>
          <a:xfrm rot="0" flipH="0" flipV="0">
            <a:off x="4267200" y="37909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7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371975" y="3895725"/>
            <a:ext cx="228600" cy="228600"/>
          </a:xfrm>
          <a:prstGeom prst="rect">
            <a:avLst/>
          </a:prstGeom>
          <a:ln/>
        </p:spPr>
      </p:pic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4876800" y="3790950"/>
            <a:ext cx="64579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示例问题</a:t>
            </a:r>
            <a:r>
              <a:rPr lang="en-US" sz="1875" b="1">
                <a:solidFill>
                  <a:srgbClr val="1E3A32"/>
                </a:solidFill>
                <a:latin typeface="Microsoft YaHei"/>
                <a:ea typeface="Microsoft YaHei"/>
              </a:rPr>
              <a:t> · </a:t>
            </a: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不知道怎么问？试试这些</a:t>
            </a:r>
            <a:endParaRPr/>
          </a:p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4876800" y="4133850"/>
            <a:ext cx="64579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系统准备好的现成问句，点一下就直接发出去。第一次用的人从这里开始最省事，问过一次就知道该怎么写。</a:t>
            </a:r>
            <a:endParaRPr/>
          </a:p>
        </p:txBody>
      </p:sp>
      <p:sp>
        <p:nvSpPr>
          <p:cNvPr id="734" name=""/>
          <p:cNvSpPr/>
          <p:nvPr/>
        </p:nvSpPr>
        <p:spPr>
          <a:xfrm rot="0" flipH="0" flipV="0">
            <a:off x="4095750" y="4972050"/>
            <a:ext cx="7410450" cy="1123950"/>
          </a:xfrm>
          <a:prstGeom prst="roundRect">
            <a:avLst>
              <a:gd name="adj" fmla="val 11864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735" name=""/>
          <p:cNvSpPr/>
          <p:nvPr/>
        </p:nvSpPr>
        <p:spPr>
          <a:xfrm rot="0" flipH="0" flipV="0">
            <a:off x="4267200" y="51435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/>
        </p:spPr>
        <p:txBody>
          <a:bodyPr/>
          <a:p/>
        </p:txBody>
      </p:sp>
      <p:pic>
        <p:nvPicPr>
          <p:cNvPr id="7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371975" y="5248275"/>
            <a:ext cx="228600" cy="228600"/>
          </a:xfrm>
          <a:prstGeom prst="rect">
            <a:avLst/>
          </a:prstGeom>
          <a:ln/>
        </p:spPr>
      </p:pic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4876800" y="5143500"/>
            <a:ext cx="64579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聊天输入区</a:t>
            </a:r>
            <a:endParaRPr/>
          </a:p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4876800" y="5486400"/>
            <a:ext cx="64579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想问什么直接打字发送。公司开了语音功能时，右边会出现麦克风，按住说话也能变成文字。</a:t>
            </a:r>
            <a:endParaRPr/>
          </a:p>
        </p:txBody>
      </p:sp>
      <p:pic>
        <p:nvPicPr>
          <p:cNvPr id="7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五期上手课</a:t>
            </a:r>
            <a:endParaRPr/>
          </a:p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06 / 33</a:t>
            </a:r>
            <a:endParaRPr/>
          </a:p>
        </p:txBody>
      </p:sp>
    </p:spTree>
  </p:cSld>
</p:sld>
</file>

<file path=ppt/slides/slide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742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快捷功能怎么挑&lt;/Text&gt;&#10;        &lt;Box style={{ width: 56, height: 4, borderRadius: 2, background: '#1F7A5C', marginTop: 8 }} /&gt;&#10;    &lt;/Box&gt;&#10;&#10;    &lt;Box style={{ height: 528, flexDirection: 'row', gap: 28 }}&gt;&#10;        &lt;Box style={{ width: 310 }}&gt;&#10;            &lt;Text style={{ fontSize: 26, fontWeight: 'bold', color: '#1F7A5C', lineHeight: 1.45 }}&gt;&#10;                四个按钮，&lt;br /&gt;对应四种&quot;我现在想干嘛&quot;&#10;            &lt;/Text&gt;&#10;            &lt;Text style={{ fontSize: 20, color: '#6B7C75', lineHeight: 1.6, marginTop: 20 }}&gt;&#10;                选错了不会出错，只是答案会偏一点。判断标准只有一个：你现在是想知道&quot;是什么&quot;，还是想知道&quot;怎么用&quot;，还是想&quot;写点东西发出去&quot;。&#10;            &lt;/Text&gt;&#10;            &lt;Box style={{&#10;                marginTop: 24, background: 'rgba(31,122,92,0.08)', borderRadius: 14, padding: 16,&#10;            }}&gt;&#10;                &lt;Text style={{ fontSize: 19, color: '#1E3A32', lineHeight: 1.55 }}&gt;&#10;                    快捷入口只是帮你开个头，进去之后照样可以随便改问题。&#10;                &lt;/Text&gt;&#10;            &lt;/Box&gt;&#10;        &lt;/Box&gt;&#10;&#10;        &lt;Box style={{ flex: 1, gap: 12 }}&gt;&#10;            &lt;Box style={{&#10;                flexDirection: 'row', gap: 18, alignItems: 'center', background: '#FFFFFF',&#10;                borderRadius: 14, padding: 18, height: 114, boxShadow: '0 4px 20px rgba(30,58,50,0.08)',&#10;            }}&gt;&#10;                &lt;Box style={{ width: 52, height: 52, borderRadius: 26, background: 'rgba(31,122,92,0.1)', justifyContent: 'center', alignItems: 'center' }}&gt;&#10;                    &lt;FAIcon name='box' style={{ fill: '#1F7A5C', width: 28, height: 28 }} /&gt;&#10;                &lt;/Box&gt;&#10;                &lt;Box style={{ flex: 1 }}&gt;&#10;                    &lt;Text style={{ fontSize: 25, fontWeight: 'bold', color: '#1E3A32' }}&gt;产品资料查询&lt;/Text&gt;&#10;                    &lt;Text style={{ fontSize: 19, color: '#1F7A5C', lineHeight: 1.45, marginTop: 4 }}&gt;&#10;                        想知道&quot;是什么&quot;就点它 —— 了解产品特点、适合什么人，先把底子打清楚&#10;                    &lt;/Text&gt;&#10;                &lt;/Box&gt;&#10;            &lt;/Box&gt;&#10;&#10;            &lt;Box style={{&#10;                flexDirection: 'row', gap: 18, alignItems: 'center', background: '#FFFFFF',&#10;                borderRadius: 14, padding: 18, height: 114, boxShadow: '0 4px 20px rgba(30,58,50,0.08)',&#10;            }}&gt;&#10;                &lt;Box style={{ width: 52, height: 52, borderRadius: 26, background: 'rgba(31,122,92,0.1)', justifyContent: 'center', alignItems: 'center' }}&gt;&#10;                    &lt;FAIcon name='question-circle' style={{ fill: '#1F7A5C', width: 28, height: 28 }} /&gt;&#10;                &lt;/Box&gt;&#10;                &lt;Box style={{ flex: 1 }}&gt;&#10;                    &lt;Text style={{ fontSize: 25, fontWeight: 'bold', color: '#1E3A32' }}&gt;产品使用答疑&lt;/Text&gt;&#10;                    &lt;Text style={{ fontSize: 19, color: '#1F7A5C', lineHeight: 1.45, marginTop: 4 }}&gt;&#10;                        想知道&quot;怎么用&quot;就点它 —— 问用法、问时间、问注意事项，这一路最顺&#10;                    &lt;/Text&gt;&#10;                &lt;/Box&gt;&#10;            &lt;/Box&gt;&#10;&#10;            &lt;Box style={{&#10;                flexDirection: 'row', gap: 18, alignItems: 'center', background: '#FFFFFF',&#10;                borderRadius: 14, padding: 18, height: 114, boxShadow: '0 4px 20px rgba(30,58,50,0.08)',&#10;            }}&gt;&#10;                &lt;Box style={{ width: 52, height: 52, borderRadius: 26, background: 'rgba(31,122,92,0.1)', justifyContent: 'center', alignItems: 'center' }}&gt;&#10;                    &lt;FAIcon name='share' style={{ fill: '#1F7A5C', width: 28, height: 28 }} /&gt;&#10;                &lt;/Box&gt;&#10;                &lt;Box style={{ flex: 1 }}&gt;&#10;                    &lt;Text style={{ fontSize: 25, fontWeight: 'bold', color: '#1E3A32' }}&gt;朋友圈帮写&lt;/Text&gt;&#10;                    &lt;Text style={{ fontSize: 19, color: '#1F7A5C', lineHeight: 1.45, marginTop: 4 }}&gt;&#10;                        想发一条朋友圈就点它 —— 把卖点写成能直接发出去的一段话&#10;                    &lt;/Text&gt;&#10;                &lt;/Box&gt;&#10;            &lt;/Box&gt;&#10;&#10;            &lt;Box style={{&#10;                flexDirection: 'row', gap: 18, alignItems: 'center', background: 'rgba(224,138,60,0.14)',&#10;                borderRadius: 14, padding: 18, height: 114,&#10;            }}&gt;&#10;                &lt;Box style={{ width: 52, height: 52, borderRadius: 26, background: '#E08A3C', justifyContent: 'center', alignItems: 'center' }}&gt;&#10;                    &lt;FAIcon name='microphone' style={{ fill: '#FFFFFF', width: 28, height: 28 }} /&gt;&#10;                &lt;/Box&gt;&#10;                &lt;Box style={{ flex: 1 }}&gt;&#10;                    &lt;Text style={{ fontSize: 25, fontWeight: 'bold', color: '#1E3A32' }}&gt;口播文案帮写&lt;/Text&gt;&#10;                    &lt;Text style={{ fontSize: 19, color: '#C9742B', lineHeight: 1.45, marginTop: 4 }}&gt;&#10;                        想说给别人听就点它 —— 整理成能照着念的稿子，拍视频直播都能用&#10;                    &lt;/Text&gt;&#10;                &lt;/Box&gt;&#10;            &lt;/Box&gt;&#10;&#10;            &lt;Box style={{ height: 36, justifyContent: 'center', alignItems: 'center' }}&gt;&#10;                &lt;Text style={{ fontSize: 19, color: '#6B7C75' }}&gt;&#10;                    拿不准就先点第一个 —— 试错成本是零，点错了退出重来就行&#10;                &lt;/Text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五期上手课&lt;/Text&gt;&#10;        &lt;/Box&gt;&#10;        &lt;Text style={{ fontSize: 14, color: '#6B7C75' }}&gt;07 / 3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快捷功能怎么挑</a:t>
            </a:r>
            <a:endParaRPr/>
          </a:p>
        </p:txBody>
      </p:sp>
      <p:sp>
        <p:nvSpPr>
          <p:cNvPr id="745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952750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四个按钮，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对应四种</a:t>
            </a:r>
            <a:r>
              <a:rPr lang="en-US" sz="1950" b="1">
                <a:solidFill>
                  <a:srgbClr val="1F7A5C"/>
                </a:solidFill>
                <a:latin typeface="Microsoft YaHei"/>
                <a:ea typeface="Microsoft YaHei"/>
              </a:rPr>
              <a:t>"</a:t>
            </a: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我现在想干嘛</a:t>
            </a:r>
            <a:r>
              <a:rPr lang="en-US" sz="1950" b="1">
                <a:solidFill>
                  <a:srgbClr val="1F7A5C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685800" y="2200275"/>
            <a:ext cx="2952750" cy="1466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选错了不会出错，只是答案会偏一点。判断标准只有一个：你现在是想知道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是什么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，还是想知道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怎么用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，还是想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写点东西发出去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748" name=""/>
          <p:cNvSpPr/>
          <p:nvPr/>
        </p:nvSpPr>
        <p:spPr>
          <a:xfrm rot="0" flipH="0" flipV="0">
            <a:off x="685800" y="3895725"/>
            <a:ext cx="2952750" cy="981075"/>
          </a:xfrm>
          <a:prstGeom prst="roundRect">
            <a:avLst>
              <a:gd name="adj" fmla="val 13592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838200" y="4048125"/>
            <a:ext cx="264795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快捷入口只是帮你开个头，进去之后照样可以随便改问题。</a:t>
            </a:r>
            <a:endParaRPr/>
          </a:p>
        </p:txBody>
      </p:sp>
      <p:sp>
        <p:nvSpPr>
          <p:cNvPr id="750" name=""/>
          <p:cNvSpPr/>
          <p:nvPr/>
        </p:nvSpPr>
        <p:spPr>
          <a:xfrm rot="0" flipH="0" flipV="0">
            <a:off x="3905250" y="1143000"/>
            <a:ext cx="7600950" cy="1085850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51" name=""/>
          <p:cNvSpPr/>
          <p:nvPr/>
        </p:nvSpPr>
        <p:spPr>
          <a:xfrm rot="0" flipH="0" flipV="0">
            <a:off x="4076700" y="1438275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F7A5C">
              <a:alpha val="10000"/>
            </a:srgbClr>
          </a:solidFill>
          <a:ln/>
        </p:spPr>
        <p:txBody>
          <a:bodyPr/>
          <a:p/>
        </p:txBody>
      </p:sp>
      <p:pic>
        <p:nvPicPr>
          <p:cNvPr id="7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191000" y="1552575"/>
            <a:ext cx="266700" cy="266700"/>
          </a:xfrm>
          <a:prstGeom prst="rect">
            <a:avLst/>
          </a:prstGeom>
          <a:ln/>
        </p:spPr>
      </p:pic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4743450" y="1362075"/>
            <a:ext cx="65913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产品资料查询</a:t>
            </a:r>
            <a:endParaRPr/>
          </a:p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4743450" y="1685925"/>
            <a:ext cx="659130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1F7A5C"/>
                </a:solidFill>
                <a:latin typeface="Microsoft YaHei"/>
                <a:ea typeface="Microsoft YaHei"/>
              </a:rPr>
              <a:t>想知道</a:t>
            </a:r>
            <a:r>
              <a:rPr lang="en-US" sz="1425">
                <a:solidFill>
                  <a:srgbClr val="1F7A5C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F7A5C"/>
                </a:solidFill>
                <a:latin typeface="Microsoft YaHei"/>
                <a:ea typeface="Microsoft YaHei"/>
              </a:rPr>
              <a:t>是什么</a:t>
            </a:r>
            <a:r>
              <a:rPr lang="en-US" sz="1425">
                <a:solidFill>
                  <a:srgbClr val="1F7A5C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F7A5C"/>
                </a:solidFill>
                <a:latin typeface="Microsoft YaHei"/>
                <a:ea typeface="Microsoft YaHei"/>
              </a:rPr>
              <a:t>就点它</a:t>
            </a:r>
            <a:r>
              <a:rPr lang="en-US" sz="1425">
                <a:solidFill>
                  <a:srgbClr val="1F7A5C"/>
                </a:solidFill>
                <a:latin typeface="Microsoft YaHei"/>
                <a:ea typeface="Microsoft YaHei"/>
              </a:rPr>
              <a:t> —— </a:t>
            </a:r>
            <a:r>
              <a:rPr lang="zh-CN" sz="1425">
                <a:solidFill>
                  <a:srgbClr val="1F7A5C"/>
                </a:solidFill>
                <a:latin typeface="Microsoft YaHei"/>
                <a:ea typeface="Microsoft YaHei"/>
              </a:rPr>
              <a:t>了解产品特点、适合什么人，先把底子打清楚</a:t>
            </a:r>
            <a:endParaRPr/>
          </a:p>
        </p:txBody>
      </p:sp>
      <p:sp>
        <p:nvSpPr>
          <p:cNvPr id="755" name=""/>
          <p:cNvSpPr/>
          <p:nvPr/>
        </p:nvSpPr>
        <p:spPr>
          <a:xfrm rot="0" flipH="0" flipV="0">
            <a:off x="3905250" y="2343150"/>
            <a:ext cx="7600950" cy="1085850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56" name=""/>
          <p:cNvSpPr/>
          <p:nvPr/>
        </p:nvSpPr>
        <p:spPr>
          <a:xfrm rot="0" flipH="0" flipV="0">
            <a:off x="4076700" y="2638425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F7A5C">
              <a:alpha val="10000"/>
            </a:srgbClr>
          </a:solidFill>
          <a:ln/>
        </p:spPr>
        <p:txBody>
          <a:bodyPr/>
          <a:p/>
        </p:txBody>
      </p:sp>
      <p:pic>
        <p:nvPicPr>
          <p:cNvPr id="75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191000" y="2752725"/>
            <a:ext cx="266700" cy="266700"/>
          </a:xfrm>
          <a:prstGeom prst="rect">
            <a:avLst/>
          </a:prstGeom>
          <a:ln/>
        </p:spPr>
      </p:pic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4743450" y="2562225"/>
            <a:ext cx="65913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产品使用答疑</a:t>
            </a:r>
            <a:endParaRPr/>
          </a:p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4743450" y="2886075"/>
            <a:ext cx="659130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1F7A5C"/>
                </a:solidFill>
                <a:latin typeface="Microsoft YaHei"/>
                <a:ea typeface="Microsoft YaHei"/>
              </a:rPr>
              <a:t>想知道</a:t>
            </a:r>
            <a:r>
              <a:rPr lang="en-US" sz="1425">
                <a:solidFill>
                  <a:srgbClr val="1F7A5C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F7A5C"/>
                </a:solidFill>
                <a:latin typeface="Microsoft YaHei"/>
                <a:ea typeface="Microsoft YaHei"/>
              </a:rPr>
              <a:t>怎么用</a:t>
            </a:r>
            <a:r>
              <a:rPr lang="en-US" sz="1425">
                <a:solidFill>
                  <a:srgbClr val="1F7A5C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F7A5C"/>
                </a:solidFill>
                <a:latin typeface="Microsoft YaHei"/>
                <a:ea typeface="Microsoft YaHei"/>
              </a:rPr>
              <a:t>就点它</a:t>
            </a:r>
            <a:r>
              <a:rPr lang="en-US" sz="1425">
                <a:solidFill>
                  <a:srgbClr val="1F7A5C"/>
                </a:solidFill>
                <a:latin typeface="Microsoft YaHei"/>
                <a:ea typeface="Microsoft YaHei"/>
              </a:rPr>
              <a:t> —— </a:t>
            </a:r>
            <a:r>
              <a:rPr lang="zh-CN" sz="1425">
                <a:solidFill>
                  <a:srgbClr val="1F7A5C"/>
                </a:solidFill>
                <a:latin typeface="Microsoft YaHei"/>
                <a:ea typeface="Microsoft YaHei"/>
              </a:rPr>
              <a:t>问用法、问时间、问注意事项，这一路最顺</a:t>
            </a:r>
            <a:endParaRPr/>
          </a:p>
        </p:txBody>
      </p:sp>
      <p:sp>
        <p:nvSpPr>
          <p:cNvPr id="760" name=""/>
          <p:cNvSpPr/>
          <p:nvPr/>
        </p:nvSpPr>
        <p:spPr>
          <a:xfrm rot="0" flipH="0" flipV="0">
            <a:off x="3905250" y="3543300"/>
            <a:ext cx="7600950" cy="1085850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61" name=""/>
          <p:cNvSpPr/>
          <p:nvPr/>
        </p:nvSpPr>
        <p:spPr>
          <a:xfrm rot="0" flipH="0" flipV="0">
            <a:off x="4076700" y="3838575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F7A5C">
              <a:alpha val="10000"/>
            </a:srgbClr>
          </a:solidFill>
          <a:ln/>
        </p:spPr>
        <p:txBody>
          <a:bodyPr/>
          <a:p/>
        </p:txBody>
      </p:sp>
      <p:pic>
        <p:nvPicPr>
          <p:cNvPr id="7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191000" y="3952875"/>
            <a:ext cx="266700" cy="266700"/>
          </a:xfrm>
          <a:prstGeom prst="rect">
            <a:avLst/>
          </a:prstGeom>
          <a:ln/>
        </p:spPr>
      </p:pic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4743450" y="3762375"/>
            <a:ext cx="65913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朋友圈帮写</a:t>
            </a:r>
            <a:endParaRPr/>
          </a:p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4743450" y="4086225"/>
            <a:ext cx="659130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1F7A5C"/>
                </a:solidFill>
                <a:latin typeface="Microsoft YaHei"/>
                <a:ea typeface="Microsoft YaHei"/>
              </a:rPr>
              <a:t>想发一条朋友圈就点它</a:t>
            </a:r>
            <a:r>
              <a:rPr lang="en-US" sz="1425">
                <a:solidFill>
                  <a:srgbClr val="1F7A5C"/>
                </a:solidFill>
                <a:latin typeface="Microsoft YaHei"/>
                <a:ea typeface="Microsoft YaHei"/>
              </a:rPr>
              <a:t> —— </a:t>
            </a:r>
            <a:r>
              <a:rPr lang="zh-CN" sz="1425">
                <a:solidFill>
                  <a:srgbClr val="1F7A5C"/>
                </a:solidFill>
                <a:latin typeface="Microsoft YaHei"/>
                <a:ea typeface="Microsoft YaHei"/>
              </a:rPr>
              <a:t>把卖点写成能直接发出去的一段话</a:t>
            </a:r>
            <a:endParaRPr/>
          </a:p>
        </p:txBody>
      </p:sp>
      <p:sp>
        <p:nvSpPr>
          <p:cNvPr id="765" name=""/>
          <p:cNvSpPr/>
          <p:nvPr/>
        </p:nvSpPr>
        <p:spPr>
          <a:xfrm rot="0" flipH="0" flipV="0">
            <a:off x="3905250" y="4743450"/>
            <a:ext cx="7600950" cy="1085850"/>
          </a:xfrm>
          <a:prstGeom prst="roundRect">
            <a:avLst>
              <a:gd name="adj" fmla="val 12281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766" name=""/>
          <p:cNvSpPr/>
          <p:nvPr/>
        </p:nvSpPr>
        <p:spPr>
          <a:xfrm rot="0" flipH="0" flipV="0">
            <a:off x="4076700" y="5038725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/>
        </p:spPr>
        <p:txBody>
          <a:bodyPr/>
          <a:p/>
        </p:txBody>
      </p:sp>
      <p:pic>
        <p:nvPicPr>
          <p:cNvPr id="7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191000" y="5153025"/>
            <a:ext cx="266700" cy="266700"/>
          </a:xfrm>
          <a:prstGeom prst="rect">
            <a:avLst/>
          </a:prstGeom>
          <a:ln/>
        </p:spPr>
      </p:pic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4743450" y="4962525"/>
            <a:ext cx="65913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口播文案帮写</a:t>
            </a:r>
            <a:endParaRPr/>
          </a:p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4743450" y="5286375"/>
            <a:ext cx="659130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C9742B"/>
                </a:solidFill>
                <a:latin typeface="Microsoft YaHei"/>
                <a:ea typeface="Microsoft YaHei"/>
              </a:rPr>
              <a:t>想说给别人听就点它</a:t>
            </a:r>
            <a:r>
              <a:rPr lang="en-US" sz="1425">
                <a:solidFill>
                  <a:srgbClr val="C9742B"/>
                </a:solidFill>
                <a:latin typeface="Microsoft YaHei"/>
                <a:ea typeface="Microsoft YaHei"/>
              </a:rPr>
              <a:t> —— </a:t>
            </a:r>
            <a:r>
              <a:rPr lang="zh-CN" sz="1425">
                <a:solidFill>
                  <a:srgbClr val="C9742B"/>
                </a:solidFill>
                <a:latin typeface="Microsoft YaHei"/>
                <a:ea typeface="Microsoft YaHei"/>
              </a:rPr>
              <a:t>整理成能照着念的稿子，拍视频直播都能用</a:t>
            </a:r>
            <a:endParaRPr/>
          </a:p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5210175" y="6010275"/>
            <a:ext cx="4991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拿不准就先点第一个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 —— 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试错成本是零，点错了退出重来就行</a:t>
            </a:r>
            <a:endParaRPr/>
          </a:p>
        </p:txBody>
      </p:sp>
      <p:pic>
        <p:nvPicPr>
          <p:cNvPr id="7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772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五期上手课</a:t>
            </a:r>
            <a:endParaRPr/>
          </a:p>
        </p:txBody>
      </p:sp>
      <p:sp>
        <p:nvSpPr>
          <p:cNvPr id="773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07 / 33</a:t>
            </a:r>
            <a:endParaRPr/>
          </a:p>
        </p:txBody>
      </p:sp>
    </p:spTree>
  </p:cSld>
</p:sld>
</file>

<file path=ppt/slides/slide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774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第 1 期实操：三个动作，二十分钟&lt;/Text&gt;&#10;        &lt;Box style={{ width: 56, height: 4, borderRadius: 2, background: '#1F7A5C', marginTop: 8 }} /&gt;&#10;    &lt;/Box&gt;&#10;&#10;    &lt;Box style={{ height: 528, flexDirection: 'row', gap: 20 }}&gt;&#10;        &lt;Box style={{&#10;            flex: 1, background: '#FFFFFF', borderRadius: 14, padding: 24,&#10;            boxShadow: '0 4px 20px rgba(30,58,50,0.08)',&#10;        }}&gt;&#10;            &lt;svg width=&quot;90&quot; height=&quot;90&quot; viewBox=&quot;0 0 90 90&quot;&gt;&#10;                &lt;rect x=&quot;8&quot; y=&quot;18&quot; width=&quot;74&quot; height=&quot;54&quot; rx=&quot;12&quot; fill=&quot;#1F7A5C&quot; /&gt;&#10;                &lt;circle cx=&quot;30&quot; cy=&quot;41&quot; r=&quot;11&quot; fill=&quot;#FFFFFF&quot; opacity=&quot;0.9&quot; /&gt;&#10;                &lt;rect x=&quot;46&quot; y=&quot;34&quot; width=&quot;28&quot; height=&quot;6&quot; rx=&quot;3&quot; fill=&quot;#FFFFFF&quot; opacity=&quot;0.85&quot; /&gt;&#10;                &lt;rect x=&quot;46&quot; y=&quot;46&quot; width=&quot;20&quot; height=&quot;6&quot; rx=&quot;3&quot; fill=&quot;#FFFFFF&quot; opacity=&quot;0.55&quot; /&gt;&#10;                &lt;circle cx=&quot;66&quot; cy=&quot;62&quot; r=&quot;15&quot; fill=&quot;#E08A3C&quot; /&gt;&#10;                &lt;path d=&quot;M59 62 L64 67 L73 57&quot; stroke=&quot;#FFFFFF&quot; strokeWidth=&quot;4&quot; fill=&quot;none&quot; strokeLinecap=&quot;round&quot; /&gt;&#10;            &lt;/svg&gt;&#10;            &lt;Text style={{ fontSize: 26, fontWeight: 'bold', color: '#1E3A32', marginTop: 16 }}&gt;动作一：填好身份&lt;/Text&gt;&#10;            &lt;Text style={{ fontSize: 19, color: '#6B7C75', lineHeight: 1.6, marginTop: 12 }}&gt;&#10;                打开首页，从下拉列表里选你所在的团队，填上固定的名字，点确认进入。团队名单是公司统一配的，列表里没有就找管理员加，千万别随便选一个凑合——你问过的每一句都会记到这个团队名下，选错了统计数据就全乱了。填完之后顺手确认一下名字显示对不对。&#10;            &lt;/Text&gt;&#10;            &lt;Box style={{ marginTop: 'auto', background: 'rgba(224,138,60,0.14)', borderRadius: 12, padding: 14 }}&gt;&#10;                &lt;Text style={{ fontSize: 18, color: '#C9742B', fontWeight: 'bold' }}&gt;验收：能说清自己属于哪个团队&lt;/Text&gt;&#10;            &lt;/Box&gt;&#10;        &lt;/Box&gt;&#10;&#10;        &lt;Box style={{&#10;            flex: 1, background: '#FFFFFF', borderRadius: 14, padding: 24,&#10;            boxShadow: '0 4px 20px rgba(30,58,50,0.08)',&#10;        }}&gt;&#10;            &lt;svg width=&quot;90&quot; height=&quot;90&quot; viewBox=&quot;0 0 90 90&quot;&gt;&#10;                &lt;rect x=&quot;6&quot; y=&quot;10&quot; width=&quot;34&quot; height=&quot;34&quot; rx=&quot;10&quot; fill=&quot;rgba(168,213,186,0.5)&quot; /&gt;&#10;                &lt;rect x=&quot;50&quot; y=&quot;10&quot; width=&quot;34&quot; height=&quot;34&quot; rx=&quot;10&quot; fill=&quot;rgba(168,213,186,0.5)&quot; /&gt;&#10;                &lt;rect x=&quot;6&quot; y=&quot;48&quot; width=&quot;34&quot; height=&quot;34&quot; rx=&quot;10&quot; fill=&quot;#1F7A5C&quot; /&gt;&#10;                &lt;rect x=&quot;50&quot; y=&quot;48&quot; width=&quot;34&quot; height=&quot;34&quot; rx=&quot;10&quot; fill=&quot;rgba(168,213,186,0.5)&quot; /&gt;&#10;                &lt;path d=&quot;M62 62 L62 40&quot; stroke=&quot;#E08A3C&quot; strokeWidth=&quot;5&quot; strokeLinecap=&quot;round&quot; /&gt;&#10;                &lt;path d=&quot;M56 46 L62 38 L68 46&quot; stroke=&quot;#E08A3C&quot; strokeWidth=&quot;5&quot; fill=&quot;none&quot; strokeLinecap=&quot;round&quot; /&gt;&#10;            &lt;/svg&gt;&#10;            &lt;Text style={{ fontSize: 26, fontWeight: 'bold', color: '#1E3A32', marginTop: 16 }}&gt;动作二：点一次快捷入口&lt;/Text&gt;&#10;            &lt;Text style={{ fontSize: 19, color: '#6B7C75', lineHeight: 1.6, marginTop: 12 }}&gt;&#10;                在首页找到「快捷功能」那四个按钮，挑一个和你今天工作最相关的点进去。想了解产品就点&quot;产品资料查询&quot;，想问用法就点&quot;产品使用答疑&quot;。进去之后先别急着关，看一眼输入框里有没有自动带出提示语——那是这一类问题的常用开头，照着改比从零想快得多。&#10;            &lt;/Text&gt;&#10;            &lt;Box style={{ marginTop: 'auto', background: 'rgba(224,138,60,0.14)', borderRadius: 12, padding: 14 }}&gt;&#10;                &lt;Text style={{ fontSize: 18, color: '#C9742B', fontWeight: 'bold' }}&gt;验收：能说出四个入口各自的用处&lt;/Text&gt;&#10;            &lt;/Box&gt;&#10;        &lt;/Box&gt;&#10;&#10;        &lt;Box style={{&#10;            flex: 1, background: '#FFFFFF', borderRadius: 14, padding: 24,&#10;            boxShadow: '0 4px 20px rgba(30,58,50,0.08)',&#10;        }}&gt;&#10;            &lt;svg width=&quot;90&quot; height=&quot;90&quot; viewBox=&quot;0 0 90 90&quot;&gt;&#10;                &lt;path d=&quot;M10 16 H64 A10 10 0 0 1 74 26 V52 A10 10 0 0 1 64 62 H34 L18 76 V62 H10 Z&quot; fill=&quot;#1F7A5C&quot; /&gt;&#10;                &lt;rect x=&quot;20&quot; y=&quot;30&quot; width=&quot;42&quot; height=&quot;6&quot; rx=&quot;3&quot; fill=&quot;#FFFFFF&quot; opacity=&quot;0.9&quot; /&gt;&#10;                &lt;rect x=&quot;20&quot; y=&quot;44&quot; width=&quot;28&quot; height=&quot;6&quot; rx=&quot;3&quot; fill=&quot;#FFFFFF&quot; opacity=&quot;0.55&quot; /&gt;&#10;                &lt;circle cx=&quot;66&quot; cy=&quot;72&quot; r=&quot;14&quot; fill=&quot;#E08A3C&quot; /&gt;&#10;                &lt;path d=&quot;M60 72 L72 72&quot; stroke=&quot;#FFFFFF&quot; strokeWidth=&quot;4&quot; strokeLinecap=&quot;round&quot; /&gt;&#10;                &lt;path d=&quot;M66 66 L66 78&quot; stroke=&quot;#FFFFFF&quot; strokeWidth=&quot;4&quot; strokeLinecap=&quot;round&quot; /&gt;&#10;            &lt;/svg&gt;&#10;            &lt;Text style={{ fontSize: 26, fontWeight: 'bold', color: '#1E3A32', marginTop: 16 }}&gt;动作三：发出第一句话&lt;/Text&gt;&#10;            &lt;Text style={{ fontSize: 19, color: '#6B7C75', lineHeight: 1.6, marginTop: 12 }}&gt;&#10;                在输入框里打一句最简单的话，比如&quot;这个产品适合什么人&quot;，然后发送。别追求一次问对，这次的目标只是观察：回答长什么样、分了几段、下面有没有冒出相关案例卡片。把这一句真正发出去，第 1 期就算过关了——剩下的都是熟练度问题。&#10;            &lt;/Text&gt;&#10;            &lt;Box style={{ marginTop: 'auto', background: 'rgba(224,138,60,0.14)', borderRadius: 12, padding: 14 }}&gt;&#10;                &lt;Text style={{ fontSize: 18, color: '#C9742B', fontWeight: 'bold' }}&gt;验收：聊天区出现了一条完整回答&lt;/Text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五期上手课&lt;/Text&gt;&#10;        &lt;/Box&gt;&#10;        &lt;Text style={{ fontSize: 14, color: '#6B7C75' }}&gt;08 / 3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第</a:t>
            </a:r>
            <a:r>
              <a:rPr lang="en-US" sz="2700" b="1">
                <a:solidFill>
                  <a:srgbClr val="1E3A32"/>
                </a:solidFill>
                <a:latin typeface="Microsoft YaHei"/>
                <a:ea typeface="Microsoft YaHei"/>
              </a:rPr>
              <a:t> 1 </a:t>
            </a: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期实操：三个动作，二十分钟</a:t>
            </a:r>
            <a:endParaRPr/>
          </a:p>
        </p:txBody>
      </p:sp>
      <p:sp>
        <p:nvSpPr>
          <p:cNvPr id="777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778" name=""/>
          <p:cNvSpPr/>
          <p:nvPr/>
        </p:nvSpPr>
        <p:spPr>
          <a:xfrm rot="0" flipH="0" flipV="0">
            <a:off x="685800" y="1143000"/>
            <a:ext cx="3476625" cy="514350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7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14400" y="1371600"/>
            <a:ext cx="857250" cy="857250"/>
          </a:xfrm>
          <a:prstGeom prst="rect">
            <a:avLst/>
          </a:prstGeom>
          <a:ln/>
        </p:spPr>
      </p:pic>
      <p:sp>
        <p:nvSpPr>
          <p:cNvPr id="780" name="" descr="{&quot;isTemplate&quot;:true,&quot;type&quot;:&quot;text&quot;}"/>
          <p:cNvSpPr txBox="1"/>
          <p:nvPr/>
        </p:nvSpPr>
        <p:spPr>
          <a:xfrm rot="0" flipH="0" flipV="0">
            <a:off x="914400" y="2381250"/>
            <a:ext cx="30194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E3A32"/>
                </a:solidFill>
                <a:latin typeface="Microsoft YaHei"/>
                <a:ea typeface="Microsoft YaHei"/>
              </a:rPr>
              <a:t>动作一：填好身份</a:t>
            </a:r>
            <a:endParaRPr/>
          </a:p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914400" y="2800350"/>
            <a:ext cx="3019425" cy="2781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打开首页，从下拉列表里选你所在的团队，填上固定的名字，点确认进入。团队名单是公司统一配的，列表里没有就找管理员加，千万别随便选一个凑合——你问过的每一句都会记到这个团队名下，选错了统计数据就全乱了。填完之后顺手确认一下名字显示对不对。</a:t>
            </a:r>
            <a:endParaRPr/>
          </a:p>
        </p:txBody>
      </p:sp>
      <p:sp>
        <p:nvSpPr>
          <p:cNvPr id="782" name=""/>
          <p:cNvSpPr/>
          <p:nvPr/>
        </p:nvSpPr>
        <p:spPr>
          <a:xfrm rot="0" flipH="0" flipV="0">
            <a:off x="914400" y="5581650"/>
            <a:ext cx="3019425" cy="476250"/>
          </a:xfrm>
          <a:prstGeom prst="roundRect">
            <a:avLst>
              <a:gd name="adj" fmla="val 24000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1047750" y="5715000"/>
            <a:ext cx="2752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9742B"/>
                </a:solidFill>
                <a:latin typeface="Microsoft YaHei"/>
                <a:ea typeface="Microsoft YaHei"/>
              </a:rPr>
              <a:t>验收：能说清自己属于哪个团队</a:t>
            </a:r>
            <a:endParaRPr/>
          </a:p>
        </p:txBody>
      </p:sp>
      <p:sp>
        <p:nvSpPr>
          <p:cNvPr id="784" name=""/>
          <p:cNvSpPr/>
          <p:nvPr/>
        </p:nvSpPr>
        <p:spPr>
          <a:xfrm rot="0" flipH="0" flipV="0">
            <a:off x="4352925" y="1143000"/>
            <a:ext cx="3486150" cy="5143500"/>
          </a:xfrm>
          <a:prstGeom prst="roundRect">
            <a:avLst>
              <a:gd name="adj" fmla="val 382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78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581525" y="1371600"/>
            <a:ext cx="857250" cy="857250"/>
          </a:xfrm>
          <a:prstGeom prst="rect">
            <a:avLst/>
          </a:prstGeom>
          <a:ln/>
        </p:spPr>
      </p:pic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4581525" y="2381250"/>
            <a:ext cx="30289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E3A32"/>
                </a:solidFill>
                <a:latin typeface="Microsoft YaHei"/>
                <a:ea typeface="Microsoft YaHei"/>
              </a:rPr>
              <a:t>动作二：点一次快捷入口</a:t>
            </a:r>
            <a:endParaRPr/>
          </a:p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4581525" y="2800350"/>
            <a:ext cx="3028950" cy="2781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在首页找到「快捷功能」那四个按钮，挑一个和你今天工作最相关的点进去。想了解产品就点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产品资料查询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，想问用法就点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产品使用答疑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。进去之后先别急着关，看一眼输入框里有没有自动带出提示语——那是这一类问题的常用开头，照着改比从零想快得多。</a:t>
            </a:r>
            <a:endParaRPr/>
          </a:p>
        </p:txBody>
      </p:sp>
      <p:sp>
        <p:nvSpPr>
          <p:cNvPr id="788" name=""/>
          <p:cNvSpPr/>
          <p:nvPr/>
        </p:nvSpPr>
        <p:spPr>
          <a:xfrm rot="0" flipH="0" flipV="0">
            <a:off x="4581525" y="5581650"/>
            <a:ext cx="3028950" cy="476250"/>
          </a:xfrm>
          <a:prstGeom prst="roundRect">
            <a:avLst>
              <a:gd name="adj" fmla="val 24000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4714875" y="5715000"/>
            <a:ext cx="2762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9742B"/>
                </a:solidFill>
                <a:latin typeface="Microsoft YaHei"/>
                <a:ea typeface="Microsoft YaHei"/>
              </a:rPr>
              <a:t>验收：能说出四个入口各自的用处</a:t>
            </a:r>
            <a:endParaRPr/>
          </a:p>
        </p:txBody>
      </p:sp>
      <p:sp>
        <p:nvSpPr>
          <p:cNvPr id="790" name=""/>
          <p:cNvSpPr/>
          <p:nvPr/>
        </p:nvSpPr>
        <p:spPr>
          <a:xfrm rot="0" flipH="0" flipV="0">
            <a:off x="8029575" y="1143000"/>
            <a:ext cx="3476625" cy="502920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79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258175" y="1371600"/>
            <a:ext cx="857250" cy="857250"/>
          </a:xfrm>
          <a:prstGeom prst="rect">
            <a:avLst/>
          </a:prstGeom>
          <a:ln/>
        </p:spPr>
      </p:pic>
      <p:sp>
        <p:nvSpPr>
          <p:cNvPr id="792" name="" descr="{&quot;isTemplate&quot;:true,&quot;type&quot;:&quot;text&quot;}"/>
          <p:cNvSpPr txBox="1"/>
          <p:nvPr/>
        </p:nvSpPr>
        <p:spPr>
          <a:xfrm rot="0" flipH="0" flipV="0">
            <a:off x="8258175" y="2381250"/>
            <a:ext cx="30194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E3A32"/>
                </a:solidFill>
                <a:latin typeface="Microsoft YaHei"/>
                <a:ea typeface="Microsoft YaHei"/>
              </a:rPr>
              <a:t>动作三：发出第一句话</a:t>
            </a:r>
            <a:endParaRPr/>
          </a:p>
        </p:txBody>
      </p:sp>
      <p:sp>
        <p:nvSpPr>
          <p:cNvPr id="793" name="" descr="{&quot;isTemplate&quot;:true,&quot;type&quot;:&quot;text&quot;}"/>
          <p:cNvSpPr txBox="1"/>
          <p:nvPr/>
        </p:nvSpPr>
        <p:spPr>
          <a:xfrm rot="0" flipH="0" flipV="0">
            <a:off x="8258175" y="2800350"/>
            <a:ext cx="3019425" cy="2438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在输入框里打一句最简单的话，比如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这个产品适合什么人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，然后发送。别追求一次问对，这次的目标只是观察：回答长什么样、分了几段、下面有没有冒出相关案例卡片。把这一句真正发出去，第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 1 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期就算过关了——剩下的都是熟练度问题。</a:t>
            </a:r>
            <a:endParaRPr/>
          </a:p>
        </p:txBody>
      </p:sp>
      <p:sp>
        <p:nvSpPr>
          <p:cNvPr id="794" name=""/>
          <p:cNvSpPr/>
          <p:nvPr/>
        </p:nvSpPr>
        <p:spPr>
          <a:xfrm rot="0" flipH="0" flipV="0">
            <a:off x="8258175" y="5467350"/>
            <a:ext cx="3019425" cy="476250"/>
          </a:xfrm>
          <a:prstGeom prst="roundRect">
            <a:avLst>
              <a:gd name="adj" fmla="val 24000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8391525" y="5600700"/>
            <a:ext cx="2752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9742B"/>
                </a:solidFill>
                <a:latin typeface="Microsoft YaHei"/>
                <a:ea typeface="Microsoft YaHei"/>
              </a:rPr>
              <a:t>验收：聊天区出现了一条完整回答</a:t>
            </a:r>
            <a:endParaRPr/>
          </a:p>
        </p:txBody>
      </p:sp>
      <p:pic>
        <p:nvPicPr>
          <p:cNvPr id="79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797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五期上手课</a:t>
            </a:r>
            <a:endParaRPr/>
          </a:p>
        </p:txBody>
      </p:sp>
      <p:sp>
        <p:nvSpPr>
          <p:cNvPr id="798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08 / 33</a:t>
            </a:r>
            <a:endParaRPr/>
          </a:p>
        </p:txBody>
      </p:sp>
    </p:spTree>
  </p:cSld>
</p:sld>
</file>

<file path=ppt/slides/slide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799" name="" descr="&lt;Slide style={{ background: '#F7FAF6', padding: 0 }}&gt;&#10;    &lt;Box style={{ flexDirection: 'row', width: '100%', height: '100%' }}&gt;&#10;        &lt;Box style={{&#10;            width: 742, height: '100%',&#10;            background: 'linear-gradient(135deg, #1F7A5C 0%, #2E9B77 100%)',&#10;            paddingLeft: 72, paddingRight: 48, justifyContent: 'center',&#10;        }}&gt;&#10;            &lt;Text style={{ fontSize: 120, fontWeight: 'bold', color: '#FFFFFF', opacity: 0.28, lineHeight: 1 }}&gt;02&lt;/Text&gt;&#10;            &lt;Text style={{ fontSize: 68, fontWeight: 'bold', color: '#FFFFFF', lineHeight: 1.15, marginTop: 12 }}&gt;&#10;                会提问才会用&#10;            &lt;/Text&gt;&#10;            &lt;Box style={{ width: 96, height: 5, borderRadius: 3, background: '#E08A3C', marginTop: 26 }} /&gt;&#10;            &lt;Text style={{ fontSize: 26, color: '#FFFFFF', opacity: 0.88, lineHeight: 1.55, marginTop: 24 }}&gt;&#10;                智能问答的五步与三个技巧&lt;br /&gt;大多数人不是不会用，是不知道怎么问&#10;            &lt;/Text&gt;&#10;        &lt;/Box&gt;&#10;&#10;        &lt;Box style={{ flex: 1, height: '100%', background: '#F7FAF6' }}&gt;&#10;            &lt;svg width=&quot;538&quot; height=&quot;720&quot; viewBox=&quot;0 0 538 720&quot;&gt;&#10;                &lt;circle cx=&quot;268&quot; cy=&quot;300&quot; r=&quot;300&quot; fill=&quot;none&quot; stroke=&quot;#A8D5BA&quot; strokeWidth=&quot;3&quot; opacity=&quot;0.28&quot; /&gt;&#10;                &lt;circle cx=&quot;268&quot; cy=&quot;300&quot; r=&quot;240&quot; fill=&quot;none&quot; stroke=&quot;#A8D5BA&quot; strokeWidth=&quot;3&quot; opacity=&quot;0.4&quot; /&gt;&#10;                &lt;circle cx=&quot;268&quot; cy=&quot;300&quot; r=&quot;180&quot; fill=&quot;none&quot; stroke=&quot;#A8D5BA&quot; strokeWidth=&quot;4&quot; opacity=&quot;0.55&quot; /&gt;&#10;                &lt;circle cx=&quot;268&quot; cy=&quot;300&quot; r=&quot;120&quot; fill=&quot;none&quot; stroke=&quot;#1F7A5C&quot; strokeWidth=&quot;3&quot; opacity=&quot;0.28&quot; /&gt;&#10;&#10;                &lt;path d=&quot;M148 240 H388 A28 28 0 0 1 416 268 V332 A28 28 0 0 1 388 360 H268 L232 396 V360 H148 A28 28 0 0 1 120 332 V268 A28 28 0 0 1 148 240 Z&quot; fill=&quot;#1F7A5C&quot; /&gt;&#10;                &lt;circle cx=&quot;196&quot; cy=&quot;300&quot; r=&quot;13&quot; fill=&quot;#FFFFFF&quot; opacity=&quot;0.95&quot; /&gt;&#10;                &lt;circle cx=&quot;248&quot; cy=&quot;300&quot; r=&quot;13&quot; fill=&quot;#FFFFFF&quot; opacity=&quot;0.7&quot; /&gt;&#10;                &lt;circle cx=&quot;300&quot; cy=&quot;300&quot; r=&quot;13&quot; fill=&quot;#FFFFFF&quot; opacity=&quot;0.45&quot; /&gt;&#10;&#10;                &lt;circle cx=&quot;430&quot; cy=&quot;140&quot; r=&quot;34&quot; fill=&quot;#E08A3C&quot; opacity=&quot;0.85&quot; /&gt;&#10;                &lt;path d=&quot;M418 140 L428 150 L443 132&quot; stroke=&quot;#FFFFFF&quot; strokeWidth=&quot;5&quot; fill=&quot;none&quot; strokeLinecap=&quot;round&quot; /&gt;&#10;&#10;                &lt;path d=&quot;M0 620 Q150 566 300 620 T538 604 L538 720 L0 720 Z&quot; fill=&quot;#1F7A5C&quot; opacity=&quot;0.4&quot; /&gt;&#10;                &lt;path d=&quot;M0 668 Q160 636 320 668 T538 652 L538 720 L0 720 Z&quot; fill=&quot;#1F7A5C&quot; opacity=&quot;0.5&quot; /&gt;&#10;            &lt;/svg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801" name=""/>
          <p:cNvSpPr/>
          <p:nvPr/>
        </p:nvSpPr>
        <p:spPr>
          <a:xfrm rot="0" flipH="0" flipV="0">
            <a:off x="0" y="0"/>
            <a:ext cx="7067550" cy="6858000"/>
          </a:xfrm>
          <a:prstGeom prst="rect">
            <a:avLst/>
          </a:prstGeom>
          <a:gradFill>
            <a:gsLst>
              <a:gs pos="0">
                <a:srgbClr val="1F7A5C"/>
              </a:gs>
              <a:gs pos="100000">
                <a:srgbClr val="2E9B77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02" name="" descr="{&quot;isTemplate&quot;:true,&quot;type&quot;:&quot;text&quot;}"/>
          <p:cNvSpPr txBox="1"/>
          <p:nvPr/>
        </p:nvSpPr>
        <p:spPr>
          <a:xfrm rot="0" flipH="0" flipV="0">
            <a:off x="685800" y="3000375"/>
            <a:ext cx="5924550" cy="8953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5100" b="1">
                <a:solidFill>
                  <a:srgbClr val="FFFFFF"/>
                </a:solidFill>
                <a:latin typeface="Microsoft YaHei"/>
                <a:ea typeface="Microsoft YaHei"/>
              </a:rPr>
              <a:t>会提问才会用</a:t>
            </a:r>
            <a:endParaRPr/>
          </a:p>
        </p:txBody>
      </p:sp>
      <p:sp>
        <p:nvSpPr>
          <p:cNvPr id="803" name=""/>
          <p:cNvSpPr/>
          <p:nvPr/>
        </p:nvSpPr>
        <p:spPr>
          <a:xfrm rot="0" flipH="0" flipV="0">
            <a:off x="685800" y="4143375"/>
            <a:ext cx="914400" cy="47625"/>
          </a:xfrm>
          <a:prstGeom prst="roundRect">
            <a:avLst>
              <a:gd name="adj" fmla="val 60000"/>
            </a:avLst>
          </a:prstGeom>
          <a:solidFill>
            <a:srgbClr val="E08A3C"/>
          </a:solidFill>
          <a:ln/>
        </p:spPr>
        <p:txBody>
          <a:bodyPr/>
          <a:p/>
        </p:txBody>
      </p:sp>
      <p:sp>
        <p:nvSpPr>
          <p:cNvPr id="804" name=""/>
          <p:cNvSpPr/>
          <p:nvPr/>
        </p:nvSpPr>
        <p:spPr>
          <a:xfrm rot="0" flipH="0" flipV="0">
            <a:off x="7067550" y="0"/>
            <a:ext cx="512445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pic>
        <p:nvPicPr>
          <p:cNvPr id="8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067550" y="0"/>
            <a:ext cx="5124450" cy="6858000"/>
          </a:xfrm>
          <a:prstGeom prst="rect">
            <a:avLst/>
          </a:prstGeom>
          <a:ln/>
        </p:spPr>
      </p:pic>
      <p:sp>
        <p:nvSpPr>
          <p:cNvPr id="806" name="" descr="{&quot;isTemplate&quot;:true,&quot;type&quot;:&quot;text&quot;}"/>
          <p:cNvSpPr txBox="1"/>
          <p:nvPr/>
        </p:nvSpPr>
        <p:spPr>
          <a:xfrm rot="0" flipH="0" flipV="0">
            <a:off x="685800" y="1514475"/>
            <a:ext cx="5924550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807" name="" descr="{&quot;isTemplate&quot;:true,&quot;type&quot;:&quot;text&quot;}"/>
          <p:cNvSpPr txBox="1"/>
          <p:nvPr/>
        </p:nvSpPr>
        <p:spPr>
          <a:xfrm rot="0" flipH="0" flipV="0">
            <a:off x="685800" y="4419600"/>
            <a:ext cx="5924550" cy="9239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95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智能问答的五步与三个技巧</a:t>
            </a:r>
            <a:endParaRPr/>
          </a:p>
          <a:p>
            <a:pPr>
              <a:lnSpc>
                <a:spcPct val="155000"/>
              </a:lnSpc>
            </a:pPr>
            <a:r>
              <a:rPr lang="zh-CN" sz="195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大多数人不是不会用，是不知道怎么问</a:t>
            </a:r>
            <a:endParaRPr/>
          </a:p>
        </p:txBody>
      </p:sp>
    </p:spTree>
  </p:cSld>
</p:sld>
</file>

<file path=ppt/slides/slide10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3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一次完整问答的五步&lt;/Text&gt;&#10;        &lt;Box style={{ width: 56, height: 4, borderRadius: 2, background: '#1F7A5C', marginTop: 8 }} /&gt;&#10;    &lt;/Box&gt;&#10;&#10;    &lt;Box style={{ height: 528 }}&gt;&#10;        &lt;Box style={{ height: 300, background: '#FFFFFF', borderRadius: 14, padding: 16, boxShadow: '0 4px 20px rgba(30,58,50,0.08)' }}&gt;&#10;            &lt;svg width=&quot;1104&quot; height=&quot;268&quot; viewBox=&quot;0 0 1104 268&quot;&gt;&#10;                &lt;rect x=&quot;14&quot; y=&quot;72&quot; width=&quot;182&quot; height=&quot;92&quot; rx=&quot;16&quot; fill=&quot;#1F7A5C&quot; /&gt;&#10;                &lt;text x=&quot;105&quot; y=&quot;112&quot; textAnchor=&quot;middle&quot; fontSize=&quot;24&quot; fontWeight=&quot;bold&quot; fill=&quot;#FFFFFF&quot; fontFamily=&quot;PingFang SC&quot;&gt;1 输入问题&lt;/text&gt;&#10;                &lt;text x=&quot;105&quot; y=&quot;142&quot; textAnchor=&quot;middle&quot; fontSize=&quot;18&quot; fill=&quot;#FFFFFF&quot; opacity=&quot;0.85&quot; fontFamily=&quot;PingFang SC&quot;&gt;像聊天一样打一句话&lt;/text&gt;&#10;&#10;                &lt;path d=&quot;M204 118 L228 118&quot; stroke=&quot;#A8D5BA&quot; strokeWidth=&quot;4&quot; /&gt;&#10;                &lt;path d=&quot;M220 110 L232 118 L220 126 Z&quot; fill=&quot;#A8D5BA&quot; /&gt;&#10;&#10;                &lt;rect x=&quot;240&quot; y=&quot;72&quot; width=&quot;182&quot; height=&quot;92&quot; rx=&quot;16&quot; fill=&quot;rgba(168,213,186,0.5)&quot; /&gt;&#10;                &lt;text x=&quot;331&quot; y=&quot;112&quot; textAnchor=&quot;middle&quot; fontSize=&quot;24&quot; fontWeight=&quot;bold&quot; fill=&quot;#1E3A32&quot; fontFamily=&quot;PingFang SC&quot;&gt;2 等它说完&lt;/text&gt;&#10;                &lt;text x=&quot;331&quot; y=&quot;142&quot; textAnchor=&quot;middle&quot; fontSize=&quot;18&quot; fill=&quot;#1E3A32&quot; opacity=&quot;0.75&quot; fontFamily=&quot;PingFang SC&quot;&gt;文字是一段段出来的&lt;/text&gt;&#10;&#10;                &lt;path d=&quot;M430 118 L454 118&quot; stroke=&quot;#A8D5BA&quot; strokeWidth=&quot;4&quot; /&gt;&#10;                &lt;path d=&quot;M446 110 L458 118 L446 126 Z&quot; fill=&quot;#A8D5BA&quot; /&gt;&#10;&#10;                &lt;rect x=&quot;466&quot; y=&quot;72&quot; width=&quot;182&quot; height=&quot;92&quot; rx=&quot;16&quot; fill=&quot;rgba(168,213,186,0.5)&quot; /&gt;&#10;                &lt;text x=&quot;557&quot; y=&quot;112&quot; textAnchor=&quot;middle&quot; fontSize=&quot;24&quot; fontWeight=&quot;bold&quot; fill=&quot;#1E3A32&quot; fontFamily=&quot;PingFang SC&quot;&gt;3 先看结论&lt;/text&gt;&#10;                &lt;text x=&quot;557&quot; y=&quot;142&quot; textAnchor=&quot;middle&quot; fontSize=&quot;18&quot; fill=&quot;#1E3A32&quot; opacity=&quot;0.75&quot; fontFamily=&quot;PingFang SC&quot;&gt;结论通常在最前面&lt;/text&gt;&#10;&#10;                &lt;path d=&quot;M656 118 L680 118&quot; stroke=&quot;#A8D5BA&quot; strokeWidth=&quot;4&quot; /&gt;&#10;                &lt;path d=&quot;M672 110 L684 118 L672 126 Z&quot; fill=&quot;#A8D5BA&quot; /&gt;&#10;&#10;                &lt;rect x=&quot;692&quot; y=&quot;72&quot; width=&quot;182&quot; height=&quot;92&quot; rx=&quot;16&quot; fill=&quot;#1F7A5C&quot; /&gt;&#10;                &lt;text x=&quot;783&quot; y=&quot;112&quot; textAnchor=&quot;middle&quot; fontSize=&quot;24&quot; fontWeight=&quot;bold&quot; fill=&quot;#FFFFFF&quot; fontFamily=&quot;PingFang SC&quot;&gt;4 看相关案例&lt;/text&gt;&#10;                &lt;text x=&quot;783&quot; y=&quot;142&quot; textAnchor=&quot;middle&quot; fontSize=&quot;18&quot; fill=&quot;#FFFFFF&quot; opacity=&quot;0.85&quot; fontFamily=&quot;PingFang SC&quot;&gt;回答下方自动推荐&lt;/text&gt;&#10;&#10;                &lt;path d=&quot;M882 118 L906 118&quot; stroke=&quot;#A8D5BA&quot; strokeWidth=&quot;4&quot; /&gt;&#10;                &lt;path d=&quot;M898 110 L910 118 L898 126 Z&quot; fill=&quot;#A8D5BA&quot; /&gt;&#10;&#10;                &lt;rect x=&quot;918&quot; y=&quot;72&quot; width=&quot;182&quot; height=&quot;92&quot; rx=&quot;16&quot; fill=&quot;#E08A3C&quot; /&gt;&#10;                &lt;text x=&quot;1009&quot; y=&quot;112&quot; textAnchor=&quot;middle&quot; fontSize=&quot;24&quot; fontWeight=&quot;bold&quot; fill=&quot;#FFFFFF&quot; fontFamily=&quot;PingFang SC&quot;&gt;5 继续追问&lt;/text&gt;&#10;                &lt;text x=&quot;1009&quot; y=&quot;142&quot; textAnchor=&quot;middle&quot; fontSize=&quot;18&quot; fill=&quot;#FFFFFF&quot; opacity=&quot;0.9&quot; fontFamily=&quot;PingFang SC&quot;&gt;没看懂就换个问法&lt;/text&gt;&#10;&#10;                &lt;text x=&quot;105&quot; y=&quot;212&quot; textAnchor=&quot;middle&quot; fontSize=&quot;17&quot; fill=&quot;#6B7C75&quot; fontFamily=&quot;PingFang SC&quot;&gt;别追求一次问对&lt;/text&gt;&#10;                &lt;text x=&quot;331&quot; y=&quot;212&quot; textAnchor=&quot;middle&quot; fontSize=&quot;17&quot; fill=&quot;#6B7C75&quot; fontFamily=&quot;PingFang SC&quot;&gt;中途别打断&lt;/text&gt;&#10;                &lt;text x=&quot;557&quot; y=&quot;212&quot; textAnchor=&quot;middle&quot; fontSize=&quot;17&quot; fill=&quot;#6B7C75&quot; fontFamily=&quot;PingFang SC&quot;&gt;先看结论再看细节&lt;/text&gt;&#10;                &lt;text x=&quot;783&quot; y=&quot;212&quot; textAnchor=&quot;middle&quot; fontSize=&quot;17&quot; fill=&quot;#6B7C75&quot; fontFamily=&quot;PingFang SC&quot;&gt;案例是答案的补充&lt;/text&gt;&#10;                &lt;text x=&quot;1009&quot; y=&quot;212&quot; textAnchor=&quot;middle&quot; fontSize=&quot;17&quot; fill=&quot;#6B7C75&quot; fontFamily=&quot;PingFang SC&quot;&gt;追问才是关键一步&lt;/text&gt;&#10;            &lt;/svg&gt;&#10;        &lt;/Box&gt;&#10;&#10;        &lt;Box style={{&#10;            height: 214, marginTop: 14, flexDirection: 'row', gap: 20,&#10;            background: 'rgba(31,122,92,0.08)', borderRadius: 14, padding: 24,&#10;        }}&gt;&#10;            &lt;Box style={{ flex: 1, gap: 14 }}&gt;&#10;                &lt;Box style={{ flexDirection: 'row', gap: 14, alignItems: 'flex-start' }}&gt;&#10;                    &lt;FAIcon name='exclamation-circle' style={{ fill: '#E08A3C', width: 26, height: 26 }} /&gt;&#10;                    &lt;Text style={{ fontSize: 20, color: '#1E3A32', lineHeight: 1.55, flex: 1 }}&gt;&#10;                        第 3 步和第 5 步最容易被跳过。很多人只看第一屏就走了，其实回答下方的相关案例，往往才是真正贴合你情况的那部分内容。&#10;                    &lt;/Text&gt;&#10;                &lt;/Box&gt;&#10;                &lt;Box style={{ flexDirection: 'row', gap: 14, alignItems: 'flex-start' }}&gt;&#10;                    &lt;FAIcon name='exclamation-circle' style={{ fill: '#E08A3C', width: 26, height: 26 }} /&gt;&#10;                    &lt;Text style={{ fontSize: 20, color: '#1E3A32', lineHeight: 1.55, flex: 1 }}&gt;&#10;                        回答是分段生成的，等它写完再提问；中途打断，你拿到的是半截答案，还得再问一遍。&#10;                    &lt;/Text&gt;&#10;                &lt;/Box&gt;&#10;            &lt;/Box&gt;&#10;&#10;            &lt;Box style={{&#10;                width: 330, background: '#FFFFFF', borderRadius: 14, padding: 18, justifyContent: 'center',&#10;            }}&gt;&#10;                &lt;Text style={{ fontSize: 22, fontWeight: 'bold', color: '#1F7A5C', lineHeight: 1.5 }}&gt;&#10;                    五步走完，一次问答才算真的完成&#10;                &lt;/Text&gt;&#10;                &lt;Text style={{ fontSize: 19, color: '#6B7C75', lineHeight: 1.55, marginTop: 12 }}&gt;&#10;                    只看回答不追问、不看案例，等于只用了这套系统一半的能力。&#10;                &lt;/Text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五期上手课&lt;/Text&gt;&#10;        &lt;/Box&gt;&#10;        &lt;Text style={{ fontSize: 14, color: '#6B7C75' }}&gt;10 / 3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一次完整问答的五步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685800" y="1143000"/>
            <a:ext cx="108204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38200" y="1295400"/>
            <a:ext cx="10515600" cy="2552700"/>
          </a:xfrm>
          <a:prstGeom prst="rect">
            <a:avLst/>
          </a:prstGeom>
          <a:ln/>
        </p:spPr>
      </p:pic>
      <p:sp>
        <p:nvSpPr>
          <p:cNvPr id="19" name=""/>
          <p:cNvSpPr/>
          <p:nvPr/>
        </p:nvSpPr>
        <p:spPr>
          <a:xfrm rot="0" flipH="0" flipV="0">
            <a:off x="685800" y="4133850"/>
            <a:ext cx="10820400" cy="2038350"/>
          </a:xfrm>
          <a:prstGeom prst="roundRect">
            <a:avLst>
              <a:gd name="adj" fmla="val 6542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pic>
        <p:nvPicPr>
          <p:cNvPr id="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14400" y="4362450"/>
            <a:ext cx="247650" cy="247650"/>
          </a:xfrm>
          <a:prstGeom prst="rect">
            <a:avLst/>
          </a:prstGeom>
          <a:ln/>
        </p:spPr>
      </p:pic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295400" y="4362450"/>
            <a:ext cx="66484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第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 3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步和第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 5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步最容易被跳过。很多人只看第一屏就走了，其实回答下方的相关案例，往往才是真正贴合你情况的那部分内容。</a:t>
            </a:r>
            <a:endParaRPr/>
          </a:p>
        </p:txBody>
      </p:sp>
      <p:pic>
        <p:nvPicPr>
          <p:cNvPr id="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14400" y="5210175"/>
            <a:ext cx="247650" cy="247650"/>
          </a:xfrm>
          <a:prstGeom prst="rect">
            <a:avLst/>
          </a:prstGeom>
          <a:ln/>
        </p:spPr>
      </p:pic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295400" y="5210175"/>
            <a:ext cx="66484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回答是分段生成的，等它写完再提问；中途打断，你拿到的是半截答案，还得再问一遍。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8134350" y="4362450"/>
            <a:ext cx="3143250" cy="1895475"/>
          </a:xfrm>
          <a:prstGeom prst="roundRect">
            <a:avLst>
              <a:gd name="adj" fmla="val 703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8305800" y="4533900"/>
            <a:ext cx="280035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1F7A5C"/>
                </a:solidFill>
                <a:latin typeface="Microsoft YaHei"/>
                <a:ea typeface="Microsoft YaHei"/>
              </a:rPr>
              <a:t>五步走完，一次问答才算真的完成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8305800" y="5410200"/>
            <a:ext cx="280035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只看回答不追问、不看案例，等于只用了这套系统一半的能力。</a:t>
            </a:r>
            <a:endParaRPr/>
          </a:p>
        </p:txBody>
      </p:sp>
      <p:pic>
        <p:nvPicPr>
          <p:cNvPr id="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五期上手课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10 / 33</a:t>
            </a:r>
            <a:endParaRPr/>
          </a:p>
        </p:txBody>
      </p:sp>
    </p:spTree>
  </p:cSld>
</p:sld>
</file>

<file path=ppt/slides/slide1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0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四类咨询怎么选&lt;/Text&gt;&#10;        &lt;Box style={{ width: 56, height: 4, borderRadius: 2, background: '#1F7A5C', marginTop: 8 }} /&gt;&#10;    &lt;/Box&gt;&#10;&#10;    &lt;Box style={{ height: 528, flexDirection: 'row', gap: 28 }}&gt;&#10;        &lt;Box style={{ width: 310 }}&gt;&#10;            &lt;Text style={{ fontSize: 26, fontWeight: 'bold', color: '#1F7A5C', lineHeight: 1.45 }}&gt;&#10;                选错类型不会报错，&lt;br /&gt;但答案会偏&#10;            &lt;/Text&gt;&#10;            &lt;Text style={{ fontSize: 20, color: '#6B7C75', lineHeight: 1.6, marginTop: 20 }}&gt;&#10;                问&quot;这个产品是什么&quot;和问&quot;这个产品怎么吃&quot;，走的是两套不同的回答逻辑。选对了，第一轮就能拿到能用的答案；选错了，要多绕两三轮才能问到点上。&#10;            &lt;/Text&gt;&#10;            &lt;Box style={{&#10;                marginTop: 24, background: 'rgba(31,122,92,0.08)', borderRadius: 14, padding: 16,&#10;            }}&gt;&#10;                &lt;Text style={{ fontSize: 19, color: '#1E3A32', lineHeight: 1.55 }}&gt;&#10;                    不确定选哪个时，直接把问题打在输入框里，系统会按内容自己判断。&#10;                &lt;/Text&gt;&#10;            &lt;/Box&gt;&#10;        &lt;/Box&gt;&#10;&#10;        &lt;Box style={{ flex: 1, gap: 12 }}&gt;&#10;            &lt;Box style={{&#10;                flexDirection: 'row', gap: 18, background: '#FFFFFF', borderRadius: 14,&#10;                padding: 18, height: 120, boxShadow: '0 4px 20px rgba(30,58,50,0.08)',&#10;            }}&gt;&#10;                &lt;Box style={{ width: 8, borderRadius: 4, background: '#1F7A5C' }} /&gt;&#10;                &lt;Box style={{ flex: 1, justifyContent: 'center' }}&gt;&#10;                    &lt;Text style={{ fontSize: 25, fontWeight: 'bold', color: '#1E3A32' }}&gt;产品资料查询 · 问&quot;是什么&quot;&lt;/Text&gt;&#10;                    &lt;Text style={{ fontSize: 19, color: '#6B7C75', lineHeight: 1.5, marginTop: 6 }}&gt;&#10;                        想摸清底子：成分、特点、适合人群、和其他产品的区别&#10;                    &lt;/Text&gt;&#10;                    &lt;Text style={{ fontSize: 19, color: '#1F7A5C', lineHeight: 1.5, marginTop: 4 }}&gt;&#10;                        例：这个产品主要适合什么人？和另外一款有什么区别？&#10;                    &lt;/Text&gt;&#10;                &lt;/Box&gt;&#10;            &lt;/Box&gt;&#10;&#10;            &lt;Box style={{&#10;                flexDirection: 'row', gap: 18, background: '#FFFFFF', borderRadius: 14,&#10;                padding: 18, height: 120, boxShadow: '0 4px 20px rgba(30,58,50,0.08)',&#10;            }}&gt;&#10;                &lt;Box style={{ width: 8, borderRadius: 4, background: '#1F7A5C' }} /&gt;&#10;                &lt;Box style={{ flex: 1, justifyContent: 'center' }}&gt;&#10;                    &lt;Text style={{ fontSize: 25, fontWeight: 'bold', color: '#1E3A32' }}&gt;产品使用答疑 · 问&quot;怎么用&quot;&lt;/Text&gt;&#10;                    &lt;Text style={{ fontSize: 19, color: '#6B7C75', lineHeight: 1.5, marginTop: 6 }}&gt;&#10;                        想落地执行：时间、剂量、搭配、注意事项、特殊情况&#10;                    &lt;/Text&gt;&#10;                    &lt;Text style={{ fontSize: 19, color: '#1F7A5C', lineHeight: 1.5, marginTop: 4 }}&gt;&#10;                        例：每天什么时候吃？空腹可以吗？忘了吃要不要补？&#10;                    &lt;/Text&gt;&#10;                &lt;/Box&gt;&#10;            &lt;/Box&gt;&#10;&#10;            &lt;Box style={{&#10;                flexDirection: 'row', gap: 18, background: '#FFFFFF', borderRadius: 14,&#10;                padding: 18, height: 120, boxShadow: '0 4px 20px rgba(30,58,50,0.08)',&#10;            }}&gt;&#10;                &lt;Box style={{ width: 8, borderRadius: 4, background: '#1F7A5C' }} /&gt;&#10;                &lt;Box style={{ flex: 1, justifyContent: 'center' }}&gt;&#10;                    &lt;Text style={{ fontSize: 25, fontWeight: 'bold', color: '#1E3A32' }}&gt;朋友圈帮写 · 问&quot;帮我写&quot;&lt;/Text&gt;&#10;                    &lt;Text style={{ fontSize: 19, color: '#6B7C75', lineHeight: 1.5, marginTop: 6 }}&gt;&#10;                        要一段能直接发出去的文字，重点在语气和长度&#10;                    &lt;/Text&gt;&#10;                    &lt;Text style={{ fontSize: 19, color: '#1F7A5C', lineHeight: 1.5, marginTop: 4 }}&gt;&#10;                        例：帮我写一条介绍这个产品的朋友圈，语气轻松一点，别太硬&#10;                    &lt;/Text&gt;&#10;                &lt;/Box&gt;&#10;            &lt;/Box&gt;&#10;&#10;            &lt;Box style={{&#10;                flexDirection: 'row', gap: 18, background: 'rgba(224,138,60,0.14)', borderRadius: 14,&#10;                padding: 18, height: 120,&#10;            }}&gt;&#10;                &lt;Box style={{ width: 8, borderRadius: 4, background: '#E08A3C' }} /&gt;&#10;                &lt;Box style={{ flex: 1, justifyContent: 'center' }}&gt;&#10;                    &lt;Text style={{ fontSize: 25, fontWeight: 'bold', color: '#1E3A32' }}&gt;口播文案帮写 · 问&quot;帮我说&quot;&lt;/Text&gt;&#10;                    &lt;Text style={{ fontSize: 19, color: '#6B7C75', lineHeight: 1.5, marginTop: 6 }}&gt;&#10;                        要一份能照着念的稿子，重点在口语化和节奏&#10;                    &lt;/Text&gt;&#10;                    &lt;Text style={{ fontSize: 19, color: '#C9742B', lineHeight: 1.5, marginTop: 4 }}&gt;&#10;                        例：把这几个卖点整理成一分钟的口播稿，开头要抓人&#10;                    &lt;/Text&gt;&#10;                &lt;/Box&gt;&#10;            &lt;/Box&gt;&#10;&#10;            &lt;Box style={{ height: 36, justifyContent: 'center' }}&gt;&#10;                &lt;Text style={{ fontSize: 19, color: '#6B7C75' }}&gt;&#10;                    四类入口只是帮你开个好头，进去之后照样可以随便改问题&#10;                &lt;/Text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五期上手课&lt;/Text&gt;&#10;        &lt;/Box&gt;&#10;        &lt;Text style={{ fontSize: 14, color: '#6B7C75' }}&gt;11 / 3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四类咨询怎么选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952750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选错类型不会报错，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但答案会偏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85800" y="2200275"/>
            <a:ext cx="2952750" cy="1828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问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这个产品是什么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和问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这个产品怎么吃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，走的是两套不同的回答逻辑。选对了，第一轮就能拿到能用的答案；选错了，要多绕两三轮才能问到点上。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685800" y="4257675"/>
            <a:ext cx="2952750" cy="1323975"/>
          </a:xfrm>
          <a:prstGeom prst="roundRect">
            <a:avLst>
              <a:gd name="adj" fmla="val 10072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838200" y="4410075"/>
            <a:ext cx="2647950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不确定选哪个时，直接把问题打在输入框里，系统会按内容自己判断。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3905250" y="1143000"/>
            <a:ext cx="760095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4076700" y="1314450"/>
            <a:ext cx="76200" cy="800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4324350" y="1314450"/>
            <a:ext cx="70104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产品资料查询</a:t>
            </a:r>
            <a:r>
              <a:rPr lang="en-US" sz="1875" b="1">
                <a:solidFill>
                  <a:srgbClr val="1E3A32"/>
                </a:solidFill>
                <a:latin typeface="Microsoft YaHei"/>
                <a:ea typeface="Microsoft YaHei"/>
              </a:rPr>
              <a:t> · </a:t>
            </a: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问</a:t>
            </a:r>
            <a:r>
              <a:rPr lang="en-US" sz="1875" b="1">
                <a:solidFill>
                  <a:srgbClr val="1E3A32"/>
                </a:solidFill>
                <a:latin typeface="Microsoft YaHei"/>
                <a:ea typeface="Microsoft YaHei"/>
              </a:rPr>
              <a:t>"</a:t>
            </a: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是什么</a:t>
            </a:r>
            <a:r>
              <a:rPr lang="en-US" sz="1875" b="1">
                <a:solidFill>
                  <a:srgbClr val="1E3A32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4324350" y="1657350"/>
            <a:ext cx="70104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想摸清底子：成分、特点、适合人群、和其他产品的区别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4324350" y="2028825"/>
            <a:ext cx="70104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F7A5C"/>
                </a:solidFill>
                <a:latin typeface="Microsoft YaHei"/>
                <a:ea typeface="Microsoft YaHei"/>
              </a:rPr>
              <a:t>例：这个产品主要适合什么人？和另外一款有什么区别？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3905250" y="2400300"/>
            <a:ext cx="760095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4076700" y="2571750"/>
            <a:ext cx="76200" cy="800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4324350" y="2571750"/>
            <a:ext cx="70104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产品使用答疑</a:t>
            </a:r>
            <a:r>
              <a:rPr lang="en-US" sz="1875" b="1">
                <a:solidFill>
                  <a:srgbClr val="1E3A32"/>
                </a:solidFill>
                <a:latin typeface="Microsoft YaHei"/>
                <a:ea typeface="Microsoft YaHei"/>
              </a:rPr>
              <a:t> · </a:t>
            </a: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问</a:t>
            </a:r>
            <a:r>
              <a:rPr lang="en-US" sz="1875" b="1">
                <a:solidFill>
                  <a:srgbClr val="1E3A32"/>
                </a:solidFill>
                <a:latin typeface="Microsoft YaHei"/>
                <a:ea typeface="Microsoft YaHei"/>
              </a:rPr>
              <a:t>"</a:t>
            </a: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怎么用</a:t>
            </a:r>
            <a:r>
              <a:rPr lang="en-US" sz="1875" b="1">
                <a:solidFill>
                  <a:srgbClr val="1E3A32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4324350" y="2914650"/>
            <a:ext cx="70104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想落地执行：时间、剂量、搭配、注意事项、特殊情况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4324350" y="3286125"/>
            <a:ext cx="70104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F7A5C"/>
                </a:solidFill>
                <a:latin typeface="Microsoft YaHei"/>
                <a:ea typeface="Microsoft YaHei"/>
              </a:rPr>
              <a:t>例：每天什么时候吃？空腹可以吗？忘了吃要不要补？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3905250" y="3657600"/>
            <a:ext cx="760095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9" name=""/>
          <p:cNvSpPr/>
          <p:nvPr/>
        </p:nvSpPr>
        <p:spPr>
          <a:xfrm rot="0" flipH="0" flipV="0">
            <a:off x="4076700" y="3829050"/>
            <a:ext cx="76200" cy="800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4324350" y="3829050"/>
            <a:ext cx="70104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朋友圈帮写</a:t>
            </a:r>
            <a:r>
              <a:rPr lang="en-US" sz="1875" b="1">
                <a:solidFill>
                  <a:srgbClr val="1E3A32"/>
                </a:solidFill>
                <a:latin typeface="Microsoft YaHei"/>
                <a:ea typeface="Microsoft YaHei"/>
              </a:rPr>
              <a:t> · </a:t>
            </a: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问</a:t>
            </a:r>
            <a:r>
              <a:rPr lang="en-US" sz="1875" b="1">
                <a:solidFill>
                  <a:srgbClr val="1E3A32"/>
                </a:solidFill>
                <a:latin typeface="Microsoft YaHei"/>
                <a:ea typeface="Microsoft YaHei"/>
              </a:rPr>
              <a:t>"</a:t>
            </a: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帮我写</a:t>
            </a:r>
            <a:r>
              <a:rPr lang="en-US" sz="1875" b="1">
                <a:solidFill>
                  <a:srgbClr val="1E3A32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4324350" y="4171950"/>
            <a:ext cx="70104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要一段能直接发出去的文字，重点在语气和长度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4324350" y="4543425"/>
            <a:ext cx="70104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F7A5C"/>
                </a:solidFill>
                <a:latin typeface="Microsoft YaHei"/>
                <a:ea typeface="Microsoft YaHei"/>
              </a:rPr>
              <a:t>例：帮我写一条介绍这个产品的朋友圈，语气轻松一点，别太硬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3905250" y="4914900"/>
            <a:ext cx="7600950" cy="1143000"/>
          </a:xfrm>
          <a:prstGeom prst="roundRect">
            <a:avLst>
              <a:gd name="adj" fmla="val 11667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54" name=""/>
          <p:cNvSpPr/>
          <p:nvPr/>
        </p:nvSpPr>
        <p:spPr>
          <a:xfrm rot="0" flipH="0" flipV="0">
            <a:off x="4076700" y="5086350"/>
            <a:ext cx="76200" cy="800100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324350" y="5086350"/>
            <a:ext cx="70104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口播文案帮写</a:t>
            </a:r>
            <a:r>
              <a:rPr lang="en-US" sz="1875" b="1">
                <a:solidFill>
                  <a:srgbClr val="1E3A32"/>
                </a:solidFill>
                <a:latin typeface="Microsoft YaHei"/>
                <a:ea typeface="Microsoft YaHei"/>
              </a:rPr>
              <a:t> · </a:t>
            </a: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问</a:t>
            </a:r>
            <a:r>
              <a:rPr lang="en-US" sz="1875" b="1">
                <a:solidFill>
                  <a:srgbClr val="1E3A32"/>
                </a:solidFill>
                <a:latin typeface="Microsoft YaHei"/>
                <a:ea typeface="Microsoft YaHei"/>
              </a:rPr>
              <a:t>"</a:t>
            </a: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帮我说</a:t>
            </a:r>
            <a:r>
              <a:rPr lang="en-US" sz="1875" b="1">
                <a:solidFill>
                  <a:srgbClr val="1E3A32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4324350" y="5429250"/>
            <a:ext cx="70104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要一份能照着念的稿子，重点在口语化和节奏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4324350" y="5800725"/>
            <a:ext cx="70104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C9742B"/>
                </a:solidFill>
                <a:latin typeface="Microsoft YaHei"/>
                <a:ea typeface="Microsoft YaHei"/>
              </a:rPr>
              <a:t>例：把这几个卖点整理成一分钟的口播稿，开头要抓人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3905250" y="6238875"/>
            <a:ext cx="7600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四类入口只是帮你开个好头，进去之后照样可以随便改问题</a:t>
            </a:r>
            <a:endParaRPr/>
          </a:p>
        </p:txBody>
      </p:sp>
      <p:pic>
        <p:nvPicPr>
          <p:cNvPr id="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五期上手课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1106150" y="62865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11 / 33</a:t>
            </a:r>
            <a:endParaRPr/>
          </a:p>
        </p:txBody>
      </p:sp>
    </p:spTree>
  </p:cSld>
</p:sld>
</file>

<file path=ppt/slides/slide1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62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提问三技巧&lt;/Text&gt;&#10;        &lt;Box style={{ width: 56, height: 4, borderRadius: 2, background: '#1F7A5C', marginTop: 8 }} /&gt;&#10;    &lt;/Box&gt;&#10;&#10;    &lt;Box style={{ height: 528, flexDirection: 'row', gap: 28 }}&gt;&#10;        &lt;Box style={{ width: 320, justifyContent: 'center' }}&gt;&#10;            &lt;Text style={{ fontSize: 180, fontWeight: 'bold', color: '#E08A3C', lineHeight: 1, letterSpacing: -4 }}&gt;3&lt;/Text&gt;&#10;            &lt;Text style={{ fontSize: 30, fontWeight: 'bold', color: '#1E3A32', marginTop: 14 }}&gt;个技巧&lt;/Text&gt;&#10;            &lt;Box style={{ width: 72, height: 5, borderRadius: 3, background: '#1F7A5C', marginTop: 20 }} /&gt;&#10;            &lt;Text style={{ fontSize: 21, color: '#1E3A32', lineHeight: 1.6, marginTop: 20 }}&gt;&#10;                会追问的人，&lt;br /&gt;往往用得最好&#10;            &lt;/Text&gt;&#10;        &lt;/Box&gt;&#10;&#10;        &lt;Box style={{ flex: 1, gap: 16 }}&gt;&#10;            &lt;Box style={{&#10;                flexDirection: 'row', gap: 18, background: '#FFFFFF', borderRadius: 14,&#10;                padding: 20, height: 165, boxShadow: '0 4px 20px rgba(30,58,50,0.08)',&#10;            }}&gt;&#10;                &lt;Box style={{ width: 52, height: 52, borderRadius: 26, background: '#1F7A5C', justifyContent: 'center', alignItems: 'center' }}&gt;&#10;                    &lt;Text style={{ fontSize: 26, fontWeight: 'bold', color: '#FFFFFF' }}&gt;1&lt;/Text&gt;&#10;                &lt;/Box&gt;&#10;                &lt;Box style={{ flex: 1 }}&gt;&#10;                    &lt;Text style={{ fontSize: 27, fontWeight: 'bold', color: '#1E3A32' }}&gt;先问最简单的那句&lt;/Text&gt;&#10;                    &lt;Text style={{ fontSize: 20, color: '#6B7C75', lineHeight: 1.55, marginTop: 8 }}&gt;&#10;                        一上来就想把问题问全，结果自己也乱了。先用最短的一句打开话题，看懂了再往深里问。&#10;                    &lt;/Text&gt;&#10;                    &lt;Box style={{ marginTop: 'auto', background: 'rgba(31,122,92,0.08)', borderRadius: 12, padding: 12 }}&gt;&#10;                        &lt;Text style={{ fontSize: 19, color: '#1F7A5C' }}&gt;「这个产品是做什么的？」&lt;/Text&gt;&#10;                    &lt;/Box&gt;&#10;                &lt;/Box&gt;&#10;            &lt;/Box&gt;&#10;&#10;            &lt;Box style={{&#10;                flexDirection: 'row', gap: 18, background: '#FFFFFF', borderRadius: 14,&#10;                padding: 20, height: 165, boxShadow: '0 4px 20px rgba(30,58,50,0.08)',&#10;            }}&gt;&#10;                &lt;Box style={{ width: 52, height: 52, borderRadius: 26, background: '#1F7A5C', justifyContent: 'center', alignItems: 'center' }}&gt;&#10;                    &lt;Text style={{ fontSize: 26, fontWeight: 'bold', color: '#FFFFFF' }}&gt;2&lt;/Text&gt;&#10;                &lt;/Box&gt;&#10;                &lt;Box style={{ flex: 1 }}&gt;&#10;                    &lt;Text style={{ fontSize: 27, fontWeight: 'bold', color: '#1E3A32' }}&gt;把自己的情况说出来&lt;/Text&gt;&#10;                    &lt;Text style={{ fontSize: 20, color: '#6B7C75', lineHeight: 1.55, marginTop: 8 }}&gt;&#10;                        多说一句自己的情况，回答就会更贴你。不用说得很专业，把真实状态说出来就行。&#10;                    &lt;/Text&gt;&#10;                    &lt;Box style={{ marginTop: 'auto', background: 'rgba(31,122,92,0.08)', borderRadius: 12, padding: 12 }}&gt;&#10;                        &lt;Text style={{ fontSize: 19, color: '#1F7A5C' }}&gt;「我肠胃比较敏感，这个适合我吗？」&lt;/Text&gt;&#10;                    &lt;/Box&gt;&#10;                &lt;/Box&gt;&#10;            &lt;/Box&gt;&#10;&#10;            &lt;Box style={{&#10;                flexDirection: 'row', gap: 18, background: 'rgba(224,138,60,0.14)', borderRadius: 14,&#10;                padding: 20, height: 165,&#10;            }}&gt;&#10;                &lt;Box style={{ width: 52, height: 52, borderRadius: 26, background: '#E08A3C', justifyContent: 'center', alignItems: 'center' }}&gt;&#10;                    &lt;Text style={{ fontSize: 26, fontWeight: 'bold', color: '#FFFFFF' }}&gt;3&lt;/Text&gt;&#10;                &lt;/Box&gt;&#10;                &lt;Box style={{ flex: 1 }}&gt;&#10;                    &lt;Text style={{ fontSize: 27, fontWeight: 'bold', color: '#1E3A32' }}&gt;没听懂，就换个问法&lt;/Text&gt;&#10;                    &lt;Text style={{ fontSize: 20, color: '#6B7C75', lineHeight: 1.55, marginTop: 8 }}&gt;&#10;                        一次没听懂太正常了，直接让它换种说法，不用觉得麻烦，也不用重新解释一遍背景。&#10;                    &lt;/Text&gt;&#10;                    &lt;Box style={{ marginTop: 'auto', background: '#FFFFFF', borderRadius: 12, padding: 12 }}&gt;&#10;                        &lt;Text style={{ fontSize: 19, color: '#C9742B' }}&gt;「请说得简单一点，分成三点告诉我」&lt;/Text&gt;&#10;                    &lt;/Box&gt;&#10;                &lt;/Box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五期上手课&lt;/Text&gt;&#10;        &lt;/Box&gt;&#10;        &lt;Text style={{ fontSize: 14, color: '#6B7C75' }}&gt;12 / 3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提问三技巧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85800" y="1790700"/>
            <a:ext cx="3048000" cy="2057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0" b="1" spc="-300">
                <a:solidFill>
                  <a:srgbClr val="E08A3C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85800" y="3981450"/>
            <a:ext cx="3048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3A32"/>
                </a:solidFill>
                <a:latin typeface="Microsoft YaHei"/>
                <a:ea typeface="Microsoft YaHei"/>
              </a:rPr>
              <a:t>个技巧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685800" y="4514850"/>
            <a:ext cx="685800" cy="47625"/>
          </a:xfrm>
          <a:prstGeom prst="roundRect">
            <a:avLst>
              <a:gd name="adj" fmla="val 6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685800" y="4752975"/>
            <a:ext cx="3048000" cy="7715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75">
                <a:solidFill>
                  <a:srgbClr val="1E3A32"/>
                </a:solidFill>
                <a:latin typeface="Microsoft YaHei"/>
                <a:ea typeface="Microsoft YaHei"/>
              </a:rPr>
              <a:t>会追问的人，</a:t>
            </a:r>
            <a:endParaRPr/>
          </a:p>
          <a:p>
            <a:pPr>
              <a:lnSpc>
                <a:spcPct val="160000"/>
              </a:lnSpc>
            </a:pPr>
            <a:r>
              <a:rPr lang="zh-CN" sz="1575">
                <a:solidFill>
                  <a:srgbClr val="1E3A32"/>
                </a:solidFill>
                <a:latin typeface="Microsoft YaHei"/>
                <a:ea typeface="Microsoft YaHei"/>
              </a:rPr>
              <a:t>往往用得最好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4000500" y="1143000"/>
            <a:ext cx="7505700" cy="1571625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1" name=""/>
          <p:cNvSpPr/>
          <p:nvPr/>
        </p:nvSpPr>
        <p:spPr>
          <a:xfrm rot="0" flipH="0" flipV="0">
            <a:off x="4191000" y="13335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4371975" y="1428750"/>
            <a:ext cx="1428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4857750" y="1333500"/>
            <a:ext cx="64579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E3A32"/>
                </a:solidFill>
                <a:latin typeface="Microsoft YaHei"/>
                <a:ea typeface="Microsoft YaHei"/>
              </a:rPr>
              <a:t>先问最简单的那句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4857750" y="1724025"/>
            <a:ext cx="64579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一上来就想把问题问全，结果自己也乱了。先用最短的一句打开话题，看懂了再往深里问。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4857750" y="2438400"/>
            <a:ext cx="6457950" cy="447675"/>
          </a:xfrm>
          <a:prstGeom prst="roundRect">
            <a:avLst>
              <a:gd name="adj" fmla="val 25532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4972050" y="2552700"/>
            <a:ext cx="6229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F7A5C"/>
                </a:solidFill>
                <a:latin typeface="Microsoft YaHei"/>
                <a:ea typeface="Microsoft YaHei"/>
              </a:rPr>
              <a:t>「这个产品是做什么的？」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4000500" y="2867025"/>
            <a:ext cx="7505700" cy="1571625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8" name=""/>
          <p:cNvSpPr/>
          <p:nvPr/>
        </p:nvSpPr>
        <p:spPr>
          <a:xfrm rot="0" flipH="0" flipV="0">
            <a:off x="4191000" y="3057525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4371975" y="3152775"/>
            <a:ext cx="1428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4857750" y="3057525"/>
            <a:ext cx="64579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E3A32"/>
                </a:solidFill>
                <a:latin typeface="Microsoft YaHei"/>
                <a:ea typeface="Microsoft YaHei"/>
              </a:rPr>
              <a:t>把自己的情况说出来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4857750" y="3448050"/>
            <a:ext cx="64579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多说一句自己的情况，回答就会更贴你。不用说得很专业，把真实状态说出来就行。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4857750" y="4162425"/>
            <a:ext cx="6457950" cy="447675"/>
          </a:xfrm>
          <a:prstGeom prst="roundRect">
            <a:avLst>
              <a:gd name="adj" fmla="val 25532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972050" y="4276725"/>
            <a:ext cx="6229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F7A5C"/>
                </a:solidFill>
                <a:latin typeface="Microsoft YaHei"/>
                <a:ea typeface="Microsoft YaHei"/>
              </a:rPr>
              <a:t>「我肠胃比较敏感，这个适合我吗？」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4000500" y="4591050"/>
            <a:ext cx="7505700" cy="1571625"/>
          </a:xfrm>
          <a:prstGeom prst="roundRect">
            <a:avLst>
              <a:gd name="adj" fmla="val 8485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4191000" y="478155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4371975" y="4876800"/>
            <a:ext cx="1428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4857750" y="4781550"/>
            <a:ext cx="64579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E3A32"/>
                </a:solidFill>
                <a:latin typeface="Microsoft YaHei"/>
                <a:ea typeface="Microsoft YaHei"/>
              </a:rPr>
              <a:t>没听懂，就换个问法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4857750" y="5172075"/>
            <a:ext cx="64579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一次没听懂太正常了，直接让它换种说法，不用觉得麻烦，也不用重新解释一遍背景。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4857750" y="5886450"/>
            <a:ext cx="6457950" cy="447675"/>
          </a:xfrm>
          <a:prstGeom prst="roundRect">
            <a:avLst>
              <a:gd name="adj" fmla="val 2553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4972050" y="6000750"/>
            <a:ext cx="6229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C9742B"/>
                </a:solidFill>
                <a:latin typeface="Microsoft YaHei"/>
                <a:ea typeface="Microsoft YaHei"/>
              </a:rPr>
              <a:t>「请说得简单一点，分成三点告诉我」</a:t>
            </a:r>
            <a:endParaRPr/>
          </a:p>
        </p:txBody>
      </p:sp>
      <p:pic>
        <p:nvPicPr>
          <p:cNvPr id="9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五期上手课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12 / 33</a:t>
            </a:r>
            <a:endParaRPr/>
          </a:p>
        </p:txBody>
      </p:sp>
    </p:spTree>
  </p:cSld>
</p:sld>
</file>

<file path=ppt/slides/slide1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94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不会问，就照着问&lt;/Text&gt;&#10;        &lt;Box style={{ width: 56, height: 4, borderRadius: 2, background: '#1F7A5C', marginTop: 8 }} /&gt;&#10;    &lt;/Box&gt;&#10;&#10;    &lt;Box style={{ height: 528, flexDirection: 'row', gap: 28 }}&gt;&#10;        &lt;Box style={{ width: 660, gap: 14 }}&gt;&#10;            &lt;Box style={{ height: 121, background: '#FFFFFF', borderRadius: 14, padding: 18, boxShadow: '0 4px 20px rgba(30,58,50,0.08)' }}&gt;&#10;                &lt;Text style={{ fontSize: 24, fontWeight: 'bold', color: '#1F7A5C' }}&gt;了解产品&lt;/Text&gt;&#10;                &lt;Box style={{ flexDirection: 'row', flexWrap: 'wrap', gap: 10, marginTop: 12 }}&gt;&#10;                    &lt;Box style={{ background: 'rgba(31,122,92,0.08)', borderRadius: 12, padding: 10 }}&gt;&#10;                        &lt;Text style={{ fontSize: 19, color: '#1E3A32' }}&gt;这个产品主要是做什么的？&lt;/Text&gt;&#10;                    &lt;/Box&gt;&#10;                    &lt;Box style={{ background: 'rgba(31,122,92,0.08)', borderRadius: 12, padding: 10 }}&gt;&#10;                        &lt;Text style={{ fontSize: 19, color: '#1E3A32' }}&gt;它适合什么人？&lt;/Text&gt;&#10;                    &lt;/Box&gt;&#10;                    &lt;Box style={{ background: 'rgba(31,122,92,0.08)', borderRadius: 12, padding: 10 }}&gt;&#10;                        &lt;Text style={{ fontSize: 19, color: '#1E3A32' }}&gt;和另一款比区别在哪？&lt;/Text&gt;&#10;                    &lt;/Box&gt;&#10;                &lt;/Box&gt;&#10;            &lt;/Box&gt;&#10;&#10;            &lt;Box style={{ height: 121, background: '#FFFFFF', borderRadius: 14, padding: 18, boxShadow: '0 4px 20px rgba(30,58,50,0.08)' }}&gt;&#10;                &lt;Text style={{ fontSize: 24, fontWeight: 'bold', color: '#1F7A5C' }}&gt;使用答疑&lt;/Text&gt;&#10;                &lt;Box style={{ flexDirection: 'row', flexWrap: 'wrap', gap: 10, marginTop: 12 }}&gt;&#10;                    &lt;Box style={{ background: 'rgba(31,122,92,0.08)', borderRadius: 12, padding: 10 }}&gt;&#10;                        &lt;Text style={{ fontSize: 19, color: '#1E3A32' }}&gt;这个产品怎么使用？&lt;/Text&gt;&#10;                    &lt;/Box&gt;&#10;                    &lt;Box style={{ background: 'rgba(31,122,92,0.08)', borderRadius: 12, padding: 10 }}&gt;&#10;                        &lt;Text style={{ fontSize: 19, color: '#1E3A32' }}&gt;使用时要注意什么？&lt;/Text&gt;&#10;                    &lt;/Box&gt;&#10;                    &lt;Box style={{ background: 'rgba(31,122,92,0.08)', borderRadius: 12, padding: 10 }}&gt;&#10;                        &lt;Text style={{ fontSize: 19, color: '#1E3A32' }}&gt;我这种情况重点注意什么？&lt;/Text&gt;&#10;                    &lt;/Box&gt;&#10;                &lt;/Box&gt;&#10;            &lt;/Box&gt;&#10;&#10;            &lt;Box style={{ height: 121, background: '#FFFFFF', borderRadius: 14, padding: 18, boxShadow: '0 4px 20px rgba(30,58,50,0.08)' }}&gt;&#10;                &lt;Text style={{ fontSize: 24, fontWeight: 'bold', color: '#1F7A5C' }}&gt;案例参考&lt;/Text&gt;&#10;                &lt;Box style={{ flexDirection: 'row', flexWrap: 'wrap', gap: 10, marginTop: 12 }}&gt;&#10;                    &lt;Box style={{ background: 'rgba(31,122,92,0.08)', borderRadius: 12, padding: 10 }}&gt;&#10;                        &lt;Text style={{ fontSize: 19, color: '#1E3A32' }}&gt;有没有和我情况差不多的案例？&lt;/Text&gt;&#10;                    &lt;/Box&gt;&#10;                    &lt;Box style={{ background: 'rgba(31,122,92,0.08)', borderRadius: 12, padding: 10 }}&gt;&#10;                        &lt;Text style={{ fontSize: 19, color: '#1E3A32' }}&gt;哪类案例更适合我参考？&lt;/Text&gt;&#10;                    &lt;/Box&gt;&#10;                    &lt;Box style={{ background: 'rgba(31,122,92,0.08)', borderRadius: 12, padding: 10 }}&gt;&#10;                        &lt;Text style={{ fontSize: 19, color: '#1E3A32' }}&gt;最值得参考的是哪一点？&lt;/Text&gt;&#10;                    &lt;/Box&gt;&#10;                &lt;/Box&gt;&#10;            &lt;/Box&gt;&#10;&#10;            &lt;Box style={{ height: 121, background: 'rgba(224,138,60,0.14)', borderRadius: 14, padding: 18 }}&gt;&#10;                &lt;Text style={{ fontSize: 24, fontWeight: 'bold', color: '#C9742B' }}&gt;继续追问&lt;/Text&gt;&#10;                &lt;Box style={{ flexDirection: 'row', flexWrap: 'wrap', gap: 10, marginTop: 12 }}&gt;&#10;                    &lt;Box style={{ background: '#FFFFFF', borderRadius: 12, padding: 10 }}&gt;&#10;                        &lt;Text style={{ fontSize: 19, color: '#1E3A32' }}&gt;请你说得简单一点&lt;/Text&gt;&#10;                    &lt;/Box&gt;&#10;                    &lt;Box style={{ background: '#FFFFFF', borderRadius: 12, padding: 10 }}&gt;&#10;                        &lt;Text style={{ fontSize: 19, color: '#1E3A32' }}&gt;请你分点告诉我&lt;/Text&gt;&#10;                    &lt;/Box&gt;&#10;                    &lt;Box style={{ background: '#FFFFFF', borderRadius: 12, padding: 10 }}&gt;&#10;                        &lt;Text style={{ fontSize: 19, color: '#1E3A32' }}&gt;你刚才的重点是什么？&lt;/Text&gt;&#10;                    &lt;/Box&gt;&#10;                &lt;/Box&gt;&#10;            &lt;/Box&gt;&#10;        &lt;/Box&gt;&#10;&#10;        &lt;Box style={{ flex: 1 }}&gt;&#10;            &lt;Text style={{ fontSize: 26, fontWeight: 'bold', color: '#1F7A5C', lineHeight: 1.45 }}&gt;&#10;                背不下来就照抄，&lt;br /&gt;抄几次就成自己的了&#10;            &lt;/Text&gt;&#10;            &lt;Text style={{ fontSize: 20, color: '#6B7C75', lineHeight: 1.6, marginTop: 20 }}&gt;&#10;                这四组模板覆盖了日常八成以上的场景。第一次照着打，第二次改两个词，第三次你会发现——自己写出来的问句，已经自然带上了必要的背景信息。&#10;            &lt;/Text&gt;&#10;            &lt;Text style={{ fontSize: 20, color: '#6B7C75', lineHeight: 1.6, marginTop: 16 }}&gt;&#10;                同一句模板换个产品名就能反复用，比如把&quot;这个产品&quot;换成具体名字，答案的准确度会立刻不一样。&#10;            &lt;/Text&gt;&#10;&#10;            &lt;Box style={{&#10;                marginTop: 'auto', background: '#FFFFFF', borderRadius: 14, padding: 18,&#10;                boxShadow: '0 4px 20px rgba(30,58,50,0.08)',&#10;            }}&gt;&#10;                &lt;Text style={{ fontSize: 21, fontWeight: 'bold', color: '#1E3A32', lineHeight: 1.5 }}&gt;&#10;                    把问题里的&quot;这个产品&quot;&lt;br /&gt;换成具体名字&#10;                &lt;/Text&gt;&#10;                &lt;Text style={{ fontSize: 19, color: '#6B7C75', lineHeight: 1.5, marginTop: 10 }}&gt;&#10;                    这是提升回答质量最快的一招，成本只有三个字。&#10;                &lt;/Text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五期上手课&lt;/Text&gt;&#10;        &lt;/Box&gt;&#10;        &lt;Text style={{ fontSize: 14, color: '#6B7C75' }}&gt;13 / 3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不会问，就照着问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685800" y="1143000"/>
            <a:ext cx="6286500" cy="1152525"/>
          </a:xfrm>
          <a:prstGeom prst="roundRect">
            <a:avLst>
              <a:gd name="adj" fmla="val 11570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57250" y="1314450"/>
            <a:ext cx="5943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F7A5C"/>
                </a:solidFill>
                <a:latin typeface="Microsoft YaHei"/>
                <a:ea typeface="Microsoft YaHei"/>
              </a:rPr>
              <a:t>了解产品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857250" y="1704975"/>
            <a:ext cx="2362200" cy="409575"/>
          </a:xfrm>
          <a:prstGeom prst="roundRect">
            <a:avLst>
              <a:gd name="adj" fmla="val 27907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952500" y="1800225"/>
            <a:ext cx="2171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这个产品主要是做什么的？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3314700" y="1704975"/>
            <a:ext cx="1457325" cy="409575"/>
          </a:xfrm>
          <a:prstGeom prst="roundRect">
            <a:avLst>
              <a:gd name="adj" fmla="val 27907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3409950" y="1800225"/>
            <a:ext cx="1266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它适合什么人？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857250" y="2209800"/>
            <a:ext cx="2000250" cy="409575"/>
          </a:xfrm>
          <a:prstGeom prst="roundRect">
            <a:avLst>
              <a:gd name="adj" fmla="val 27907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952500" y="2305050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和另一款比区别在哪？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685800" y="2428875"/>
            <a:ext cx="6286500" cy="1152525"/>
          </a:xfrm>
          <a:prstGeom prst="roundRect">
            <a:avLst>
              <a:gd name="adj" fmla="val 11570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857250" y="2600325"/>
            <a:ext cx="5943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F7A5C"/>
                </a:solidFill>
                <a:latin typeface="Microsoft YaHei"/>
                <a:ea typeface="Microsoft YaHei"/>
              </a:rPr>
              <a:t>使用答疑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857250" y="2990850"/>
            <a:ext cx="1819275" cy="409575"/>
          </a:xfrm>
          <a:prstGeom prst="roundRect">
            <a:avLst>
              <a:gd name="adj" fmla="val 27907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952500" y="3086100"/>
            <a:ext cx="1628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这个产品怎么使用？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2771775" y="2990850"/>
            <a:ext cx="1819275" cy="409575"/>
          </a:xfrm>
          <a:prstGeom prst="roundRect">
            <a:avLst>
              <a:gd name="adj" fmla="val 27907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2867025" y="3086100"/>
            <a:ext cx="1628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使用时要注意什么？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857250" y="3495675"/>
            <a:ext cx="2362200" cy="409575"/>
          </a:xfrm>
          <a:prstGeom prst="roundRect">
            <a:avLst>
              <a:gd name="adj" fmla="val 27907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952500" y="3590925"/>
            <a:ext cx="2171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我这种情况重点注意什么？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685800" y="3714750"/>
            <a:ext cx="6286500" cy="1152525"/>
          </a:xfrm>
          <a:prstGeom prst="roundRect">
            <a:avLst>
              <a:gd name="adj" fmla="val 11570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857250" y="3886200"/>
            <a:ext cx="5943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F7A5C"/>
                </a:solidFill>
                <a:latin typeface="Microsoft YaHei"/>
                <a:ea typeface="Microsoft YaHei"/>
              </a:rPr>
              <a:t>案例参考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857250" y="4276725"/>
            <a:ext cx="2724150" cy="409575"/>
          </a:xfrm>
          <a:prstGeom prst="roundRect">
            <a:avLst>
              <a:gd name="adj" fmla="val 27907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952500" y="4371975"/>
            <a:ext cx="2533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有没有和我情况差不多的案例？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3676650" y="4276725"/>
            <a:ext cx="2181225" cy="409575"/>
          </a:xfrm>
          <a:prstGeom prst="roundRect">
            <a:avLst>
              <a:gd name="adj" fmla="val 27907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3771900" y="4371975"/>
            <a:ext cx="1990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哪类案例更适合我参考？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857250" y="4781550"/>
            <a:ext cx="2181225" cy="409575"/>
          </a:xfrm>
          <a:prstGeom prst="roundRect">
            <a:avLst>
              <a:gd name="adj" fmla="val 27907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952500" y="4876800"/>
            <a:ext cx="1990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最值得参考的是哪一点？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685800" y="5000625"/>
            <a:ext cx="6286500" cy="1152525"/>
          </a:xfrm>
          <a:prstGeom prst="roundRect">
            <a:avLst>
              <a:gd name="adj" fmla="val 11570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857250" y="5172075"/>
            <a:ext cx="5943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C9742B"/>
                </a:solidFill>
                <a:latin typeface="Microsoft YaHei"/>
                <a:ea typeface="Microsoft YaHei"/>
              </a:rPr>
              <a:t>继续追问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857250" y="5562600"/>
            <a:ext cx="1638300" cy="409575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952500" y="5657850"/>
            <a:ext cx="1447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请你说得简单一点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2590800" y="5562600"/>
            <a:ext cx="1457325" cy="409575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2686050" y="5657850"/>
            <a:ext cx="1266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请你分点告诉我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4143375" y="5562600"/>
            <a:ext cx="2000250" cy="409575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4238625" y="5657850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你刚才的重点是什么？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7239000" y="1143000"/>
            <a:ext cx="4267200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背不下来就照抄，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抄几次就成自己的了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7239000" y="2200275"/>
            <a:ext cx="426720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这四组模板覆盖了日常八成以上的场景。第一次照着打，第二次改两个词，第三次你会发现——自己写出来的问句，已经自然带上了必要的背景信息。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7239000" y="3457575"/>
            <a:ext cx="42672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同一句模板换个产品名就能反复用，比如把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这个产品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换成具体名字，答案的准确度会立刻不一样。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7239000" y="4352925"/>
            <a:ext cx="4267200" cy="1819275"/>
          </a:xfrm>
          <a:prstGeom prst="roundRect">
            <a:avLst>
              <a:gd name="adj" fmla="val 7330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7410450" y="4524375"/>
            <a:ext cx="3924300" cy="723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1E3A32"/>
                </a:solidFill>
                <a:latin typeface="Microsoft YaHei"/>
                <a:ea typeface="Microsoft YaHei"/>
              </a:rPr>
              <a:t>把问题里的</a:t>
            </a:r>
            <a:r>
              <a:rPr lang="en-US" sz="1575" b="1">
                <a:solidFill>
                  <a:srgbClr val="1E3A32"/>
                </a:solidFill>
                <a:latin typeface="Microsoft YaHei"/>
                <a:ea typeface="Microsoft YaHei"/>
              </a:rPr>
              <a:t>"</a:t>
            </a:r>
            <a:r>
              <a:rPr lang="zh-CN" sz="1575" b="1">
                <a:solidFill>
                  <a:srgbClr val="1E3A32"/>
                </a:solidFill>
                <a:latin typeface="Microsoft YaHei"/>
                <a:ea typeface="Microsoft YaHei"/>
              </a:rPr>
              <a:t>这个产品</a:t>
            </a:r>
            <a:r>
              <a:rPr lang="en-US" sz="1575" b="1">
                <a:solidFill>
                  <a:srgbClr val="1E3A32"/>
                </a:solidFill>
                <a:latin typeface="Microsoft YaHei"/>
                <a:ea typeface="Microsoft YaHei"/>
              </a:rPr>
              <a:t>"</a:t>
            </a:r>
            <a:endParaRPr/>
          </a:p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1E3A32"/>
                </a:solidFill>
                <a:latin typeface="Microsoft YaHei"/>
                <a:ea typeface="Microsoft YaHei"/>
              </a:rPr>
              <a:t>换成具体名字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7410450" y="5343525"/>
            <a:ext cx="39243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这是提升回答质量最快的一招，成本只有三个字。</a:t>
            </a:r>
            <a:endParaRPr/>
          </a:p>
        </p:txBody>
      </p:sp>
      <p:pic>
        <p:nvPicPr>
          <p:cNvPr id="1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五期上手课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13 / 33</a:t>
            </a:r>
            <a:endParaRPr/>
          </a:p>
        </p:txBody>
      </p:sp>
    </p:spTree>
  </p:cSld>
</p:sld>
</file>

<file path=ppt/slides/slide1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39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回答之后还能做什么&lt;/Text&gt;&#10;        &lt;Box style={{ width: 56, height: 4, borderRadius: 2, background: '#1F7A5C', marginTop: 8 }} /&gt;&#10;    &lt;/Box&gt;&#10;&#10;    &lt;Box style={{ height: 528, flexDirection: 'row', gap: 28 }}&gt;&#10;        &lt;Box style={{ width: 640 }}&gt;&#10;            &lt;svg width=&quot;640&quot; height=&quot;528&quot; viewBox=&quot;0 0 640 528&quot;&gt;&#10;                &lt;rect x=&quot;20&quot; y=&quot;20&quot; width=&quot;600&quot; height=&quot;250&quot; rx=&quot;18&quot; fill=&quot;#FFFFFF&quot; /&gt;&#10;                &lt;rect x=&quot;20&quot; y=&quot;20&quot; width=&quot;600&quot; height=&quot;250&quot; rx=&quot;18&quot; fill=&quot;none&quot; stroke=&quot;#DDE7E1&quot; strokeWidth=&quot;2&quot; /&gt;&#10;                &lt;circle cx=&quot;62&quot; cy=&quot;62&quot; r=&quot;22&quot; fill=&quot;#1F7A5C&quot; /&gt;&#10;                &lt;path d=&quot;M62 52 C52 54 50 62 50 62 C50 62 52 70 62 72 C72 70 74 62 74 62 C74 62 72 54 62 52 Z&quot; fill=&quot;#FFFFFF&quot; transform=&quot;translate(-12,-10) scale(0.9) translate(6,6)&quot; /&gt;&#10;                &lt;text x=&quot;96&quot; y=&quot;70&quot; fontSize=&quot;22&quot; fontWeight=&quot;bold&quot; fill=&quot;#1E3A32&quot; fontFamily=&quot;PingFang SC&quot;&gt;AI宝儿&lt;/text&gt;&#10;                &lt;rect x=&quot;44&quot; y=&quot;104&quot; width=&quot;420&quot; height=&quot;14&quot; rx=&quot;7&quot; fill=&quot;#1F7A5C&quot; opacity=&quot;0.55&quot; /&gt;&#10;                &lt;rect x=&quot;44&quot; y=&quot;134&quot; width=&quot;540&quot; height=&quot;12&quot; rx=&quot;6&quot; fill=&quot;#A8D5BA&quot; opacity=&quot;0.7&quot; /&gt;&#10;                &lt;rect x=&quot;44&quot; y=&quot;160&quot; width=&quot;500&quot; height=&quot;12&quot; rx=&quot;6&quot; fill=&quot;#A8D5BA&quot; opacity=&quot;0.7&quot; /&gt;&#10;                &lt;rect x=&quot;44&quot; y=&quot;186&quot; width=&quot;360&quot; height=&quot;12&quot; rx=&quot;6&quot; fill=&quot;#A8D5BA&quot; opacity=&quot;0.7&quot; /&gt;&#10;                &lt;rect x=&quot;44&quot; y=&quot;222&quot; width=&quot;560&quot; height=&quot;30&quot; rx=&quot;12&quot; fill=&quot;rgba(31,122,92,0.08)&quot; /&gt;&#10;&#10;                &lt;rect x=&quot;20&quot; y=&quot;304&quot; width=&quot;140&quot; height=&quot;120&quot; rx=&quot;16&quot; fill=&quot;#1F7A5C&quot; /&gt;&#10;                &lt;path d=&quot;M76 340 v-24 a10 10 0 0 1 20 0 v24 h8 a8 8 0 0 1 8 8 v26 a8 8 0 0 1 -8 8 h-36 a8 8 0 0 1 -8 -8 v-26 a8 8 0 0 1 8 -8 z&quot; fill=&quot;#FFFFFF&quot; /&gt;&#10;                &lt;text x=&quot;90&quot; y=&quot;404&quot; textAnchor=&quot;middle&quot; fontSize=&quot;19&quot; fill=&quot;#FFFFFF&quot; fontFamily=&quot;PingFang SC&quot;&gt;点赞点踩&lt;/text&gt;&#10;&#10;                &lt;rect x=&quot;180&quot; y=&quot;304&quot; width=&quot;140&quot; height=&quot;120&quot; rx=&quot;16&quot; fill=&quot;rgba(168,213,186,0.5)&quot; /&gt;&#10;                &lt;rect x=&quot;228&quot; y=&quot;328&quot; width=&quot;44&quot; height=&quot;36&quot; rx=&quot;6&quot; fill=&quot;none&quot; stroke=&quot;#1E3A32&quot; strokeWidth=&quot;4&quot; /&gt;&#10;                &lt;path d=&quot;M228 356 l14 -14 l10 10 l12 -14 l8 8 v6 z&quot; fill=&quot;#1E3A32&quot; /&gt;&#10;                &lt;text x=&quot;250&quot; y=&quot;404&quot; textAnchor=&quot;middle&quot; fontSize=&quot;19&quot; fill=&quot;#1E3A32&quot; fontFamily=&quot;PingFang SC&quot;&gt;生成分享图&lt;/text&gt;&#10;&#10;                &lt;rect x=&quot;340&quot; y=&quot;304&quot; width=&quot;140&quot; height=&quot;120&quot; rx=&quot;16&quot; fill=&quot;rgba(168,213,186,0.5)&quot; /&gt;&#10;                &lt;rect x=&quot;398&quot; y=&quot;322&quot; width=&quot;24&quot; height=&quot;42&quot; rx=&quot;12&quot; fill=&quot;none&quot; stroke=&quot;#1E3A32&quot; strokeWidth=&quot;4&quot; /&gt;&#10;                &lt;path d=&quot;M398 348 a12 12 0 0 0 24 0&quot; fill=&quot;none&quot; stroke=&quot;#1E3A32&quot; strokeWidth=&quot;4&quot; /&gt;&#10;                &lt;path d=&quot;M410 364 v10&quot; stroke=&quot;#1E3A32&quot; strokeWidth=&quot;4&quot; strokeLinecap=&quot;round&quot; /&gt;&#10;                &lt;text x=&quot;410&quot; y=&quot;404&quot; textAnchor=&quot;middle&quot; fontSize=&quot;19&quot; fill=&quot;#1E3A32&quot; fontFamily=&quot;PingFang SC&quot;&gt;语音输入&lt;/text&gt;&#10;&#10;                &lt;rect x=&quot;500&quot; y=&quot;304&quot; width=&quot;140&quot; height=&quot;120&quot; rx=&quot;16&quot; fill=&quot;#E08A3C&quot; /&gt;&#10;                &lt;rect x=&quot;536&quot; y=&quot;334&quot; width=&quot;68&quot; height=&quot;44&quot; rx=&quot;8&quot; fill=&quot;none&quot; stroke=&quot;#FFFFFF&quot; strokeWidth=&quot;4&quot; /&gt;&#10;                &lt;path d=&quot;M536 338 l34 22 l34 -22&quot; fill=&quot;none&quot; stroke=&quot;#FFFFFF&quot; strokeWidth=&quot;4&quot; /&gt;&#10;                &lt;text x=&quot;570&quot; y=&quot;404&quot; textAnchor=&quot;middle&quot; fontSize=&quot;19&quot; fill=&quot;#FFFFFF&quot; fontFamily=&quot;PingFang SC&quot;&gt;获取方案&lt;/text&gt;&#10;&#10;                &lt;text x=&quot;320&quot; y=&quot;476&quot; textAnchor=&quot;middle&quot; fontSize=&quot;20&quot; fill=&quot;#6B7C75&quot; fontFamily=&quot;PingFang SC&quot;&gt;每一条回答的操作区里，都藏着这四个按钮&lt;/text&gt;&#10;            &lt;/svg&gt;&#10;        &lt;/Box&gt;&#10;&#10;        &lt;Box style={{ flex: 1 }}&gt;&#10;            &lt;Text style={{ fontSize: 26, fontWeight: 'bold', color: '#1F7A5C', lineHeight: 1.45 }}&gt;&#10;                回答不是终点，&lt;br /&gt;后面还有四步&#10;            &lt;/Text&gt;&#10;&#10;            &lt;Box style={{ marginTop: 22, gap: 16 }}&gt;&#10;                &lt;Box style={{ flexDirection: 'row', gap: 14, alignItems: 'flex-start' }}&gt;&#10;                    &lt;FAIcon name='thumbs-up' style={{ fill: '#1F7A5C', width: 26, height: 26 }} /&gt;&#10;                    &lt;Text style={{ fontSize: 19, color: '#1E3A32', lineHeight: 1.55, flex: 1 }}&gt;&#10;                        &lt;span style={{ fontWeight: 'bold' }}&gt;点赞点踩&lt;/span&gt;：顺手点一下，系统才知道哪类回答有用。点踩时写一句原因，比点十个赞都值钱。&#10;                    &lt;/Text&gt;&#10;                &lt;/Box&gt;&#10;                &lt;Box style={{ flexDirection: 'row', gap: 14, alignItems: 'flex-start' }}&gt;&#10;                    &lt;FAIcon name='image' style={{ fill: '#1F7A5C', width: 26, height: 26 }} /&gt;&#10;                    &lt;Text style={{ fontSize: 19, color: '#1E3A32', lineHeight: 1.55, flex: 1 }}&gt;&#10;                        &lt;span style={{ fontWeight: 'bold' }}&gt;生成分享图&lt;/span&gt;：把一次问答变成一张竖版图片，直接发给客户，不用再手打一遍。&#10;                    &lt;/Text&gt;&#10;                &lt;/Box&gt;&#10;                &lt;Box style={{ flexDirection: 'row', gap: 14, alignItems: 'flex-start' }}&gt;&#10;                    &lt;FAIcon name='microphone' style={{ fill: '#1F7A5C', width: 26, height: 26 }} /&gt;&#10;                    &lt;Text style={{ fontSize: 19, color: '#1E3A32', lineHeight: 1.55, flex: 1 }}&gt;&#10;                        &lt;span style={{ fontWeight: 'bold' }}&gt;语音输入&lt;/span&gt;：按住麦克风说话自动变文字，先落在输入框里，确认没错再发送。&#10;                    &lt;/Text&gt;&#10;                &lt;/Box&gt;&#10;                &lt;Box style={{ flexDirection: 'row', gap: 14, alignItems: 'flex-start' }}&gt;&#10;                    &lt;FAIcon name='envelope' style={{ fill: '#1F7A5C', width: 26, height: 26 }} /&gt;&#10;                    &lt;Text style={{ fontSize: 19, color: '#1E3A32', lineHeight: 1.55, flex: 1 }}&gt;&#10;                        &lt;span style={{ fontWeight: 'bold' }}&gt;获取方案&lt;/span&gt;：需要跟进时留下联系方式和客户诉求，方便后续有人对接。&#10;                    &lt;/Text&gt;&#10;                &lt;/Box&gt;&#10;            &lt;/Box&gt;&#10;&#10;            &lt;Box style={{&#10;                marginTop: 'auto', background: 'rgba(224,138,60,0.14)', borderRadius: 14, padding: 18,&#10;            }}&gt;&#10;                &lt;Text style={{ fontSize: 20, color: '#C9742B', fontWeight: 'bold', lineHeight: 1.5 }}&gt;&#10;                    把 AI 变成业绩的，往往不是提问那一下，而是回答之后的这一步。&#10;                &lt;/Text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五期上手课&lt;/Text&gt;&#10;        &lt;/Box&gt;&#10;        &lt;Text style={{ fontSize: 14, color: '#6B7C75' }}&gt;14 / 3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回答之后还能做什么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1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143000"/>
            <a:ext cx="6096000" cy="5029200"/>
          </a:xfrm>
          <a:prstGeom prst="rect">
            <a:avLst/>
          </a:prstGeom>
          <a:ln/>
        </p:spPr>
      </p:pic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7048500" y="1143000"/>
            <a:ext cx="4457700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回答不是终点，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后面还有四步</a:t>
            </a:r>
            <a:endParaRPr/>
          </a:p>
        </p:txBody>
      </p:sp>
      <p:pic>
        <p:nvPicPr>
          <p:cNvPr id="1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048500" y="2219325"/>
            <a:ext cx="247650" cy="247650"/>
          </a:xfrm>
          <a:prstGeom prst="rect">
            <a:avLst/>
          </a:prstGeom>
          <a:ln/>
        </p:spPr>
      </p:pic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7429500" y="2219325"/>
            <a:ext cx="407670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 b="1">
                <a:solidFill>
                  <a:srgbClr val="1E3A32"/>
                </a:solidFill>
                <a:latin typeface="Microsoft YaHei"/>
                <a:ea typeface="Microsoft YaHei"/>
              </a:rPr>
              <a:t>点赞点踩</a:t>
            </a: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：顺手点一下，系统才知道哪类回答有用。点踩时写一句原因，比点十个赞都值钱。</a:t>
            </a:r>
            <a:endParaRPr/>
          </a:p>
        </p:txBody>
      </p:sp>
      <p:pic>
        <p:nvPicPr>
          <p:cNvPr id="1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048500" y="3048000"/>
            <a:ext cx="247650" cy="247650"/>
          </a:xfrm>
          <a:prstGeom prst="rect">
            <a:avLst/>
          </a:prstGeom>
          <a:ln/>
        </p:spPr>
      </p:pic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7429500" y="3048000"/>
            <a:ext cx="407670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 b="1">
                <a:solidFill>
                  <a:srgbClr val="1E3A32"/>
                </a:solidFill>
                <a:latin typeface="Microsoft YaHei"/>
                <a:ea typeface="Microsoft YaHei"/>
              </a:rPr>
              <a:t>生成分享图</a:t>
            </a: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：把一次问答变成一张竖版图片，直接发给客户，不用再手打一遍。</a:t>
            </a:r>
            <a:endParaRPr/>
          </a:p>
        </p:txBody>
      </p:sp>
      <p:pic>
        <p:nvPicPr>
          <p:cNvPr id="14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048500" y="3876675"/>
            <a:ext cx="247650" cy="247650"/>
          </a:xfrm>
          <a:prstGeom prst="rect">
            <a:avLst/>
          </a:prstGeom>
          <a:ln/>
        </p:spPr>
      </p:pic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7429500" y="3876675"/>
            <a:ext cx="407670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 b="1">
                <a:solidFill>
                  <a:srgbClr val="1E3A32"/>
                </a:solidFill>
                <a:latin typeface="Microsoft YaHei"/>
                <a:ea typeface="Microsoft YaHei"/>
              </a:rPr>
              <a:t>语音输入</a:t>
            </a: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：按住麦克风说话自动变文字，先落在输入框里，确认没错再发送。</a:t>
            </a:r>
            <a:endParaRPr/>
          </a:p>
        </p:txBody>
      </p:sp>
      <p:pic>
        <p:nvPicPr>
          <p:cNvPr id="15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7048500" y="4705350"/>
            <a:ext cx="247650" cy="247650"/>
          </a:xfrm>
          <a:prstGeom prst="rect">
            <a:avLst/>
          </a:prstGeom>
          <a:ln/>
        </p:spPr>
      </p:pic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7429500" y="4705350"/>
            <a:ext cx="407670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 b="1">
                <a:solidFill>
                  <a:srgbClr val="1E3A32"/>
                </a:solidFill>
                <a:latin typeface="Microsoft YaHei"/>
                <a:ea typeface="Microsoft YaHei"/>
              </a:rPr>
              <a:t>获取方案</a:t>
            </a: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：需要跟进时留下联系方式和客户诉求，方便后续有人对接。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7048500" y="5381625"/>
            <a:ext cx="4457700" cy="1028700"/>
          </a:xfrm>
          <a:prstGeom prst="roundRect">
            <a:avLst>
              <a:gd name="adj" fmla="val 12963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219950" y="5553075"/>
            <a:ext cx="41148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C9742B"/>
                </a:solidFill>
                <a:latin typeface="Microsoft YaHei"/>
                <a:ea typeface="Microsoft YaHei"/>
              </a:rPr>
              <a:t>把</a:t>
            </a:r>
            <a:r>
              <a:rPr lang="en-US" sz="1500" b="1">
                <a:solidFill>
                  <a:srgbClr val="C9742B"/>
                </a:solidFill>
                <a:latin typeface="Microsoft YaHei"/>
                <a:ea typeface="Microsoft YaHei"/>
              </a:rPr>
              <a:t> AI </a:t>
            </a:r>
            <a:r>
              <a:rPr lang="zh-CN" sz="1500" b="1">
                <a:solidFill>
                  <a:srgbClr val="C9742B"/>
                </a:solidFill>
                <a:latin typeface="Microsoft YaHei"/>
                <a:ea typeface="Microsoft YaHei"/>
              </a:rPr>
              <a:t>变成业绩的，往往不是提问那一下，而是回答之后的这一步。</a:t>
            </a:r>
            <a:endParaRPr/>
          </a:p>
        </p:txBody>
      </p:sp>
      <p:pic>
        <p:nvPicPr>
          <p:cNvPr id="15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五期上手课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14 / 33</a:t>
            </a:r>
            <a:endParaRPr/>
          </a:p>
        </p:txBody>
      </p:sp>
    </p:spTree>
  </p:cSld>
</p:sld>
</file>

<file path=ppt/slides/slide1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58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第 2 期实操：三道练习题&lt;/Text&gt;&#10;        &lt;Box style={{ width: 56, height: 4, borderRadius: 2, background: '#1F7A5C', marginTop: 8 }} /&gt;&#10;    &lt;/Box&gt;&#10;&#10;    &lt;Box style={{ height: 528, flexDirection: 'row', gap: 20 }}&gt;&#10;        &lt;Box style={{&#10;            flex: 1, background: '#FFFFFF', borderRadius: 14, padding: 24,&#10;            boxShadow: '0 4px 20px rgba(30,58,50,0.08)',&#10;        }}&gt;&#10;            &lt;svg width=&quot;90&quot; height=&quot;90&quot; viewBox=&quot;0 0 90 90&quot;&gt;&#10;                &lt;circle cx=&quot;40&quot; cy=&quot;40&quot; r=&quot;26&quot; fill=&quot;none&quot; stroke=&quot;#1F7A5C&quot; strokeWidth=&quot;6&quot; /&gt;&#10;                &lt;path d=&quot;M59 59 L78 78&quot; stroke=&quot;#1F7A5C&quot; strokeWidth=&quot;8&quot; strokeLinecap=&quot;round&quot; /&gt;&#10;                &lt;text x=&quot;40&quot; y=&quot;49&quot; textAnchor=&quot;middle&quot; fontSize=&quot;26&quot; fontWeight=&quot;bold&quot; fill=&quot;#E08A3C&quot; fontFamily=&quot;PingFang SC&quot;&gt;?&lt;/text&gt;&#10;            &lt;/svg&gt;&#10;            &lt;Text style={{ fontSize: 25, fontWeight: 'bold', color: '#1E3A32', marginTop: 16 }}&gt;题一：把笼统改具体&lt;/Text&gt;&#10;            &lt;Text style={{ fontSize: 19, color: '#6B7C75', lineHeight: 1.6, marginTop: 12 }}&gt;&#10;                原句是&quot;这个产品好不好？&quot;。请加上你自己的情况——年龄、作息、最想改善的问题——把它改成一句 AI 能给出针对性答案的问句，然后真的发出去，对比两次回答的长度和具体程度。&#10;            &lt;/Text&gt;&#10;            &lt;Box style={{ marginTop: 'auto', background: 'rgba(224,138,60,0.14)', borderRadius: 12, padding: 14 }}&gt;&#10;                &lt;Text style={{ fontSize: 18, color: '#C9742B', lineHeight: 1.5 }}&gt;&#10;                    &lt;span style={{ fontWeight: 'bold' }}&gt;参考答案：&lt;/span&gt;「我平时经常腹胀、作息不规律，这个适合我吗？重点想改善腹胀。」&#10;                &lt;/Text&gt;&#10;            &lt;/Box&gt;&#10;        &lt;/Box&gt;&#10;&#10;        &lt;Box style={{&#10;            flex: 1, background: '#FFFFFF', borderRadius: 14, padding: 24,&#10;            boxShadow: '0 4px 20px rgba(30,58,50,0.08)',&#10;        }}&gt;&#10;            &lt;svg width=&quot;90&quot; height=&quot;90&quot; viewBox=&quot;0 0 90 90&quot;&gt;&#10;                &lt;path d=&quot;M6 20 H60 A10 10 0 0 1 70 30 V46 A10 10 0 0 1 60 56 H28 L14 70 V56 H6 A10 10 0 0 1 6 46 Z&quot; transform=&quot;translate(0,-4)&quot; fill=&quot;rgba(168,213,186,0.5)&quot; /&gt;&#10;                &lt;path d=&quot;M24 44 H84 A10 10 0 0 1 84 64 H56 L44 76 V64 H24 A10 10 0 0 1 24 64 Z&quot; transform=&quot;translate(0,-4)&quot; fill=&quot;#1F7A5C&quot; /&gt;&#10;                &lt;circle cx=&quot;66&quot; cy=&quot;20&quot; r=&quot;14&quot; fill=&quot;#E08A3C&quot; /&gt;&#10;                &lt;text x=&quot;66&quot; y=&quot;27&quot; textAnchor=&quot;middle&quot; fontSize=&quot;17&quot; fontWeight=&quot;bold&quot; fill=&quot;#FFFFFF&quot; fontFamily=&quot;PingFang SC&quot;&gt;2&lt;/text&gt;&#10;            &lt;/svg&gt;&#10;            &lt;Text style={{ fontSize: 25, fontWeight: 'bold', color: '#1E3A32', marginTop: 16 }}&gt;题二：追问到听懂为止&lt;/Text&gt;&#10;            &lt;Text style={{ fontSize: 19, color: '#6B7C75', lineHeight: 1.6, marginTop: 12 }}&gt;&#10;                找一条你看不太懂的回答，用技巧三连续追问两次。目标不是得到更多字，而是能用你自己的话把答案复述给同事听——复述得出来，这一题才算过。&#10;            &lt;/Text&gt;&#10;            &lt;Box style={{ marginTop: 'auto', background: 'rgba(224,138,60,0.14)', borderRadius: 12, padding: 14 }}&gt;&#10;                &lt;Text style={{ fontSize: 18, color: '#C9742B', lineHeight: 1.5 }}&gt;&#10;                    &lt;span style={{ fontWeight: 'bold' }}&gt;参考答案：&lt;/span&gt;「请说得简单一点」→「你刚才的重点是什么？分成三点告诉我」&#10;                &lt;/Text&gt;&#10;            &lt;/Box&gt;&#10;        &lt;/Box&gt;&#10;&#10;        &lt;Box style={{&#10;            flex: 1, background: '#FFFFFF', borderRadius: 14, padding: 24,&#10;            boxShadow: '0 4px 20px rgba(30,58,50,0.08)',&#10;        }}&gt;&#10;            &lt;svg width=&quot;90&quot; height=&quot;90&quot; viewBox=&quot;0 0 90 90&quot;&gt;&#10;                &lt;rect x=&quot;8&quot; y=&quot;14&quot; width=&quot;56&quot; height=&quot;62&quot; rx=&quot;10&quot; fill=&quot;#1F7A5C&quot; /&gt;&#10;                &lt;path d=&quot;M8 56 l16 -14 l12 10 l10 -8 l18 14 v10 a4 4 0 0 1 -4 4 h-48 a4 4 0 0 1 -4 -4 z&quot; fill=&quot;#FFFFFF&quot; opacity=&quot;0.35&quot; /&gt;&#10;                &lt;circle cx=&quot;70&quot; cy=&quot;62&quot; r=&quot;16&quot; fill=&quot;#E08A3C&quot; /&gt;&#10;                &lt;path d=&quot;M70 54 v16&quot; stroke=&quot;#FFFFFF&quot; strokeWidth=&quot;4&quot; strokeLinecap=&quot;round&quot; /&gt;&#10;                &lt;path d=&quot;M62 62 h16&quot; stroke=&quot;#FFFFFF&quot; strokeWidth=&quot;4&quot; strokeLinecap=&quot;round&quot; /&gt;&#10;            &lt;/svg&gt;&#10;            &lt;Text style={{ fontSize: 25, fontWeight: 'bold', color: '#1E3A32', marginTop: 16 }}&gt;题三：做一张分享图&lt;/Text&gt;&#10;            &lt;Text style={{ fontSize: 19, color: '#6B7C75', lineHeight: 1.6, marginTop: 12 }}&gt;&#10;                挑一条你觉得有用的回答，点&quot;生成分享图&quot;，把生成的图片检查一遍：有没有你的问题、回答摘要、相关案例摘要。确认无误后发给一位同事看看他能不能看懂。&#10;            &lt;/Text&gt;&#10;            &lt;Box style={{ marginTop: 'auto', background: 'rgba(224,138,60,0.14)', borderRadius: 12, padding: 14 }}&gt;&#10;                &lt;Text style={{ fontSize: 18, color: '#C9742B', lineHeight: 1.5 }}&gt;&#10;                    &lt;span style={{ fontWeight: 'bold' }}&gt;验收：&lt;/span&gt;图上应含 AI宝儿标识、你的问题、回答摘要和相关案例&#10;                &lt;/Text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五期上手课&lt;/Text&gt;&#10;        &lt;/Box&gt;&#10;        &lt;Text style={{ fontSize: 14, color: '#6B7C75' }}&gt;15 / 3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第</a:t>
            </a:r>
            <a:r>
              <a:rPr lang="en-US" sz="2700" b="1">
                <a:solidFill>
                  <a:srgbClr val="1E3A32"/>
                </a:solidFill>
                <a:latin typeface="Microsoft YaHei"/>
                <a:ea typeface="Microsoft YaHei"/>
              </a:rPr>
              <a:t> 2 </a:t>
            </a: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期实操：三道练习题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162" name=""/>
          <p:cNvSpPr/>
          <p:nvPr/>
        </p:nvSpPr>
        <p:spPr>
          <a:xfrm rot="0" flipH="0" flipV="0">
            <a:off x="685800" y="1143000"/>
            <a:ext cx="3476625" cy="5153025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1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14400" y="1371600"/>
            <a:ext cx="857250" cy="857250"/>
          </a:xfrm>
          <a:prstGeom prst="rect">
            <a:avLst/>
          </a:prstGeom>
          <a:ln/>
        </p:spPr>
      </p:pic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914400" y="2381250"/>
            <a:ext cx="30194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题一：把笼统改具体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914400" y="2781300"/>
            <a:ext cx="3019425" cy="2085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原句是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这个产品好不好？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。请加上你自己的情况——年龄、作息、最想改善的问题——把它改成一句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 AI 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能给出针对性答案的问句，然后真的发出去，对比两次回答的长度和具体程度。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914400" y="4867275"/>
            <a:ext cx="3019425" cy="1200150"/>
          </a:xfrm>
          <a:prstGeom prst="roundRect">
            <a:avLst>
              <a:gd name="adj" fmla="val 9524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1047750" y="5000625"/>
            <a:ext cx="27527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C9742B"/>
                </a:solidFill>
                <a:latin typeface="Microsoft YaHei"/>
                <a:ea typeface="Microsoft YaHei"/>
              </a:rPr>
              <a:t>参考答案：</a:t>
            </a:r>
            <a:r>
              <a:rPr lang="zh-CN" sz="1350">
                <a:solidFill>
                  <a:srgbClr val="C9742B"/>
                </a:solidFill>
                <a:latin typeface="Microsoft YaHei"/>
                <a:ea typeface="Microsoft YaHei"/>
              </a:rPr>
              <a:t>「我平时经常腹胀、作息不规律，这个适合我吗？重点想改善腹胀。」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4352925" y="1143000"/>
            <a:ext cx="3486150" cy="5029200"/>
          </a:xfrm>
          <a:prstGeom prst="roundRect">
            <a:avLst>
              <a:gd name="adj" fmla="val 382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1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581525" y="1371600"/>
            <a:ext cx="857250" cy="857250"/>
          </a:xfrm>
          <a:prstGeom prst="rect">
            <a:avLst/>
          </a:prstGeom>
          <a:ln/>
        </p:spPr>
      </p:pic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4581525" y="2381250"/>
            <a:ext cx="30289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题二：追问到听懂为止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4581525" y="2781300"/>
            <a:ext cx="3028950" cy="1743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找一条你看不太懂的回答，用技巧三连续追问两次。目标不是得到更多字，而是能用你自己的话把答案复述给同事听——复述得出来，这一题才算过。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4581525" y="4743450"/>
            <a:ext cx="3028950" cy="1200150"/>
          </a:xfrm>
          <a:prstGeom prst="roundRect">
            <a:avLst>
              <a:gd name="adj" fmla="val 9524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4714875" y="4876800"/>
            <a:ext cx="27622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C9742B"/>
                </a:solidFill>
                <a:latin typeface="Microsoft YaHei"/>
                <a:ea typeface="Microsoft YaHei"/>
              </a:rPr>
              <a:t>参考答案：</a:t>
            </a:r>
            <a:r>
              <a:rPr lang="zh-CN" sz="1350">
                <a:solidFill>
                  <a:srgbClr val="C9742B"/>
                </a:solidFill>
                <a:latin typeface="Microsoft YaHei"/>
                <a:ea typeface="Microsoft YaHei"/>
              </a:rPr>
              <a:t>「请说得简单一点」→「你刚才的重点是什么？分成三点告诉我」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8029575" y="1143000"/>
            <a:ext cx="3476625" cy="502920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1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258175" y="1371600"/>
            <a:ext cx="857250" cy="857250"/>
          </a:xfrm>
          <a:prstGeom prst="rect">
            <a:avLst/>
          </a:prstGeom>
          <a:ln/>
        </p:spPr>
      </p:pic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258175" y="2381250"/>
            <a:ext cx="30194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题三：做一张分享图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258175" y="2781300"/>
            <a:ext cx="3019425" cy="1743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挑一条你觉得有用的回答，点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生成分享图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，把生成的图片检查一遍：有没有你的问题、回答摘要、相关案例摘要。确认无误后发给一位同事看看他能不能看懂。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8258175" y="5057775"/>
            <a:ext cx="3019425" cy="885825"/>
          </a:xfrm>
          <a:prstGeom prst="roundRect">
            <a:avLst>
              <a:gd name="adj" fmla="val 12903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8391525" y="5191125"/>
            <a:ext cx="27527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C9742B"/>
                </a:solidFill>
                <a:latin typeface="Microsoft YaHei"/>
                <a:ea typeface="Microsoft YaHei"/>
              </a:rPr>
              <a:t>验收：</a:t>
            </a:r>
            <a:r>
              <a:rPr lang="zh-CN" sz="1350">
                <a:solidFill>
                  <a:srgbClr val="C9742B"/>
                </a:solidFill>
                <a:latin typeface="Microsoft YaHei"/>
                <a:ea typeface="Microsoft YaHei"/>
              </a:rPr>
              <a:t>图上应含</a:t>
            </a:r>
            <a:r>
              <a:rPr lang="en-US" sz="1350">
                <a:solidFill>
                  <a:srgbClr val="C9742B"/>
                </a:solidFill>
                <a:latin typeface="Microsoft YaHei"/>
                <a:ea typeface="Microsoft YaHei"/>
              </a:rPr>
              <a:t> AI</a:t>
            </a:r>
            <a:r>
              <a:rPr lang="zh-CN" sz="1350">
                <a:solidFill>
                  <a:srgbClr val="C9742B"/>
                </a:solidFill>
                <a:latin typeface="Microsoft YaHei"/>
                <a:ea typeface="Microsoft YaHei"/>
              </a:rPr>
              <a:t>宝儿标识、你的问题、回答摘要和相关案例</a:t>
            </a:r>
            <a:endParaRPr/>
          </a:p>
        </p:txBody>
      </p:sp>
      <p:pic>
        <p:nvPicPr>
          <p:cNvPr id="1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五期上手课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15 / 33</a:t>
            </a:r>
            <a:endParaRPr/>
          </a:p>
        </p:txBody>
      </p:sp>
    </p:spTree>
  </p:cSld>
</p:sld>
</file>

<file path=ppt/slides/slide1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83" name="" descr="&lt;Slide style={{ background: '#F7FAF6', padding: 0 }}&gt;&#10;    &lt;Box style={{ flexDirection: 'row', width: '100%', height: '100%' }}&gt;&#10;        &lt;Box style={{&#10;            width: 742, height: '100%',&#10;            background: 'linear-gradient(135deg, #1F7A5C 0%, #2E9B77 100%)',&#10;            paddingLeft: 72, paddingRight: 48, justifyContent: 'center',&#10;        }}&gt;&#10;            &lt;Text style={{ fontSize: 120, fontWeight: 'bold', color: '#FFFFFF', opacity: 0.28, lineHeight: 1 }}&gt;03&lt;/Text&gt;&#10;            &lt;Text style={{ fontSize: 68, fontWeight: 'bold', color: '#FFFFFF', lineHeight: 1.15, marginTop: 12 }}&gt;&#10;                先读再问&#10;            &lt;/Text&gt;&#10;            &lt;Box style={{ width: 96, height: 5, borderRadius: 3, background: '#E08A3C', marginTop: 26 }} /&gt;&#10;            &lt;Text style={{ fontSize: 26, color: '#FFFFFF', opacity: 0.88, lineHeight: 1.55, marginTop: 24 }}&gt;&#10;                用现成内容喂出更好的问题&lt;br /&gt;资讯和产品资料，是提问前的免费弹药&#10;            &lt;/Text&gt;&#10;        &lt;/Box&gt;&#10;&#10;        &lt;Box style={{ flex: 1, height: '100%', background: '#F7FAF6' }}&gt;&#10;            &lt;svg width=&quot;538&quot; height=&quot;720&quot; viewBox=&quot;0 0 538 720&quot;&gt;&#10;                &lt;path d=&quot;M120 90 L400 60 L520 180 L240 210 Z&quot; fill=&quot;#E08A3C&quot; opacity=&quot;0.12&quot; /&gt;&#10;                &lt;path d=&quot;M60 200 L340 170 L460 290 L180 320 Z&quot; fill=&quot;#A8D5BA&quot; opacity=&quot;0.35&quot; /&gt;&#10;&#10;                &lt;path d=&quot;M96 250 L392 214 L436 470 L140 506 Z&quot; fill=&quot;#FFFFFF&quot; /&gt;&#10;                &lt;path d=&quot;M96 250 L392 214 L436 470 L140 506 Z&quot; fill=&quot;none&quot; stroke=&quot;#DDE7E1&quot; strokeWidth=&quot;3&quot; /&gt;&#10;                &lt;rect x=&quot;140&quot; y=&quot;266&quot; width=&quot;196&quot; height=&quot;16&quot; rx=&quot;8&quot; fill=&quot;#1F7A5C&quot; opacity=&quot;0.6&quot; /&gt;&#10;                &lt;rect x=&quot;140&quot; y=&quot;306&quot; width=&quot;244&quot; height=&quot;12&quot; rx=&quot;6&quot; fill=&quot;#A8D5BA&quot; /&gt;&#10;                &lt;rect x=&quot;140&quot; y=&quot;334&quot; width=&quot;220&quot; height=&quot;12&quot; rx=&quot;6&quot; fill=&quot;#A8D5BA&quot; /&gt;&#10;                &lt;rect x=&quot;140&quot; y=&quot;362&quot; width=&quot;248&quot; height=&quot;12&quot; rx=&quot;6&quot; fill=&quot;#A8D5BA&quot; /&gt;&#10;                &lt;rect x=&quot;140&quot; y=&quot;390&quot; width=&quot;170&quot; height=&quot;12&quot; rx=&quot;6&quot; fill=&quot;#A8D5BA&quot; /&gt;&#10;&#10;                &lt;path d=&quot;M170 330 L466 294 L510 550 L214 586 Z&quot; fill=&quot;#FFFFFF&quot; /&gt;&#10;                &lt;path d=&quot;M170 330 L466 294 L510 550 L214 586 Z&quot; fill=&quot;none&quot; stroke=&quot;#DDE7E1&quot; strokeWidth=&quot;3&quot; /&gt;&#10;                &lt;rect x=&quot;214&quot; y=&quot;350&quot; width=&quot;230&quot; height=&quot;16&quot; rx=&quot;8&quot; fill=&quot;#1F7A5C&quot; /&gt;&#10;                &lt;rect x=&quot;214&quot; y=&quot;392&quot; width=&quot;258&quot; height=&quot;12&quot; rx=&quot;6&quot; fill=&quot;#A8D5BA&quot; /&gt;&#10;                &lt;rect x=&quot;214&quot; y=&quot;420&quot; width=&quot;226&quot; height=&quot;12&quot; rx=&quot;6&quot; fill=&quot;#A8D5BA&quot; /&gt;&#10;                &lt;rect x=&quot;214&quot; y=&quot;448&quot; width=&quot;252&quot; height=&quot;12&quot; rx=&quot;6&quot; fill=&quot;#A8D5BA&quot; /&gt;&#10;                &lt;rect x=&quot;214&quot; y=&quot;476&quot; width=&quot;150&quot; height=&quot;12&quot; rx=&quot;6&quot; fill=&quot;#A8D5BA&quot; /&gt;&#10;&#10;                &lt;circle cx=&quot;86&quot; cy=&quot;596&quot; r=&quot;40&quot; fill=&quot;#E08A3C&quot; opacity=&quot;0.9&quot; /&gt;&#10;                &lt;path d=&quot;M70 596 L82 608 L104 584&quot; stroke=&quot;#FFFFFF&quot; strokeWidth=&quot;6&quot; fill=&quot;none&quot; strokeLinecap=&quot;round&quot; /&gt;&#10;&#10;                &lt;path d=&quot;M0 660 Q160 620 320 660 T538 648 L538 720 L0 720 Z&quot; fill=&quot;#1F7A5C&quot; opacity=&quot;0.42&quot; /&gt;&#10;            &lt;/svg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185" name=""/>
          <p:cNvSpPr/>
          <p:nvPr/>
        </p:nvSpPr>
        <p:spPr>
          <a:xfrm rot="0" flipH="0" flipV="0">
            <a:off x="0" y="0"/>
            <a:ext cx="7067550" cy="6858000"/>
          </a:xfrm>
          <a:prstGeom prst="rect">
            <a:avLst/>
          </a:prstGeom>
          <a:gradFill>
            <a:gsLst>
              <a:gs pos="0">
                <a:srgbClr val="1F7A5C"/>
              </a:gs>
              <a:gs pos="100000">
                <a:srgbClr val="2E9B77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85800" y="3000375"/>
            <a:ext cx="5924550" cy="8953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5100" b="1">
                <a:solidFill>
                  <a:srgbClr val="FFFFFF"/>
                </a:solidFill>
                <a:latin typeface="Microsoft YaHei"/>
                <a:ea typeface="Microsoft YaHei"/>
              </a:rPr>
              <a:t>先读再问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685800" y="4143375"/>
            <a:ext cx="914400" cy="47625"/>
          </a:xfrm>
          <a:prstGeom prst="roundRect">
            <a:avLst>
              <a:gd name="adj" fmla="val 60000"/>
            </a:avLst>
          </a:prstGeom>
          <a:solidFill>
            <a:srgbClr val="E08A3C"/>
          </a:solidFill>
          <a:ln/>
        </p:spPr>
        <p:txBody>
          <a:bodyPr/>
          <a:p/>
        </p:txBody>
      </p:sp>
      <p:sp>
        <p:nvSpPr>
          <p:cNvPr id="188" name=""/>
          <p:cNvSpPr/>
          <p:nvPr/>
        </p:nvSpPr>
        <p:spPr>
          <a:xfrm rot="0" flipH="0" flipV="0">
            <a:off x="7067550" y="0"/>
            <a:ext cx="512445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pic>
        <p:nvPicPr>
          <p:cNvPr id="1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067550" y="0"/>
            <a:ext cx="5124450" cy="6858000"/>
          </a:xfrm>
          <a:prstGeom prst="rect">
            <a:avLst/>
          </a:prstGeom>
          <a:ln/>
        </p:spPr>
      </p:pic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685800" y="1514475"/>
            <a:ext cx="5924550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85800" y="4419600"/>
            <a:ext cx="5924550" cy="9239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95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用现成内容喂出更好的问题</a:t>
            </a:r>
            <a:endParaRPr/>
          </a:p>
          <a:p>
            <a:pPr>
              <a:lnSpc>
                <a:spcPct val="155000"/>
              </a:lnSpc>
            </a:pPr>
            <a:r>
              <a:rPr lang="zh-CN" sz="195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资讯和产品资料，是提问前的免费弹药</a:t>
            </a:r>
            <a:endParaRPr/>
          </a:p>
        </p:txBody>
      </p:sp>
    </p:spTree>
  </p:cSld>
</p:sld>
</file>

<file path=ppt/slides/slide1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92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资讯模块怎么读&lt;/Text&gt;&#10;        &lt;Box style={{ width: 56, height: 4, borderRadius: 2, background: '#1F7A5C', marginTop: 8 }} /&gt;&#10;    &lt;/Box&gt;&#10;&#10;    &lt;Box style={{ height: 528 }}&gt;&#10;        &lt;Box style={{ height: 290, background: '#FFFFFF', borderRadius: 14, padding: 16, boxShadow: '0 4px 20px rgba(30,58,50,0.08)' }}&gt;&#10;            &lt;svg width=&quot;1104&quot; height=&quot;258&quot; viewBox=&quot;0 0 1104 258&quot;&gt;&#10;                &lt;rect x=&quot;14&quot; y=&quot;30&quot; width=&quot;230&quot; height=&quot;200&quot; rx=&quot;16&quot; fill=&quot;rgba(168,213,186,0.35)&quot; /&gt;&#10;                &lt;path d=&quot;M14 120 l58 -46 l44 34 l34 -26 l94 58 v76 a16 16 0 0 1 -16 16 h-198 a16 16 0 0 1 -16 -16 z&quot; fill=&quot;#1F7A5C&quot; opacity=&quot;0.35&quot; /&gt;&#10;                &lt;rect x=&quot;34&quot; y=&quot;150&quot; width=&quot;150&quot; height=&quot;14&quot; rx=&quot;7&quot; fill=&quot;#1F7A5C&quot; /&gt;&#10;                &lt;rect x=&quot;34&quot; y=&quot;180&quot; width=&quot;190&quot; height=&quot;10&quot; rx=&quot;5&quot; fill=&quot;#FFFFFF&quot; opacity=&quot;0.85&quot; /&gt;&#10;                &lt;rect x=&quot;34&quot; y=&quot;200&quot; width=&quot;160&quot; height=&quot;10&quot; rx=&quot;5&quot; fill=&quot;#FFFFFF&quot; opacity=&quot;0.6&quot; /&gt;&#10;&#10;                &lt;rect x=&quot;274&quot; y=&quot;30&quot; width=&quot;230&quot; height=&quot;200&quot; rx=&quot;16&quot; fill=&quot;rgba(168,213,186,0.35)&quot; /&gt;&#10;                &lt;path d=&quot;M274 120 l58 -46 l44 34 l34 -26 l94 58 v76 a16 16 0 0 1 -16 16 h-198 a16 16 0 0 1 -16 -16 z&quot; fill=&quot;#1F7A5C&quot; opacity=&quot;0.35&quot; /&gt;&#10;                &lt;rect x=&quot;294&quot; y=&quot;150&quot; width=&quot;176&quot; height=&quot;14&quot; rx=&quot;7&quot; fill=&quot;#1F7A5C&quot; /&gt;&#10;                &lt;rect x=&quot;294&quot; y=&quot;180&quot; width=&quot;190&quot; height=&quot;10&quot; rx=&quot;5&quot; fill=&quot;#FFFFFF&quot; opacity=&quot;0.85&quot; /&gt;&#10;                &lt;rect x=&quot;294&quot; y=&quot;200&quot; width=&quot;140&quot; height=&quot;10&quot; rx=&quot;5&quot; fill=&quot;#FFFFFF&quot; opacity=&quot;0.6&quot; /&gt;&#10;&#10;                &lt;rect x=&quot;534&quot; y=&quot;30&quot; width=&quot;230&quot; height=&quot;200&quot; rx=&quot;16&quot; fill=&quot;#1F7A5C&quot; /&gt;&#10;                &lt;path d=&quot;M534 120 l58 -46 l44 34 l34 -26 l94 58 v76 a16 16 0 0 1 -16 16 h-198 a16 16 0 0 1 -16 -16 z&quot; fill=&quot;#FFFFFF&quot; opacity=&quot;0.22&quot; /&gt;&#10;                &lt;rect x=&quot;554&quot; y=&quot;150&quot; width=&quot;164&quot; height=&quot;14&quot; rx=&quot;7&quot; fill=&quot;#FFFFFF&quot; /&gt;&#10;                &lt;rect x=&quot;554&quot; y=&quot;180&quot; width=&quot;190&quot; height=&quot;10&quot; rx=&quot;5&quot; fill=&quot;#FFFFFF&quot; opacity=&quot;0.7&quot; /&gt;&#10;                &lt;rect x=&quot;554&quot; y=&quot;200&quot; width=&quot;150&quot; height=&quot;10&quot; rx=&quot;5&quot; fill=&quot;#FFFFFF&quot; opacity=&quot;0.45&quot; /&gt;&#10;&#10;                &lt;path d=&quot;M790 130 L846 130&quot; stroke=&quot;#A8D5BA&quot; strokeWidth=&quot;6&quot; strokeLinecap=&quot;round&quot; /&gt;&#10;                &lt;path d=&quot;M834 118 L852 130 L834 142 Z&quot; fill=&quot;#A8D5BA&quot; /&gt;&#10;&#10;                &lt;path d=&quot;M872 44 H1070 A18 18 0 0 1 1088 62 V146 A18 18 0 0 1 1070 164 H960 L930 196 V164 H872 A18 18 0 0 1 854 146 V62 A18 18 0 0 1 872 44 Z&quot; fill=&quot;rgba(31,122,92,0.1)&quot; /&gt;&#10;                &lt;text x=&quot;880&quot; y=&quot;84&quot; fontSize=&quot;20&quot; fill=&quot;#1E3A32&quot; fontFamily=&quot;PingFang SC&quot;&gt;这段话我不太明白&lt;/text&gt;&#10;                &lt;text x=&quot;880&quot; y=&quot;116&quot; fontSize=&quot;20&quot; fill=&quot;#1E3A32&quot; fontFamily=&quot;PingFang SC&quot;&gt;能说简单一点吗？&lt;/text&gt;&#10;                &lt;rect x=&quot;964&quot; y=&quot;130&quot; width=&quot;106&quot; height=&quot;40&quot; rx=&quot;20&quot; fill=&quot;#E08A3C&quot; /&gt;&#10;                &lt;text x=&quot;1017&quot; y=&quot;157&quot; textAnchor=&quot;middle&quot; fontSize=&quot;19&quot; fill=&quot;#FFFFFF&quot; fontFamily=&quot;PingFang SC&quot;&gt;发送&lt;/text&gt;&#10;&#10;                &lt;text x=&quot;129&quot; y=&quot;252&quot; textAnchor=&quot;middle&quot; fontSize=&quot;18&quot; fill=&quot;#6B7C75&quot; fontFamily=&quot;PingFang SC&quot;&gt;发现页列表&lt;/text&gt;&#10;                &lt;text x=&quot;389&quot; y=&quot;252&quot; textAnchor=&quot;middle&quot; fontSize=&quot;18&quot; fill=&quot;#6B7C75&quot; fontFamily=&quot;PingFang SC&quot;&gt;首页轮播精选&lt;/text&gt;&#10;                &lt;text x=&quot;649&quot; y=&quot;252&quot; textAnchor=&quot;middle&quot; fontSize=&quot;18&quot; fill=&quot;#6B7C75&quot; fontFamily=&quot;PingFang SC&quot;&gt;点开后的正文&lt;/text&gt;&#10;                &lt;text x=&quot;960&quot; y=&quot;252&quot; textAnchor=&quot;middle&quot; fontSize=&quot;18&quot; fill=&quot;#6B7C75&quot; fontFamily=&quot;PingFang SC&quot;&gt;带着问题回来问&lt;/text&gt;&#10;            &lt;/svg&gt;&#10;        &lt;/Box&gt;&#10;&#10;        &lt;Box style={{&#10;            height: 214, marginTop: 14, flexDirection: 'row', gap: 20,&#10;            background: 'rgba(31,122,92,0.08)', borderRadius: 14, padding: 24,&#10;        }}&gt;&#10;            &lt;Box style={{ flex: 1, gap: 12 }}&gt;&#10;                &lt;Box style={{ flexDirection: 'row', gap: 14, alignItems: 'center' }}&gt;&#10;                    &lt;Box style={{ width: 38, height: 38, borderRadius: 19, background: '#1F7A5C', justifyContent: 'center', alignItems: 'center' }}&gt;&#10;                        &lt;Text style={{ fontSize: 20, fontWeight: 'bold', color: '#FFFFFF' }}&gt;1&lt;/Text&gt;&#10;                    &lt;/Box&gt;&#10;                    &lt;Text style={{ fontSize: 21, color: '#1E3A32' }}&gt;&#10;                        &lt;span style={{ fontWeight: 'bold' }}&gt;浏览&lt;/span&gt;：发现页和首页轮播各扫一遍，只看标题，不急着点开&#10;                    &lt;/Text&gt;&#10;                &lt;/Box&gt;&#10;                &lt;Box style={{ flexDirection: 'row', gap: 14, alignItems: 'center' }}&gt;&#10;                    &lt;Box style={{ width: 38, height: 38, borderRadius: 19, background: '#1F7A5C', justifyContent: 'center', alignItems: 'center' }}&gt;&#10;                        &lt;Text style={{ fontSize: 20, fontWeight: 'bold', color: '#FFFFFF' }}&gt;2&lt;/Text&gt;&#10;                    &lt;/Box&gt;&#10;                    &lt;Text style={{ fontSize: 21, color: '#1E3A32' }}&gt;&#10;                        &lt;span style={{ fontWeight: 'bold' }}&gt;阅读&lt;/span&gt;：点开感兴趣的，重点抓结论句和小标题，细节可以跳&#10;                    &lt;/Text&gt;&#10;                &lt;/Box&gt;&#10;                &lt;Box style={{ flexDirection: 'row', gap: 14, alignItems: 'center' }}&gt;&#10;                    &lt;Box style={{ width: 38, height: 38, borderRadius: 19, background: '#E08A3C', justifyContent: 'center', alignItems: 'center' }}&gt;&#10;                        &lt;Text style={{ fontSize: 20, fontWeight: 'bold', color: '#FFFFFF' }}&gt;3&lt;/Text&gt;&#10;                    &lt;/Box&gt;&#10;                    &lt;Text style={{ fontSize: 21, color: '#1E3A32' }}&gt;&#10;                        &lt;span style={{ fontWeight: 'bold' }}&gt;回来提问&lt;/span&gt;：看不懂的那句话直接复制进输入框，加一句&quot;这段我不太明白&quot;&#10;                    &lt;/Text&gt;&#10;                &lt;/Box&gt;&#10;            &lt;/Box&gt;&#10;&#10;            &lt;Box style={{&#10;                width: 340, background: '#FFFFFF', borderRadius: 14, padding: 18, justifyContent: 'center',&#10;            }}&gt;&#10;                &lt;Text style={{ fontSize: 21, fontWeight: 'bold', color: '#1F7A5C', lineHeight: 1.5 }}&gt;&#10;                    先看内容再提问，问题会更具体&#10;                &lt;/Text&gt;&#10;                &lt;Text style={{ fontSize: 19, color: '#6B7C75', lineHeight: 1.55, marginTop: 10 }}&gt;&#10;                    读过一遍之后，你的问句里会自然带上文章里的词，AI 拿到的背景越多，答案就越贴你的情况。&#10;                &lt;/Text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五期上手课&lt;/Text&gt;&#10;        &lt;/Box&gt;&#10;        &lt;Text style={{ fontSize: 14, color: '#6B7C75' }}&gt;17 / 3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资讯模块怎么读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196" name=""/>
          <p:cNvSpPr/>
          <p:nvPr/>
        </p:nvSpPr>
        <p:spPr>
          <a:xfrm rot="0" flipH="0" flipV="0">
            <a:off x="685800" y="1143000"/>
            <a:ext cx="10820400" cy="276225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19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38200" y="1295400"/>
            <a:ext cx="10515600" cy="2457450"/>
          </a:xfrm>
          <a:prstGeom prst="rect">
            <a:avLst/>
          </a:prstGeom>
          <a:ln/>
        </p:spPr>
      </p:pic>
      <p:sp>
        <p:nvSpPr>
          <p:cNvPr id="198" name=""/>
          <p:cNvSpPr/>
          <p:nvPr/>
        </p:nvSpPr>
        <p:spPr>
          <a:xfrm rot="0" flipH="0" flipV="0">
            <a:off x="685800" y="4038600"/>
            <a:ext cx="10820400" cy="2038350"/>
          </a:xfrm>
          <a:prstGeom prst="roundRect">
            <a:avLst>
              <a:gd name="adj" fmla="val 6542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199" name=""/>
          <p:cNvSpPr/>
          <p:nvPr/>
        </p:nvSpPr>
        <p:spPr>
          <a:xfrm rot="0" flipH="0" flipV="0">
            <a:off x="914400" y="42672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1038225" y="4333875"/>
            <a:ext cx="114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1409700" y="4324350"/>
            <a:ext cx="5200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32"/>
                </a:solidFill>
                <a:latin typeface="Microsoft YaHei"/>
                <a:ea typeface="Microsoft YaHei"/>
              </a:rPr>
              <a:t>浏览</a:t>
            </a:r>
            <a:r>
              <a:rPr lang="zh-CN" sz="1575">
                <a:solidFill>
                  <a:srgbClr val="1E3A32"/>
                </a:solidFill>
                <a:latin typeface="Microsoft YaHei"/>
                <a:ea typeface="Microsoft YaHei"/>
              </a:rPr>
              <a:t>：发现页和首页轮播各扫一遍，只看标题，不急着点开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914400" y="474345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1038225" y="4810125"/>
            <a:ext cx="114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1409700" y="4800600"/>
            <a:ext cx="5200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32"/>
                </a:solidFill>
                <a:latin typeface="Microsoft YaHei"/>
                <a:ea typeface="Microsoft YaHei"/>
              </a:rPr>
              <a:t>阅读</a:t>
            </a:r>
            <a:r>
              <a:rPr lang="zh-CN" sz="1575">
                <a:solidFill>
                  <a:srgbClr val="1E3A32"/>
                </a:solidFill>
                <a:latin typeface="Microsoft YaHei"/>
                <a:ea typeface="Microsoft YaHei"/>
              </a:rPr>
              <a:t>：点开感兴趣的，重点抓结论句和小标题，细节可以跳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914400" y="52197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1038225" y="5286375"/>
            <a:ext cx="114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409700" y="5276850"/>
            <a:ext cx="6343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32"/>
                </a:solidFill>
                <a:latin typeface="Microsoft YaHei"/>
                <a:ea typeface="Microsoft YaHei"/>
              </a:rPr>
              <a:t>回来提问</a:t>
            </a:r>
            <a:r>
              <a:rPr lang="zh-CN" sz="1575">
                <a:solidFill>
                  <a:srgbClr val="1E3A32"/>
                </a:solidFill>
                <a:latin typeface="Microsoft YaHei"/>
                <a:ea typeface="Microsoft YaHei"/>
              </a:rPr>
              <a:t>：看不懂的那句话直接复制进输入框，加一句</a:t>
            </a:r>
            <a:r>
              <a:rPr lang="en-US" sz="1575">
                <a:solidFill>
                  <a:srgbClr val="1E3A32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1E3A32"/>
                </a:solidFill>
                <a:latin typeface="Microsoft YaHei"/>
                <a:ea typeface="Microsoft YaHei"/>
              </a:rPr>
              <a:t>这段我不太明白</a:t>
            </a:r>
            <a:r>
              <a:rPr lang="en-US" sz="1575">
                <a:solidFill>
                  <a:srgbClr val="1E3A32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8039100" y="4267200"/>
            <a:ext cx="3238500" cy="1819275"/>
          </a:xfrm>
          <a:prstGeom prst="roundRect">
            <a:avLst>
              <a:gd name="adj" fmla="val 733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8210550" y="4438650"/>
            <a:ext cx="28956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1F7A5C"/>
                </a:solidFill>
                <a:latin typeface="Microsoft YaHei"/>
                <a:ea typeface="Microsoft YaHei"/>
              </a:rPr>
              <a:t>先看内容再提问，问题会更具体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8210550" y="4895850"/>
            <a:ext cx="2895600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读过一遍之后，你的问句里会自然带上文章里的词，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AI 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拿到的背景越多，答案就越贴你的情况。</a:t>
            </a:r>
            <a:endParaRPr/>
          </a:p>
        </p:txBody>
      </p:sp>
      <p:pic>
        <p:nvPicPr>
          <p:cNvPr id="2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五期上手课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17 / 33</a:t>
            </a:r>
            <a:endParaRPr/>
          </a:p>
        </p:txBody>
      </p:sp>
    </p:spTree>
  </p:cSld>
</p:sld>
</file>

<file path=ppt/slides/slide1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14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为什么「先读后问」更好&lt;/Text&gt;&#10;        &lt;Box style={{ width: 56, height: 4, borderRadius: 2, background: '#1F7A5C', marginTop: 8 }} /&gt;&#10;    &lt;/Box&gt;&#10;&#10;    &lt;Box style={{ height: 528, flexDirection: 'row', gap: 28 }}&gt;&#10;        &lt;Box style={{ width: 270, justifyContent: 'center' }}&gt;&#10;            &lt;Text style={{ fontSize: 180, fontWeight: 'bold', color: '#E08A3C', lineHeight: 1, letterSpacing: -4 }}&gt;2&lt;/Text&gt;&#10;            &lt;Text style={{ fontSize: 30, fontWeight: 'bold', color: '#1E3A32', marginTop: 14 }}&gt;种问法&lt;/Text&gt;&#10;            &lt;Text style={{ fontSize: 30, fontWeight: 'bold', color: '#1E3A32' }}&gt;两种结果&lt;/Text&gt;&#10;            &lt;Box style={{ width: 72, height: 5, borderRadius: 3, background: '#1F7A5C', marginTop: 20 }} /&gt;&#10;            &lt;Text style={{ fontSize: 20, color: '#6B7C75', lineHeight: 1.6, marginTop: 18 }}&gt;&#10;                少读三分钟，&lt;br /&gt;往往要多问四轮&#10;            &lt;/Text&gt;&#10;        &lt;/Box&gt;&#10;&#10;        &lt;Box style={{ flex: 1, flexDirection: 'row', gap: 20 }}&gt;&#10;            &lt;Box style={{&#10;                width: 540, height: 528, background: '#FFFFFF', borderRadius: 14, padding: 26,&#10;                boxShadow: '0 4px 20px rgba(30,58,50,0.08)',&#10;            }}&gt;&#10;                &lt;Box style={{ flexDirection: 'row', alignItems: 'center', gap: 12 }}&gt;&#10;                    &lt;Box style={{ width: 44, height: 44, borderRadius: 22, background: '#1F7A5C', justifyContent: 'center', alignItems: 'center' }}&gt;&#10;                        &lt;FAIcon name='book-open' style={{ fill: '#FFFFFF', width: 24, height: 24 }} /&gt;&#10;                    &lt;/Box&gt;&#10;                    &lt;Text style={{ fontSize: 27, fontWeight: 'bold', color: '#1F7A5C' }}&gt;先读一篇，再提问&lt;/Text&gt;&#10;                &lt;/Box&gt;&#10;&#10;                &lt;Box style={{ marginTop: 20, background: 'rgba(31,122,92,0.08)', borderRadius: 12, padding: 16 }}&gt;&#10;                    &lt;Text style={{ fontSize: 20, color: '#1E3A32', lineHeight: 1.55 }}&gt;&#10;                        「我看到文章里说要按周期调理，我这种经常出差、作息不规律的情况，周期要怎么安排？」&#10;                    &lt;/Text&gt;&#10;                &lt;/Box&gt;&#10;&#10;                &lt;Box style={{ marginTop: 20, gap: 12 }}&gt;&#10;                    &lt;Box style={{ flexDirection: 'row', gap: 12, alignItems: 'flex-start' }}&gt;&#10;                        &lt;FAIcon name='check-circle' style={{ fill: '#1F7A5C', width: 24, height: 24 }} /&gt;&#10;                        &lt;Text style={{ fontSize: 20, color: '#1E3A32', lineHeight: 1.55, flex: 1 }}&gt;&#10;                            问句里自带背景词：出差、作息、周期&#10;                        &lt;/Text&gt;&#10;                    &lt;/Box&gt;&#10;                    &lt;Box style={{ flexDirection: 'row', gap: 12, alignItems: 'flex-start' }}&gt;&#10;                        &lt;FAIcon name='check-circle' style={{ fill: '#1F7A5C', width: 24, height: 24 }} /&gt;&#10;                        &lt;Text style={{ fontSize: 20, color: '#1E3A32', lineHeight: 1.55, flex: 1 }}&gt;&#10;                            AI 一上来就知道你的场景，第一轮就给得出能直接用的答案&#10;                        &lt;/Text&gt;&#10;                    &lt;/Box&gt;&#10;                    &lt;Box style={{ flexDirection: 'row', gap: 12, alignItems: 'flex-start' }}&gt;&#10;                        &lt;FAIcon name='check-circle' style={{ fill: '#1F7A5C', width: 24, height: 24 }} /&gt;&#10;                        &lt;Text style={{ fontSize: 20, color: '#1E3A32', lineHeight: 1.55, flex: 1 }}&gt;&#10;                            拿到的答案可以直接转给客户，不用自己再加工一遍&#10;                        &lt;/Text&gt;&#10;                    &lt;/Box&gt;&#10;                &lt;/Box&gt;&#10;&#10;                &lt;Box style={{ marginTop: 'auto', background: '#1F7A5C', borderRadius: 12, padding: 16 }}&gt;&#10;                    &lt;Text style={{ fontSize: 21, fontWeight: 'bold', color: '#FFFFFF' }}&gt;&#10;                        通常 1–2 轮就能问到位&#10;                    &lt;/Text&gt;&#10;                &lt;/Box&gt;&#10;            &lt;/Box&gt;&#10;&#10;            &lt;Box style={{&#10;                flex: 1, height: 528, background: 'rgba(107,124,117,0.1)', borderRadius: 14, padding: 24,&#10;            }}&gt;&#10;                &lt;Box style={{ flexDirection: 'row', alignItems: 'center', gap: 12 }}&gt;&#10;                    &lt;Box style={{ width: 44, height: 44, borderRadius: 22, background: '#6B7C75', justifyContent: 'center', alignItems: 'center' }}&gt;&#10;                        &lt;FAIcon name='comment' style={{ fill: '#FFFFFF', width: 24, height: 24 }} /&gt;&#10;                    &lt;/Box&gt;&#10;                    &lt;Text style={{ fontSize: 25, fontWeight: 'bold', color: '#6B7C75' }}&gt;上来就问&lt;/Text&gt;&#10;                &lt;/Box&gt;&#10;&#10;                &lt;Box style={{ marginTop: 20, background: '#FFFFFF', borderRadius: 12, padding: 16 }}&gt;&#10;                    &lt;Text style={{ fontSize: 20, color: '#6B7C75', lineHeight: 1.55 }}&gt;&#10;                        「这个产品怎么吃？」&#10;                    &lt;/Text&gt;&#10;                &lt;/Box&gt;&#10;&#10;                &lt;Box style={{ marginTop: 20, gap: 12 }}&gt;&#10;                    &lt;Box style={{ flexDirection: 'row', gap: 12, alignItems: 'flex-start' }}&gt;&#10;                        &lt;FAIcon name='times-circle' style={{ fill: '#6B7C75', width: 24, height: 24 }} /&gt;&#10;                        &lt;Text style={{ fontSize: 19, color: '#6B7C75', lineHeight: 1.55, flex: 1 }}&gt;&#10;                            没有任何背景，AI 只能给通用说法&#10;                        &lt;/Text&gt;&#10;                    &lt;/Box&gt;&#10;                    &lt;Box style={{ flexDirection: 'row', gap: 12, alignItems: 'flex-start' }}&gt;&#10;                        &lt;FAIcon name='times-circle' style={{ fill: '#6B7C75', width: 24, height: 24 }} /&gt;&#10;                        &lt;Text style={{ fontSize: 19, color: '#6B7C75', lineHeight: 1.55, flex: 1 }}&gt;&#10;                            你得自己补充好几轮，它才知道你到底是谁&#10;                        &lt;/Text&gt;&#10;                    &lt;/Box&gt;&#10;                    &lt;Box style={{ flexDirection: 'row', gap: 12, alignItems: 'flex-start' }}&gt;&#10;                        &lt;FAIcon name='times-circle' style={{ fill: '#6B7C75', width: 24, height: 24 }} /&gt;&#10;                        &lt;Text style={{ fontSize: 19, color: '#6B7C75', lineHeight: 1.55, flex: 1 }}&gt;&#10;                            问到后面容易忘了最初要问什么&#10;                        &lt;/Text&gt;&#10;                    &lt;/Box&gt;&#10;                &lt;/Box&gt;&#10;&#10;                &lt;Box style={{ marginTop: 'auto', background: '#6B7C75', borderRadius: 12, padding: 16 }}&gt;&#10;                    &lt;Text style={{ fontSize: 21, fontWeight: 'bold', color: '#FFFFFF' }}&gt;&#10;                        通常要 3–4 轮&#10;                    &lt;/Text&gt;&#10;                &lt;/Box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五期上手课&lt;/Text&gt;&#10;        &lt;/Box&gt;&#10;        &lt;Text style={{ fontSize: 14, color: '#6B7C75' }}&gt;18 / 3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为什么「先读后问」更好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685800" y="1647825"/>
            <a:ext cx="2571750" cy="2057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0" b="1" spc="-300">
                <a:solidFill>
                  <a:srgbClr val="E08A3C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685800" y="3838575"/>
            <a:ext cx="2571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3A32"/>
                </a:solidFill>
                <a:latin typeface="Microsoft YaHei"/>
                <a:ea typeface="Microsoft YaHei"/>
              </a:rPr>
              <a:t>种问法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85800" y="4181475"/>
            <a:ext cx="2571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3A32"/>
                </a:solidFill>
                <a:latin typeface="Microsoft YaHei"/>
                <a:ea typeface="Microsoft YaHei"/>
              </a:rPr>
              <a:t>两种结果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685800" y="4714875"/>
            <a:ext cx="685800" cy="47625"/>
          </a:xfrm>
          <a:prstGeom prst="roundRect">
            <a:avLst>
              <a:gd name="adj" fmla="val 6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85800" y="4933950"/>
            <a:ext cx="2571750" cy="733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少读三分钟，</a:t>
            </a:r>
            <a:endParaRPr/>
          </a:p>
          <a:p>
            <a:pPr>
              <a:lnSpc>
                <a:spcPct val="160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往往要多问四轮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3524250" y="1143000"/>
            <a:ext cx="5143500" cy="5029200"/>
          </a:xfrm>
          <a:prstGeom prst="roundRect">
            <a:avLst>
              <a:gd name="adj" fmla="val 2652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4" name=""/>
          <p:cNvSpPr/>
          <p:nvPr/>
        </p:nvSpPr>
        <p:spPr>
          <a:xfrm rot="0" flipH="0" flipV="0">
            <a:off x="3771900" y="13906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2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67150" y="1485900"/>
            <a:ext cx="228600" cy="228600"/>
          </a:xfrm>
          <a:prstGeom prst="rect">
            <a:avLst/>
          </a:prstGeom>
          <a:ln/>
        </p:spPr>
      </p:pic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4305300" y="1447800"/>
            <a:ext cx="20574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F7A5C"/>
                </a:solidFill>
                <a:latin typeface="Microsoft YaHei"/>
                <a:ea typeface="Microsoft YaHei"/>
              </a:rPr>
              <a:t>先读一篇，再提问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3771900" y="2000250"/>
            <a:ext cx="4648200" cy="1019175"/>
          </a:xfrm>
          <a:prstGeom prst="roundRect">
            <a:avLst>
              <a:gd name="adj" fmla="val 11215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3924300" y="2152650"/>
            <a:ext cx="43434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「我看到文章里说要按周期调理，我这种经常出差、作息不规律的情况，周期要怎么安排？」</a:t>
            </a:r>
            <a:endParaRPr/>
          </a:p>
        </p:txBody>
      </p:sp>
      <p:pic>
        <p:nvPicPr>
          <p:cNvPr id="2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771900" y="3209925"/>
            <a:ext cx="228600" cy="228600"/>
          </a:xfrm>
          <a:prstGeom prst="rect">
            <a:avLst/>
          </a:prstGeom>
          <a:ln/>
        </p:spPr>
      </p:pic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4114800" y="3209925"/>
            <a:ext cx="4305300" cy="3619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问句里自带背景词：出差、作息、周期</a:t>
            </a:r>
            <a:endParaRPr/>
          </a:p>
        </p:txBody>
      </p:sp>
      <p:pic>
        <p:nvPicPr>
          <p:cNvPr id="2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771900" y="3686175"/>
            <a:ext cx="228600" cy="228600"/>
          </a:xfrm>
          <a:prstGeom prst="rect">
            <a:avLst/>
          </a:prstGeom>
          <a:ln/>
        </p:spPr>
      </p:pic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4114800" y="3686175"/>
            <a:ext cx="43053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AI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一上来就知道你的场景，第一轮就给得出能直接用的答案</a:t>
            </a:r>
            <a:endParaRPr/>
          </a:p>
        </p:txBody>
      </p:sp>
      <p:pic>
        <p:nvPicPr>
          <p:cNvPr id="2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771900" y="4514850"/>
            <a:ext cx="228600" cy="228600"/>
          </a:xfrm>
          <a:prstGeom prst="rect">
            <a:avLst/>
          </a:prstGeom>
          <a:ln/>
        </p:spPr>
      </p:pic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4114800" y="4514850"/>
            <a:ext cx="43053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拿到的答案可以直接转给客户，不用自己再加工一遍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3771900" y="5372100"/>
            <a:ext cx="4648200" cy="552450"/>
          </a:xfrm>
          <a:prstGeom prst="roundRect">
            <a:avLst>
              <a:gd name="adj" fmla="val 2069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3924300" y="5524500"/>
            <a:ext cx="4343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通常</a:t>
            </a: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 1–2 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轮就能问到位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8858250" y="1143000"/>
            <a:ext cx="2647950" cy="5029200"/>
          </a:xfrm>
          <a:prstGeom prst="roundRect">
            <a:avLst>
              <a:gd name="adj" fmla="val 5036"/>
            </a:avLst>
          </a:prstGeom>
          <a:solidFill>
            <a:srgbClr val="6B7C75">
              <a:alpha val="10000"/>
            </a:srgbClr>
          </a:solidFill>
          <a:ln/>
        </p:spPr>
        <p:txBody>
          <a:bodyPr/>
          <a:p/>
        </p:txBody>
      </p:sp>
      <p:sp>
        <p:nvSpPr>
          <p:cNvPr id="238" name=""/>
          <p:cNvSpPr/>
          <p:nvPr/>
        </p:nvSpPr>
        <p:spPr>
          <a:xfrm rot="0" flipH="0" flipV="0">
            <a:off x="9086850" y="13716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6B7C75"/>
          </a:solidFill>
          <a:ln/>
        </p:spPr>
        <p:txBody>
          <a:bodyPr/>
          <a:p/>
        </p:txBody>
      </p:sp>
      <p:pic>
        <p:nvPicPr>
          <p:cNvPr id="2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182100" y="1466850"/>
            <a:ext cx="228600" cy="228600"/>
          </a:xfrm>
          <a:prstGeom prst="rect">
            <a:avLst/>
          </a:prstGeom>
          <a:ln/>
        </p:spPr>
      </p:pic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9620250" y="1438275"/>
            <a:ext cx="9525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6B7C75"/>
                </a:solidFill>
                <a:latin typeface="Microsoft YaHei"/>
                <a:ea typeface="Microsoft YaHei"/>
              </a:rPr>
              <a:t>上来就问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9086850" y="1981200"/>
            <a:ext cx="2190750" cy="1019175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9239250" y="2133600"/>
            <a:ext cx="18859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「这个产品怎么吃？」</a:t>
            </a:r>
            <a:endParaRPr/>
          </a:p>
        </p:txBody>
      </p:sp>
      <p:pic>
        <p:nvPicPr>
          <p:cNvPr id="2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086850" y="3190875"/>
            <a:ext cx="228600" cy="228600"/>
          </a:xfrm>
          <a:prstGeom prst="rect">
            <a:avLst/>
          </a:prstGeom>
          <a:ln/>
        </p:spPr>
      </p:pic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9429750" y="3190875"/>
            <a:ext cx="184785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没有任何背景，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AI 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只能给通用说法</a:t>
            </a:r>
            <a:endParaRPr/>
          </a:p>
        </p:txBody>
      </p:sp>
      <p:pic>
        <p:nvPicPr>
          <p:cNvPr id="2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086850" y="3981450"/>
            <a:ext cx="228600" cy="228600"/>
          </a:xfrm>
          <a:prstGeom prst="rect">
            <a:avLst/>
          </a:prstGeom>
          <a:ln/>
        </p:spPr>
      </p:pic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9429750" y="3981450"/>
            <a:ext cx="184785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你得自己补充好几轮，它才知道你到底是谁</a:t>
            </a:r>
            <a:endParaRPr/>
          </a:p>
        </p:txBody>
      </p:sp>
      <p:pic>
        <p:nvPicPr>
          <p:cNvPr id="2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086850" y="4772025"/>
            <a:ext cx="228600" cy="228600"/>
          </a:xfrm>
          <a:prstGeom prst="rect">
            <a:avLst/>
          </a:prstGeom>
          <a:ln/>
        </p:spPr>
      </p:pic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9429750" y="4772025"/>
            <a:ext cx="184785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问到后面容易忘了最初要问什么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9086850" y="5391150"/>
            <a:ext cx="2190750" cy="552450"/>
          </a:xfrm>
          <a:prstGeom prst="roundRect">
            <a:avLst>
              <a:gd name="adj" fmla="val 20690"/>
            </a:avLst>
          </a:prstGeom>
          <a:solidFill>
            <a:srgbClr val="6B7C75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9239250" y="5543550"/>
            <a:ext cx="1885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通常要</a:t>
            </a: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 3–4 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轮</a:t>
            </a:r>
            <a:endParaRPr/>
          </a:p>
        </p:txBody>
      </p:sp>
      <p:pic>
        <p:nvPicPr>
          <p:cNvPr id="25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五期上手课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18 / 33</a:t>
            </a:r>
            <a:endParaRPr/>
          </a:p>
        </p:txBody>
      </p:sp>
    </p:spTree>
  </p:cSld>
</p:sld>
</file>

<file path=ppt/slides/slide1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54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产品模块怎么看&lt;/Text&gt;&#10;        &lt;Box style={{ width: 56, height: 4, borderRadius: 2, background: '#1F7A5C', marginTop: 8 }} /&gt;&#10;    &lt;/Box&gt;&#10;&#10;    &lt;Box style={{ height: 528, flexDirection: 'row', gap: 28 }}&gt;&#10;        &lt;Box style={{ width: 310 }}&gt;&#10;            &lt;Text style={{ fontSize: 26, fontWeight: 'bold', color: '#1F7A5C', lineHeight: 1.45 }}&gt;&#10;                产品资料是提问的&lt;br /&gt;&quot;参考答案&quot;&#10;            &lt;/Text&gt;&#10;            &lt;Text style={{ fontSize: 20, color: '#6B7C75', lineHeight: 1.6, marginTop: 20 }}&gt;&#10;                产品模块里是公司整理好的标准说法。先把这些看过一遍，你问出来的问题会更专业，也更接近客户真正会问的那种。&#10;            &lt;/Text&gt;&#10;            &lt;Text style={{ fontSize: 20, color: '#6B7C75', lineHeight: 1.6, marginTop: 16 }}&gt;&#10;                更重要的是：看过标准说法之后，你一眼就能发现 AI 回答里有没有跑偏。&#10;            &lt;/Text&gt;&#10;            &lt;Box style={{&#10;                marginTop: 24, background: 'rgba(31,122,92,0.08)', borderRadius: 14, padding: 16,&#10;            }}&gt;&#10;                &lt;Text style={{ fontSize: 19, color: '#1E3A32', lineHeight: 1.55 }}&gt;&#10;                    别问&quot;介绍一下这个产品&quot;，这种问法拿到的答案最没有信息量。&#10;                &lt;/Text&gt;&#10;            &lt;/Box&gt;&#10;        &lt;/Box&gt;&#10;&#10;        &lt;Box style={{ flex: 1, gap: 14 }}&gt;&#10;            &lt;Box style={{&#10;                flexDirection: 'row', gap: 18, background: '#FFFFFF', borderRadius: 14, padding: 20,&#10;                height: 130, boxShadow: '0 4px 20px rgba(30,58,50,0.08)',&#10;            }}&gt;&#10;                &lt;Box style={{ width: 50, height: 50, borderRadius: 25, background: '#1F7A5C', justifyContent: 'center', alignItems: 'center' }}&gt;&#10;                    &lt;Text style={{ fontSize: 24, fontWeight: 'bold', color: '#FFFFFF' }}&gt;1&lt;/Text&gt;&#10;                &lt;/Box&gt;&#10;                &lt;Box style={{ flex: 1, justifyContent: 'center' }}&gt;&#10;                    &lt;Text style={{ fontSize: 25, fontWeight: 'bold', color: '#1E3A32' }}&gt;先看分类&lt;/Text&gt;&#10;                    &lt;Text style={{ fontSize: 19, color: '#6B7C75', lineHeight: 1.55, marginTop: 6 }}&gt;&#10;                        按分类找到你要了解的那条产品线，先看清公司一共有哪些品类、各自定位是什么，别一上来就搜一个名字。&#10;                    &lt;/Text&gt;&#10;                &lt;/Box&gt;&#10;            &lt;/Box&gt;&#10;&#10;            &lt;Box style={{&#10;                flexDirection: 'row', gap: 18, background: '#FFFFFF', borderRadius: 14, padding: 20,&#10;                height: 130, boxShadow: '0 4px 20px rgba(30,58,50,0.08)',&#10;            }}&gt;&#10;                &lt;Box style={{ width: 50, height: 50, borderRadius: 25, background: '#1F7A5C', justifyContent: 'center', alignItems: 'center' }}&gt;&#10;                    &lt;Text style={{ fontSize: 24, fontWeight: 'bold', color: '#FFFFFF' }}&gt;2&lt;/Text&gt;&#10;                &lt;/Box&gt;&#10;                &lt;Box style={{ flex: 1, justifyContent: 'center' }}&gt;&#10;                    &lt;Text style={{ fontSize: 25, fontWeight: 'bold', color: '#1E3A32' }}&gt;再看亮点&lt;/Text&gt;&#10;                    &lt;Text style={{ fontSize: 19, color: '#6B7C75', lineHeight: 1.55, marginTop: 6 }}&gt;&#10;                        产品卡上被高亮出来的那几句，通常就是客户最常问、也最容易卡住的点，值得单独记一下。&#10;                    &lt;/Text&gt;&#10;                &lt;/Box&gt;&#10;            &lt;/Box&gt;&#10;&#10;            &lt;Box style={{&#10;                flexDirection: 'row', gap: 18, background: 'rgba(224,138,60,0.14)', borderRadius: 14, padding: 20,&#10;                height: 130,&#10;            }}&gt;&#10;                &lt;Box style={{ width: 50, height: 50, borderRadius: 25, background: '#E08A3C', justifyContent: 'center', alignItems: 'center' }}&gt;&#10;                    &lt;Text style={{ fontSize: 24, fontWeight: 'bold', color: '#FFFFFF' }}&gt;3&lt;/Text&gt;&#10;                &lt;/Box&gt;&#10;                &lt;Box style={{ flex: 1, justifyContent: 'center' }}&gt;&#10;                    &lt;Text style={{ fontSize: 25, fontWeight: 'bold', color: '#1E3A32' }}&gt;拎一点去问&lt;/Text&gt;&#10;                    &lt;Text style={{ fontSize: 19, color: '#6B7C75', lineHeight: 1.55, marginTop: 6 }}&gt;&#10;                        把最关心的那一点单独拎出来提问。问一句&quot;这个产品适合哪些人&quot;，比问&quot;介绍一下这个产品&quot;有用得多。&#10;                    &lt;/Text&gt;&#10;                &lt;/Box&gt;&#10;            &lt;/Box&gt;&#10;&#10;            &lt;Box style={{ height: 110, background: '#FFFFFF', borderRadius: 14, padding: 18, boxShadow: '0 4px 20px rgba(30,58,50,0.08)' }}&gt;&#10;                &lt;Text style={{ fontSize: 21, fontWeight: 'bold', color: '#1F7A5C' }}&gt;看完产品卡，推荐这样问&lt;/Text&gt;&#10;                &lt;Box style={{ flexDirection: 'row', gap: 12, marginTop: 12 }}&gt;&#10;                    &lt;Box style={{ background: 'rgba(31,122,92,0.08)', borderRadius: 12, padding: 10 }}&gt;&#10;                        &lt;Text style={{ fontSize: 19, color: '#1E3A32' }}&gt;适合哪些人？&lt;/Text&gt;&#10;                    &lt;/Box&gt;&#10;                    &lt;Box style={{ background: 'rgba(31,122,92,0.08)', borderRadius: 12, padding: 10 }}&gt;&#10;                        &lt;Text style={{ fontSize: 19, color: '#1E3A32' }}&gt;主要特点是什么？&lt;/Text&gt;&#10;                    &lt;/Box&gt;&#10;                    &lt;Box style={{ background: 'rgba(31,122,92,0.08)', borderRadius: 12, padding: 10 }}&gt;&#10;                        &lt;Text style={{ fontSize: 19, color: '#1E3A32' }}&gt;我该重点看哪一点？&lt;/Text&gt;&#10;                    &lt;/Box&gt;&#10;                &lt;/Box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五期上手课&lt;/Text&gt;&#10;        &lt;/Box&gt;&#10;        &lt;Text style={{ fontSize: 14, color: '#6B7C75' }}&gt;19 / 3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产品模块怎么看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952750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产品资料是提问的</a:t>
            </a:r>
            <a:endParaRPr/>
          </a:p>
          <a:p>
            <a:pPr>
              <a:lnSpc>
                <a:spcPct val="145000"/>
              </a:lnSpc>
            </a:pPr>
            <a:r>
              <a:rPr lang="en-US" sz="1950" b="1">
                <a:solidFill>
                  <a:srgbClr val="1F7A5C"/>
                </a:solidFill>
                <a:latin typeface="Microsoft YaHei"/>
                <a:ea typeface="Microsoft YaHei"/>
              </a:rPr>
              <a:t>"</a:t>
            </a: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参考答案</a:t>
            </a:r>
            <a:r>
              <a:rPr lang="en-US" sz="1950" b="1">
                <a:solidFill>
                  <a:srgbClr val="1F7A5C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685800" y="2200275"/>
            <a:ext cx="2952750" cy="1466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产品模块里是公司整理好的标准说法。先把这些看过一遍，你问出来的问题会更专业，也更接近客户真正会问的那种。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685800" y="3819525"/>
            <a:ext cx="295275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更重要的是：看过标准说法之后，你一眼就能发现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 AI 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回答里有没有跑偏。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685800" y="5153025"/>
            <a:ext cx="2952750" cy="981075"/>
          </a:xfrm>
          <a:prstGeom prst="roundRect">
            <a:avLst>
              <a:gd name="adj" fmla="val 13592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838200" y="5305425"/>
            <a:ext cx="264795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别问</a:t>
            </a:r>
            <a:r>
              <a:rPr lang="en-US" sz="1425">
                <a:solidFill>
                  <a:srgbClr val="1E3A32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介绍一下这个产品</a:t>
            </a:r>
            <a:r>
              <a:rPr lang="en-US" sz="1425">
                <a:solidFill>
                  <a:srgbClr val="1E3A32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，这种问法拿到的答案最没有信息量。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3905250" y="1143000"/>
            <a:ext cx="7600950" cy="123825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4" name=""/>
          <p:cNvSpPr/>
          <p:nvPr/>
        </p:nvSpPr>
        <p:spPr>
          <a:xfrm rot="0" flipH="0" flipV="0">
            <a:off x="4095750" y="133350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4267200" y="1438275"/>
            <a:ext cx="1333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4743450" y="1333500"/>
            <a:ext cx="65722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先看分类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4743450" y="1676400"/>
            <a:ext cx="657225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按分类找到你要了解的那条产品线，先看清公司一共有哪些品类、各自定位是什么，别一上来就搜一个名字。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3905250" y="2514600"/>
            <a:ext cx="7600950" cy="123825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9" name=""/>
          <p:cNvSpPr/>
          <p:nvPr/>
        </p:nvSpPr>
        <p:spPr>
          <a:xfrm rot="0" flipH="0" flipV="0">
            <a:off x="4095750" y="270510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4267200" y="2809875"/>
            <a:ext cx="1333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4743450" y="2705100"/>
            <a:ext cx="65722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再看亮点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4743450" y="3048000"/>
            <a:ext cx="657225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产品卡上被高亮出来的那几句，通常就是客户最常问、也最容易卡住的点，值得单独记一下。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3905250" y="3886200"/>
            <a:ext cx="7600950" cy="1238250"/>
          </a:xfrm>
          <a:prstGeom prst="roundRect">
            <a:avLst>
              <a:gd name="adj" fmla="val 10769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274" name=""/>
          <p:cNvSpPr/>
          <p:nvPr/>
        </p:nvSpPr>
        <p:spPr>
          <a:xfrm rot="0" flipH="0" flipV="0">
            <a:off x="4095750" y="407670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4267200" y="4181475"/>
            <a:ext cx="1333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4743450" y="4076700"/>
            <a:ext cx="65722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拎一点去问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4743450" y="4419600"/>
            <a:ext cx="657225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把最关心的那一点单独拎出来提问。问一句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这个产品适合哪些人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，比问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介绍一下这个产品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有用得多。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3905250" y="5257800"/>
            <a:ext cx="7600950" cy="104775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4076700" y="5429250"/>
            <a:ext cx="7258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F7A5C"/>
                </a:solidFill>
                <a:latin typeface="Microsoft YaHei"/>
                <a:ea typeface="Microsoft YaHei"/>
              </a:rPr>
              <a:t>看完产品卡，推荐这样问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4076700" y="5791200"/>
            <a:ext cx="1276350" cy="409575"/>
          </a:xfrm>
          <a:prstGeom prst="roundRect">
            <a:avLst>
              <a:gd name="adj" fmla="val 27907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4171950" y="5886450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适合哪些人？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5467350" y="5791200"/>
            <a:ext cx="1638300" cy="409575"/>
          </a:xfrm>
          <a:prstGeom prst="roundRect">
            <a:avLst>
              <a:gd name="adj" fmla="val 27907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5562600" y="5886450"/>
            <a:ext cx="1447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主要特点是什么？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7219950" y="5791200"/>
            <a:ext cx="1819275" cy="409575"/>
          </a:xfrm>
          <a:prstGeom prst="roundRect">
            <a:avLst>
              <a:gd name="adj" fmla="val 27907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7315200" y="5886450"/>
            <a:ext cx="1628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我该重点看哪一点？</a:t>
            </a:r>
            <a:endParaRPr/>
          </a:p>
        </p:txBody>
      </p:sp>
      <p:pic>
        <p:nvPicPr>
          <p:cNvPr id="28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五期上手课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19 / 33</a:t>
            </a:r>
            <a:endParaRPr/>
          </a:p>
        </p:txBody>
      </p:sp>
    </p:spTree>
  </p:cSld>
</p:sld>
</file>

<file path=ppt/slides/slide20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20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历史记录与热门问题&lt;/Text&gt;&#10;        &lt;Box style={{ width: 56, height: 4, borderRadius: 2, background: '#1F7A5C', marginTop: 8 }} /&gt;&#10;    &lt;/Box&gt;&#10;&#10;    &lt;Box style={{ height: 528, flexDirection: 'row', gap: 28 }}&gt;&#10;        &lt;Box style={{ width: 710 }}&gt;&#10;            &lt;Text style={{ fontSize: 26, fontWeight: 'bold', color: '#1F7A5C', lineHeight: 1.4 }}&gt;&#10;                你问过的每一句，都还在这儿&#10;            &lt;/Text&gt;&#10;&#10;            &lt;Box style={{ marginTop: 18, background: '#FFFFFF', borderRadius: 14, padding: 20, boxShadow: '0 4px 20px rgba(30,58,50,0.08)' }}&gt;&#10;                &lt;svg width=&quot;670&quot; height=&quot;200&quot; viewBox=&quot;0 0 670 200&quot;&gt;&#10;                    &lt;path d=&quot;M28 24 V176&quot; stroke=&quot;#A8D5BA&quot; strokeWidth=&quot;4&quot; /&gt;&#10;                    &lt;circle cx=&quot;28&quot; cy=&quot;38&quot; r=&quot;12&quot; fill=&quot;#1F7A5C&quot; /&gt;&#10;                    &lt;circle cx=&quot;28&quot; cy=&quot;100&quot; r=&quot;12&quot; fill=&quot;#1F7A5C&quot; /&gt;&#10;                    &lt;circle cx=&quot;28&quot; cy=&quot;162&quot; r=&quot;12&quot; fill=&quot;#E08A3C&quot; /&gt;&#10;&#10;                    &lt;rect x=&quot;60&quot; y=&quot;14&quot; width=&quot;600&quot; height=&quot;48&quot; rx=&quot;12&quot; fill=&quot;rgba(168,213,186,0.32)&quot; /&gt;&#10;                    &lt;text x=&quot;80&quot; y=&quot;44&quot; fontSize=&quot;19&quot; fill=&quot;#1E3A32&quot; fontFamily=&quot;PingFang SC&quot;&gt;今天 10:24　这个产品适合什么人？&lt;/text&gt;&#10;&#10;                    &lt;rect x=&quot;60&quot; y=&quot;76&quot; width=&quot;600&quot; height=&quot;48&quot; rx=&quot;12&quot; fill=&quot;rgba(168,213,186,0.32)&quot; /&gt;&#10;                    &lt;text x=&quot;80&quot; y=&quot;106&quot; fontSize=&quot;19&quot; fill=&quot;#1E3A32&quot; fontFamily=&quot;PingFang SC&quot;&gt;今天 14:02　连续吃多久算一个周期？&lt;/text&gt;&#10;&#10;                    &lt;rect x=&quot;60&quot; y=&quot;138&quot; width=&quot;600&quot; height=&quot;48&quot; rx=&quot;12&quot; fill=&quot;rgba(224,138,60,0.16)&quot; /&gt;&#10;                    &lt;text x=&quot;80&quot; y=&quot;168&quot; fontSize=&quot;19&quot; fill=&quot;#1E3A32&quot; fontFamily=&quot;PingFang SC&quot;&gt;昨天 16:40　有没有和我情况差不多的案例？&lt;/text&gt;&#10;                &lt;/svg&gt;&#10;            &lt;/Box&gt;&#10;&#10;            &lt;Box style={{ marginTop: 20, gap: 12 }}&gt;&#10;                &lt;Box style={{ flexDirection: 'row', gap: 12, alignItems: 'flex-start' }}&gt;&#10;                    &lt;FAIcon name='check-circle' style={{ fill: '#1F7A5C', width: 24, height: 24 }} /&gt;&#10;                    &lt;Text style={{ fontSize: 20, color: '#1E3A32', lineHeight: 1.55, flex: 1 }}&gt;&#10;                        历史按会话一组一组保存，点开就能接着上次的话题继续问，不用重新讲一遍背景。&#10;                    &lt;/Text&gt;&#10;                &lt;/Box&gt;&#10;                &lt;Box style={{ flexDirection: 'row', gap: 12, alignItems: 'flex-start' }}&gt;&#10;                    &lt;FAIcon name='check-circle' style={{ fill: '#1F7A5C', width: 24, height: 24 }} /&gt;&#10;                    &lt;Text style={{ fontSize: 20, color: '#1E3A32', lineHeight: 1.55, flex: 1 }}&gt;&#10;                        不想留的记录可以勾选后批量删除——删掉的是你这台设备上的显示，不会删掉别人的。&#10;                    &lt;/Text&gt;&#10;                &lt;/Box&gt;&#10;            &lt;/Box&gt;&#10;        &lt;/Box&gt;&#10;&#10;        &lt;Box style={{ flex: 1 }}&gt;&#10;            &lt;Text style={{ fontSize: 26, fontWeight: 'bold', color: '#1F7A5C', lineHeight: 1.45 }}&gt;&#10;                不知道问什么？&lt;br /&gt;先看看别人在问什么&#10;            &lt;/Text&gt;&#10;            &lt;Text style={{ fontSize: 19, color: '#6B7C75', lineHeight: 1.6, marginTop: 16 }}&gt;&#10;                热门问题来自真实的提问统计，是现成的选题库和话题库。&#10;            &lt;/Text&gt;&#10;&#10;            &lt;Box style={{ marginTop: 18, flexDirection: 'row', flexWrap: 'wrap', gap: 12 }}&gt;&#10;                &lt;Box style={{ background: '#FFFFFF', borderRadius: 16, padding: 12, boxShadow: '0 4px 20px rgba(30,58,50,0.08)' }}&gt;&#10;                    &lt;Text style={{ fontSize: 19, color: '#1E3A32' }}&gt;适合什么人&lt;/Text&gt;&#10;                &lt;/Box&gt;&#10;                &lt;Box style={{ background: '#FFFFFF', borderRadius: 16, padding: 12, boxShadow: '0 4px 20px rgba(30,58,50,0.08)' }}&gt;&#10;                    &lt;Text style={{ fontSize: 19, color: '#1E3A32' }}&gt;多久见效&lt;/Text&gt;&#10;                &lt;/Box&gt;&#10;                &lt;Box style={{ background: '#FFFFFF', borderRadius: 16, padding: 12, boxShadow: '0 4px 20px rgba(30,58,50,0.08)' }}&gt;&#10;                    &lt;Text style={{ fontSize: 19, color: '#1E3A32' }}&gt;能不能长期吃&lt;/Text&gt;&#10;                &lt;/Box&gt;&#10;                &lt;Box style={{ background: '#FFFFFF', borderRadius: 16, padding: 12, boxShadow: '0 4px 20px rgba(30,58,50,0.08)' }}&gt;&#10;                    &lt;Text style={{ fontSize: 19, color: '#1E3A32' }}&gt;和别的怎么搭&lt;/Text&gt;&#10;                &lt;/Box&gt;&#10;                &lt;Box style={{ background: 'rgba(224,138,60,0.16)', borderRadius: 16, padding: 12 }}&gt;&#10;                    &lt;Text style={{ fontSize: 19, color: '#C9742B' }}&gt;空腹可以吗&lt;/Text&gt;&#10;                &lt;/Box&gt;&#10;                &lt;Box style={{ background: 'rgba(224,138,60,0.16)', borderRadius: 16, padding: 12 }}&gt;&#10;                    &lt;Text style={{ fontSize: 19, color: '#C9742B' }}&gt;出差怎么带&lt;/Text&gt;&#10;                &lt;/Box&gt;&#10;            &lt;/Box&gt;&#10;&#10;            &lt;Box style={{&#10;                marginTop: 'auto', background: 'rgba(31,122,92,0.08)', borderRadius: 14, padding: 18,&#10;            }}&gt;&#10;                &lt;Text style={{ fontSize: 20, color: '#1E3A32', lineHeight: 1.55, fontWeight: 'bold' }}&gt;&#10;                    抄一句热门问题回来问，是新人最快熟悉产品的办法。&#10;                &lt;/Text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五期上手课&lt;/Text&gt;&#10;        &lt;/Box&gt;&#10;        &lt;Text style={{ fontSize: 14, color: '#6B7C75' }}&gt;20 / 3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历史记录与热门问题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6762750" cy="4191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你问过的每一句，都还在这儿</a:t>
            </a:r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685800" y="1733550"/>
            <a:ext cx="6762750" cy="228600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3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" y="1924050"/>
            <a:ext cx="6381750" cy="1905000"/>
          </a:xfrm>
          <a:prstGeom prst="rect">
            <a:avLst/>
          </a:prstGeom>
          <a:ln/>
        </p:spPr>
      </p:pic>
      <p:pic>
        <p:nvPicPr>
          <p:cNvPr id="3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85800" y="4210050"/>
            <a:ext cx="228600" cy="228600"/>
          </a:xfrm>
          <a:prstGeom prst="rect">
            <a:avLst/>
          </a:prstGeom>
          <a:ln/>
        </p:spPr>
      </p:pic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1028700" y="4210050"/>
            <a:ext cx="64198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历史按会话一组一组保存，点开就能接着上次的话题继续问，不用重新讲一遍背景。</a:t>
            </a:r>
            <a:endParaRPr/>
          </a:p>
        </p:txBody>
      </p:sp>
      <p:pic>
        <p:nvPicPr>
          <p:cNvPr id="3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85800" y="5038725"/>
            <a:ext cx="228600" cy="228600"/>
          </a:xfrm>
          <a:prstGeom prst="rect">
            <a:avLst/>
          </a:prstGeom>
          <a:ln/>
        </p:spPr>
      </p:pic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1028700" y="5038725"/>
            <a:ext cx="64198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不想留的记录可以勾选后批量删除——删掉的是你这台设备上的显示，不会删掉别人的。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7715250" y="1143000"/>
            <a:ext cx="3790950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不知道问什么？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先看看别人在问什么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7715250" y="2162175"/>
            <a:ext cx="37909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热门问题来自真实的提问统计，是现成的选题库和话题库。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7715250" y="3028950"/>
            <a:ext cx="1133475" cy="447675"/>
          </a:xfrm>
          <a:prstGeom prst="roundRect">
            <a:avLst>
              <a:gd name="adj" fmla="val 3404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7829550" y="3143250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适合什么人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8963025" y="3028950"/>
            <a:ext cx="952500" cy="447675"/>
          </a:xfrm>
          <a:prstGeom prst="roundRect">
            <a:avLst>
              <a:gd name="adj" fmla="val 3404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9077325" y="314325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多久见效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10029825" y="3028950"/>
            <a:ext cx="1314450" cy="447675"/>
          </a:xfrm>
          <a:prstGeom prst="roundRect">
            <a:avLst>
              <a:gd name="adj" fmla="val 3404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10144125" y="3143250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能不能长期吃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7715250" y="3590925"/>
            <a:ext cx="1314450" cy="447675"/>
          </a:xfrm>
          <a:prstGeom prst="roundRect">
            <a:avLst>
              <a:gd name="adj" fmla="val 3404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7829550" y="3705225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和别的怎么搭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9144000" y="3590925"/>
            <a:ext cx="1133475" cy="447675"/>
          </a:xfrm>
          <a:prstGeom prst="roundRect">
            <a:avLst>
              <a:gd name="adj" fmla="val 34043"/>
            </a:avLst>
          </a:prstGeom>
          <a:solidFill>
            <a:srgbClr val="E08A3C">
              <a:alpha val="16000"/>
            </a:srgbClr>
          </a:solidFill>
          <a:ln/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9258300" y="3705225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C9742B"/>
                </a:solidFill>
                <a:latin typeface="Microsoft YaHei"/>
                <a:ea typeface="Microsoft YaHei"/>
              </a:rPr>
              <a:t>空腹可以吗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7715250" y="4152900"/>
            <a:ext cx="1133475" cy="447675"/>
          </a:xfrm>
          <a:prstGeom prst="roundRect">
            <a:avLst>
              <a:gd name="adj" fmla="val 34043"/>
            </a:avLst>
          </a:prstGeom>
          <a:solidFill>
            <a:srgbClr val="E08A3C">
              <a:alpha val="16000"/>
            </a:srgbClr>
          </a:solidFill>
          <a:ln/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7829550" y="4267200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C9742B"/>
                </a:solidFill>
                <a:latin typeface="Microsoft YaHei"/>
                <a:ea typeface="Microsoft YaHei"/>
              </a:rPr>
              <a:t>出差怎么带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7715250" y="5114925"/>
            <a:ext cx="3790950" cy="1057275"/>
          </a:xfrm>
          <a:prstGeom prst="roundRect">
            <a:avLst>
              <a:gd name="adj" fmla="val 12613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7886700" y="5286375"/>
            <a:ext cx="34480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 b="1">
                <a:solidFill>
                  <a:srgbClr val="1E3A32"/>
                </a:solidFill>
                <a:latin typeface="Microsoft YaHei"/>
                <a:ea typeface="Microsoft YaHei"/>
              </a:rPr>
              <a:t>抄一句热门问题回来问，是新人最快熟悉产品的办法。</a:t>
            </a:r>
            <a:endParaRPr/>
          </a:p>
        </p:txBody>
      </p:sp>
      <p:pic>
        <p:nvPicPr>
          <p:cNvPr id="3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五期上手课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20 / 33</a:t>
            </a:r>
            <a:endParaRPr/>
          </a:p>
        </p:txBody>
      </p:sp>
    </p:spTree>
  </p:cSld>
</p:sld>
</file>

<file path=ppt/slides/slide2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50" name="" descr="&lt;Slide style={{ background: '#F7FAF6', padding: 0 }}&gt;&#10;    &lt;Box style={{ flexDirection: 'row', width: '100%', height: '100%' }}&gt;&#10;        &lt;Box style={{&#10;            width: 742, height: '100%',&#10;            background: 'linear-gradient(135deg, #1F7A5C 0%, #2E9B77 100%)',&#10;            paddingLeft: 72, paddingRight: 48, justifyContent: 'center',&#10;        }}&gt;&#10;            &lt;Text style={{ fontSize: 120, fontWeight: 'bold', color: '#FFFFFF', opacity: 0.28, lineHeight: 1 }}&gt;04&lt;/Text&gt;&#10;            &lt;Text style={{ fontSize: 68, fontWeight: 'bold', color: '#FFFFFF', lineHeight: 1.15, marginTop: 12 }}&gt;&#10;                把经验变成参考&#10;            &lt;/Text&gt;&#10;            &lt;Box style={{ width: 96, height: 5, borderRadius: 3, background: '#E08A3C', marginTop: 26 }} /&gt;&#10;            &lt;Text style={{ fontSize: 26, color: '#FFFFFF', opacity: 0.88, lineHeight: 1.55, marginTop: 24 }}&gt;&#10;                客户案例档案怎么用&lt;br /&gt;别人走过的路，能帮你少走三圈&#10;            &lt;/Text&gt;&#10;        &lt;/Box&gt;&#10;&#10;        &lt;Box style={{ flex: 1, height: '100%', background: '#F7FAF6' }}&gt;&#10;            &lt;svg width=&quot;538&quot; height=&quot;720&quot; viewBox=&quot;0 0 538 720&quot;&gt;&#10;                &lt;path d=&quot;M40 640 C140 560 120 440 200 360 C270 290 250 200 320 130&quot; fill=&quot;none&quot; stroke=&quot;#A8D5BA&quot; strokeWidth=&quot;5&quot; strokeDasharray=&quot;14 12&quot; /&gt;&#10;                &lt;circle cx=&quot;40&quot; cy=&quot;640&quot; r=&quot;14&quot; fill=&quot;#1F7A5C&quot; /&gt;&#10;                &lt;circle cx=&quot;320&quot; cy=&quot;130&quot; r=&quot;18&quot; fill=&quot;#E08A3C&quot; /&gt;&#10;&#10;                &lt;path d=&quot;M96 236 L420 196 L456 372 L132 412 Z&quot; fill=&quot;rgba(168,213,186,0.4)&quot; /&gt;&#10;                &lt;rect x=&quot;150&quot; y=&quot;238&quot; width=&quot;72&quot; height=&quot;24&quot; rx=&quot;12&quot; fill=&quot;#1F7A5C&quot; opacity=&quot;0.5&quot; /&gt;&#10;                &lt;rect x=&quot;150&quot; y=&quot;282&quot; width=&quot;200&quot; height=&quot;14&quot; rx=&quot;7&quot; fill=&quot;#FFFFFF&quot; opacity=&quot;0.9&quot; /&gt;&#10;                &lt;rect x=&quot;150&quot; y=&quot;310&quot; width=&quot;160&quot; height=&quot;10&quot; rx=&quot;5&quot; fill=&quot;#FFFFFF&quot; opacity=&quot;0.6&quot; /&gt;&#10;&#10;                &lt;path d=&quot;M124 320 L448 280 L484 456 L160 496 Z&quot; fill=&quot;#FFFFFF&quot; /&gt;&#10;                &lt;path d=&quot;M124 320 L448 280 L484 456 L160 496 Z&quot; fill=&quot;none&quot; stroke=&quot;#DDE7E1&quot; strokeWidth=&quot;3&quot; /&gt;&#10;                &lt;rect x=&quot;180&quot; y=&quot;326&quot; width=&quot;76&quot; height=&quot;26&quot; rx=&quot;13&quot; fill=&quot;#1F7A5C&quot; /&gt;&#10;                &lt;rect x=&quot;270&quot; y=&quot;326&quot; width=&quot;60&quot; height=&quot;26&quot; rx=&quot;13&quot; fill=&quot;#E08A3C&quot; opacity=&quot;0.85&quot; /&gt;&#10;                &lt;rect x=&quot;180&quot; y=&quot;374&quot; width=&quot;230&quot; height=&quot;16&quot; rx=&quot;8&quot; fill=&quot;#1F7A5C&quot; opacity=&quot;0.65&quot; /&gt;&#10;                &lt;rect x=&quot;180&quot; y=&quot;410&quot; width=&quot;256&quot; height=&quot;12&quot; rx=&quot;6&quot; fill=&quot;#A8D5BA&quot; /&gt;&#10;                &lt;rect x=&quot;180&quot; y=&quot;436&quot; width=&quot;220&quot; height=&quot;12&quot; rx=&quot;6&quot; fill=&quot;#A8D5BA&quot; /&gt;&#10;                &lt;rect x=&quot;180&quot; y=&quot;462&quot; width=&quot;180&quot; height=&quot;12&quot; rx=&quot;6&quot; fill=&quot;#A8D5BA&quot; /&gt;&#10;&#10;                &lt;path d=&quot;M0 660 Q160 620 320 660 T538 648 L538 720 L0 720 Z&quot; fill=&quot;#1F7A5C&quot; opacity=&quot;0.42&quot; /&gt;&#10;            &lt;/svg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352" name=""/>
          <p:cNvSpPr/>
          <p:nvPr/>
        </p:nvSpPr>
        <p:spPr>
          <a:xfrm rot="0" flipH="0" flipV="0">
            <a:off x="0" y="0"/>
            <a:ext cx="7067550" cy="6858000"/>
          </a:xfrm>
          <a:prstGeom prst="rect">
            <a:avLst/>
          </a:prstGeom>
          <a:gradFill>
            <a:gsLst>
              <a:gs pos="0">
                <a:srgbClr val="1F7A5C"/>
              </a:gs>
              <a:gs pos="100000">
                <a:srgbClr val="2E9B77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685800" y="3000375"/>
            <a:ext cx="5924550" cy="8953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5100" b="1">
                <a:solidFill>
                  <a:srgbClr val="FFFFFF"/>
                </a:solidFill>
                <a:latin typeface="Microsoft YaHei"/>
                <a:ea typeface="Microsoft YaHei"/>
              </a:rPr>
              <a:t>把经验变成参考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685800" y="4143375"/>
            <a:ext cx="914400" cy="47625"/>
          </a:xfrm>
          <a:prstGeom prst="roundRect">
            <a:avLst>
              <a:gd name="adj" fmla="val 60000"/>
            </a:avLst>
          </a:prstGeom>
          <a:solidFill>
            <a:srgbClr val="E08A3C"/>
          </a:solidFill>
          <a:ln/>
        </p:spPr>
        <p:txBody>
          <a:bodyPr/>
          <a:p/>
        </p:txBody>
      </p:sp>
      <p:sp>
        <p:nvSpPr>
          <p:cNvPr id="355" name=""/>
          <p:cNvSpPr/>
          <p:nvPr/>
        </p:nvSpPr>
        <p:spPr>
          <a:xfrm rot="0" flipH="0" flipV="0">
            <a:off x="7067550" y="0"/>
            <a:ext cx="512445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pic>
        <p:nvPicPr>
          <p:cNvPr id="35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067550" y="0"/>
            <a:ext cx="5124450" cy="6858000"/>
          </a:xfrm>
          <a:prstGeom prst="rect">
            <a:avLst/>
          </a:prstGeom>
          <a:ln/>
        </p:spPr>
      </p:pic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685800" y="1514475"/>
            <a:ext cx="5924550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685800" y="4419600"/>
            <a:ext cx="5924550" cy="9239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95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客户案例档案怎么用</a:t>
            </a:r>
            <a:endParaRPr/>
          </a:p>
          <a:p>
            <a:pPr>
              <a:lnSpc>
                <a:spcPct val="155000"/>
              </a:lnSpc>
            </a:pPr>
            <a:r>
              <a:rPr lang="zh-CN" sz="195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别人走过的路，能帮你少走三圈</a:t>
            </a:r>
            <a:endParaRPr/>
          </a:p>
        </p:txBody>
      </p:sp>
    </p:spTree>
  </p:cSld>
</p:sld>
</file>

<file path=ppt/slides/slide2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59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案例从哪来、什么时候出现&lt;/Text&gt;&#10;        &lt;Box style={{ width: 56, height: 4, borderRadius: 2, background: '#1F7A5C', marginTop: 8 }} /&gt;&#10;    &lt;/Box&gt;&#10;&#10;    &lt;Box style={{ height: 528, flexDirection: 'row', gap: 28 }}&gt;&#10;        &lt;Box style={{ width: 605 }}&gt;&#10;            &lt;svg width=&quot;605&quot; height=&quot;528&quot; viewBox=&quot;0 0 605 528&quot;&gt;&#10;                &lt;path d=&quot;M320 24 H580 A14 14 0 0 1 594 38 V62 A14 14 0 0 1 580 76 H334 L316 96 V76 H320 Z&quot; fill=&quot;rgba(168,213,186,0.55)&quot; /&gt;&#10;                &lt;rect x=&quot;342&quot; y=&quot;42&quot; width=&quot;200&quot; height=&quot;12&quot; rx=&quot;6&quot; fill=&quot;#1E3A32&quot; opacity=&quot;0.45&quot; /&gt;&#10;&#10;                &lt;path d=&quot;M26 116 H470 A16 16 0 0 1 486 132 V196 A16 16 0 0 1 470 212 H96 L56 252 V212 H26 A16 16 0 0 1 10 196 V132 A16 16 0 0 1 26 116 Z&quot; fill=&quot;#1F7A5C&quot; /&gt;&#10;                &lt;rect x=&quot;40&quot; y=&quot;140&quot; width=&quot;300&quot; height=&quot;14&quot; rx=&quot;7&quot; fill=&quot;#FFFFFF&quot; opacity=&quot;0.9&quot; /&gt;&#10;                &lt;rect x=&quot;40&quot; y=&quot;166&quot; width=&quot;380&quot; height=&quot;11&quot; rx=&quot;5&quot; fill=&quot;#FFFFFF&quot; opacity=&quot;0.55&quot; /&gt;&#10;                &lt;rect x=&quot;40&quot; y=&quot;188&quot; width=&quot;330&quot; height=&quot;11&quot; rx=&quot;5&quot; fill=&quot;#FFFFFF&quot; opacity=&quot;0.55&quot; /&gt;&#10;&#10;                &lt;text x=&quot;12&quot; y=&quot;292&quot; fontSize=&quot;20&quot; fontWeight=&quot;bold&quot; fill=&quot;#1F7A5C&quot; fontFamily=&quot;PingFang SC&quot;&gt;相关案例&lt;/text&gt;&#10;&#10;                &lt;rect x=&quot;10&quot; y=&quot;308&quot; width=&quot;585&quot; height=&quot;70&quot; rx=&quot;14&quot; fill=&quot;#FFFFFF&quot; /&gt;&#10;                &lt;rect x=&quot;10&quot; y=&quot;308&quot; width=&quot;585&quot; height=&quot;70&quot; rx=&quot;14&quot; fill=&quot;none&quot; stroke=&quot;#DDE7E1&quot; strokeWidth=&quot;2&quot; /&gt;&#10;                &lt;rect x=&quot;26&quot; y=&quot;322&quot; width=&quot;42&quot; height=&quot;42&quot; rx=&quot;10&quot; fill=&quot;rgba(168,213,186,0.6)&quot; /&gt;&#10;                &lt;rect x=&quot;84&quot; y=&quot;326&quot; width=&quot;240&quot; height=&quot;13&quot; rx=&quot;6&quot; fill=&quot;#1F7A5C&quot; opacity=&quot;0.6&quot; /&gt;&#10;                &lt;rect x=&quot;84&quot; y=&quot;350&quot; width=&quot;330&quot; height=&quot;10&quot; rx=&quot;5&quot; fill=&quot;#A8D5BA&quot; /&gt;&#10;                &lt;rect x=&quot;494&quot; y=&quot;326&quot; width=&quot;84&quot; height=&quot;24&quot; rx=&quot;12&quot; fill=&quot;rgba(31,122,92,0.12)&quot; /&gt;&#10;&#10;                &lt;rect x=&quot;10&quot; y=&quot;390&quot; width=&quot;585&quot; height=&quot;70&quot; rx=&quot;14&quot; fill=&quot;#FFFFFF&quot; /&gt;&#10;                &lt;rect x=&quot;10&quot; y=&quot;390&quot; width=&quot;585&quot; height=&quot;70&quot; rx=&quot;14&quot; fill=&quot;none&quot; stroke=&quot;#DDE7E1&quot; strokeWidth=&quot;2&quot; /&gt;&#10;                &lt;rect x=&quot;26&quot; y=&quot;404&quot; width=&quot;42&quot; height=&quot;42&quot; rx=&quot;10&quot; fill=&quot;rgba(168,213,186,0.6)&quot; /&gt;&#10;                &lt;rect x=&quot;84&quot; y=&quot;408&quot; width=&quot;206&quot; height=&quot;13&quot; rx=&quot;6&quot; fill=&quot;#1F7A5C&quot; opacity=&quot;0.6&quot; /&gt;&#10;                &lt;rect x=&quot;84&quot; y=&quot;432&quot; width=&quot;300&quot; height=&quot;10&quot; rx=&quot;5&quot; fill=&quot;#A8D5BA&quot; /&gt;&#10;                &lt;rect x=&quot;494&quot; y=&quot;408&quot; width=&quot;84&quot; height=&quot;24&quot; rx=&quot;12&quot; fill=&quot;rgba(224,138,60,0.18)&quot; /&gt;&#10;&#10;                &lt;rect x=&quot;10&quot; y=&quot;472&quot; width=&quot;585&quot; height=&quot;52&quot; rx=&quot;14&quot; fill=&quot;rgba(31,122,92,0.08)&quot; /&gt;&#10;                &lt;text x=&quot;302&quot; y=&quot;505&quot; textAnchor=&quot;middle&quot; fontSize=&quot;19&quot; fill=&quot;#1F7A5C&quot; fontFamily=&quot;PingFang SC&quot;&gt;查看更多&lt;/text&gt;&#10;            &lt;/svg&gt;&#10;        &lt;/Box&gt;&#10;&#10;        &lt;Box style={{ flex: 1 }}&gt;&#10;            &lt;Text style={{ fontSize: 26, fontWeight: 'bold', color: '#1F7A5C', lineHeight: 1.45 }}&gt;&#10;                回答下面那三张卡，&lt;br /&gt;就是案例&#10;            &lt;/Text&gt;&#10;&#10;            &lt;Box style={{ marginTop: 22, gap: 16 }}&gt;&#10;                &lt;Box style={{ flexDirection: 'row', gap: 14, alignItems: 'flex-start' }}&gt;&#10;                    &lt;FAIcon name='check-circle' style={{ fill: '#1F7A5C', width: 26, height: 26 }} /&gt;&#10;                    &lt;Text style={{ fontSize: 19, color: '#1E3A32', lineHeight: 1.55, flex: 1 }}&gt;&#10;                        &lt;span style={{ fontWeight: 'bold' }}&gt;什么时候出现&lt;/span&gt;：每次回答结束后自动推荐，默认给 3 条，不问不要钱。&#10;                    &lt;/Text&gt;&#10;                &lt;/Box&gt;&#10;                &lt;Box style={{ flexDirection: 'row', gap: 14, alignItems: 'flex-start' }}&gt;&#10;                    &lt;FAIcon name='check-circle' style={{ fill: '#1F7A5C', width: 26, height: 26 }} /&gt;&#10;                    &lt;Text style={{ fontSize: 19, color: '#1E3A32', lineHeight: 1.55, flex: 1 }}&gt;&#10;                        &lt;span style={{ fontWeight: 'bold' }}&gt;凭什么推给我&lt;/span&gt;：先按症状标签、产品标签匹配，实在找不到再用全文搜索兜底。&#10;                    &lt;/Text&gt;&#10;                &lt;/Box&gt;&#10;                &lt;Box style={{ flexDirection: 'row', gap: 14, alignItems: 'flex-start' }}&gt;&#10;                    &lt;FAIcon name='check-circle' style={{ fill: '#1F7A5C', width: 26, height: 26 }} /&gt;&#10;                    &lt;Text style={{ fontSize: 19, color: '#1E3A32', lineHeight: 1.55, flex: 1 }}&gt;&#10;                        &lt;span style={{ fontWeight: 'bold' }}&gt;为什么只有三条&lt;/span&gt;：只推和你这次问题相关的，不会把整个案例库都丢给你。&#10;                    &lt;/Text&gt;&#10;                &lt;/Box&gt;&#10;                &lt;Box style={{ flexDirection: 'row', gap: 14, alignItems: 'flex-start' }}&gt;&#10;                    &lt;FAIcon name='check-circle' style={{ fill: '#1F7A5C', width: 26, height: 26 }} /&gt;&#10;                    &lt;Text style={{ fontSize: 19, color: '#1E3A32', lineHeight: 1.55, flex: 1 }}&gt;&#10;                        &lt;span style={{ fontWeight: 'bold' }}&gt;它不参与回答&lt;/span&gt;：案例不会混进 AI 的话里，只是安静地在下面等你翻。&#10;                    &lt;/Text&gt;&#10;                &lt;/Box&gt;&#10;            &lt;/Box&gt;&#10;&#10;            &lt;Box style={{&#10;                marginTop: 'auto', background: 'rgba(224,138,60,0.14)', borderRadius: 14, padding: 18,&#10;            }}&gt;&#10;                &lt;Text style={{ fontSize: 20, color: '#C9742B', lineHeight: 1.5, fontWeight: 'bold' }}&gt;&#10;                    案例是别人真实走过的路，不是标准答案——参考价值全在&quot;像不像你&quot;。&#10;                &lt;/Text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五期上手课&lt;/Text&gt;&#10;        &lt;/Box&gt;&#10;        &lt;Text style={{ fontSize: 14, color: '#6B7C75' }}&gt;22 / 3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案例从哪来、什么时候出现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3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143000"/>
            <a:ext cx="5762625" cy="5029200"/>
          </a:xfrm>
          <a:prstGeom prst="rect">
            <a:avLst/>
          </a:prstGeom>
          <a:ln/>
        </p:spPr>
      </p:pic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6715125" y="1143000"/>
            <a:ext cx="479107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回答下面那三张卡，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就是案例</a:t>
            </a:r>
            <a:endParaRPr/>
          </a:p>
        </p:txBody>
      </p:sp>
      <p:pic>
        <p:nvPicPr>
          <p:cNvPr id="3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715125" y="2219325"/>
            <a:ext cx="247650" cy="247650"/>
          </a:xfrm>
          <a:prstGeom prst="rect">
            <a:avLst/>
          </a:prstGeom>
          <a:ln/>
        </p:spPr>
      </p:pic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7096125" y="2219325"/>
            <a:ext cx="4410075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 b="1">
                <a:solidFill>
                  <a:srgbClr val="1E3A32"/>
                </a:solidFill>
                <a:latin typeface="Microsoft YaHei"/>
                <a:ea typeface="Microsoft YaHei"/>
              </a:rPr>
              <a:t>什么时候出现</a:t>
            </a: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：每次回答结束后自动推荐，默认给</a:t>
            </a:r>
            <a:r>
              <a:rPr lang="en-US" sz="1425">
                <a:solidFill>
                  <a:srgbClr val="1E3A32"/>
                </a:solidFill>
                <a:latin typeface="Microsoft YaHei"/>
                <a:ea typeface="Microsoft YaHei"/>
              </a:rPr>
              <a:t> 3 </a:t>
            </a: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条，不问不要钱。</a:t>
            </a:r>
            <a:endParaRPr/>
          </a:p>
        </p:txBody>
      </p:sp>
      <p:pic>
        <p:nvPicPr>
          <p:cNvPr id="3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715125" y="3048000"/>
            <a:ext cx="247650" cy="247650"/>
          </a:xfrm>
          <a:prstGeom prst="rect">
            <a:avLst/>
          </a:prstGeom>
          <a:ln/>
        </p:spPr>
      </p:pic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7096125" y="3048000"/>
            <a:ext cx="4410075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 b="1">
                <a:solidFill>
                  <a:srgbClr val="1E3A32"/>
                </a:solidFill>
                <a:latin typeface="Microsoft YaHei"/>
                <a:ea typeface="Microsoft YaHei"/>
              </a:rPr>
              <a:t>凭什么推给我</a:t>
            </a: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：先按症状标签、产品标签匹配，实在找不到再用全文搜索兜底。</a:t>
            </a:r>
            <a:endParaRPr/>
          </a:p>
        </p:txBody>
      </p:sp>
      <p:pic>
        <p:nvPicPr>
          <p:cNvPr id="3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715125" y="3876675"/>
            <a:ext cx="247650" cy="247650"/>
          </a:xfrm>
          <a:prstGeom prst="rect">
            <a:avLst/>
          </a:prstGeom>
          <a:ln/>
        </p:spPr>
      </p:pic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7096125" y="3876675"/>
            <a:ext cx="4410075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 b="1">
                <a:solidFill>
                  <a:srgbClr val="1E3A32"/>
                </a:solidFill>
                <a:latin typeface="Microsoft YaHei"/>
                <a:ea typeface="Microsoft YaHei"/>
              </a:rPr>
              <a:t>为什么只有三条</a:t>
            </a: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：只推和你这次问题相关的，不会把整个案例库都丢给你。</a:t>
            </a:r>
            <a:endParaRPr/>
          </a:p>
        </p:txBody>
      </p:sp>
      <p:pic>
        <p:nvPicPr>
          <p:cNvPr id="3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715125" y="4705350"/>
            <a:ext cx="247650" cy="247650"/>
          </a:xfrm>
          <a:prstGeom prst="rect">
            <a:avLst/>
          </a:prstGeom>
          <a:ln/>
        </p:spPr>
      </p:pic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7096125" y="4705350"/>
            <a:ext cx="4410075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 b="1">
                <a:solidFill>
                  <a:srgbClr val="1E3A32"/>
                </a:solidFill>
                <a:latin typeface="Microsoft YaHei"/>
                <a:ea typeface="Microsoft YaHei"/>
              </a:rPr>
              <a:t>它不参与回答</a:t>
            </a: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：案例不会混进</a:t>
            </a:r>
            <a:r>
              <a:rPr lang="en-US" sz="1425">
                <a:solidFill>
                  <a:srgbClr val="1E3A32"/>
                </a:solidFill>
                <a:latin typeface="Microsoft YaHei"/>
                <a:ea typeface="Microsoft YaHei"/>
              </a:rPr>
              <a:t> AI </a:t>
            </a: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的话里，只是安静地在下面等你翻。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6715125" y="5381625"/>
            <a:ext cx="4791075" cy="1028700"/>
          </a:xfrm>
          <a:prstGeom prst="roundRect">
            <a:avLst>
              <a:gd name="adj" fmla="val 12963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6886575" y="5553075"/>
            <a:ext cx="4448175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C9742B"/>
                </a:solidFill>
                <a:latin typeface="Microsoft YaHei"/>
                <a:ea typeface="Microsoft YaHei"/>
              </a:rPr>
              <a:t>案例是别人真实走过的路，不是标准答案——参考价值全在</a:t>
            </a:r>
            <a:r>
              <a:rPr lang="en-US" sz="1500" b="1">
                <a:solidFill>
                  <a:srgbClr val="C9742B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C9742B"/>
                </a:solidFill>
                <a:latin typeface="Microsoft YaHei"/>
                <a:ea typeface="Microsoft YaHei"/>
              </a:rPr>
              <a:t>像不像你</a:t>
            </a:r>
            <a:r>
              <a:rPr lang="en-US" sz="1500" b="1">
                <a:solidFill>
                  <a:srgbClr val="C9742B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C9742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pic>
        <p:nvPicPr>
          <p:cNvPr id="3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五期上手课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22 / 33</a:t>
            </a:r>
            <a:endParaRPr/>
          </a:p>
        </p:txBody>
      </p:sp>
    </p:spTree>
  </p:cSld>
</p:sld>
</file>

<file path=ppt/slides/slide2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78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案例抽屉怎么用&lt;/Text&gt;&#10;        &lt;Box style={{ width: 56, height: 4, borderRadius: 2, background: '#1F7A5C', marginTop: 8 }} /&gt;&#10;    &lt;/Box&gt;&#10;&#10;    &lt;Box style={{ height: 528, flexDirection: 'row', gap: 28 }}&gt;&#10;        &lt;Box style={{ width: 310 }}&gt;&#10;            &lt;Text style={{ fontSize: 26, fontWeight: 'bold', color: '#1F7A5C', lineHeight: 1.45 }}&gt;&#10;                一个抽屉里切来切去，&lt;br /&gt;不会叠出第二层&#10;            &lt;/Text&gt;&#10;            &lt;Text style={{ fontSize: 20, color: '#6B7C75', lineHeight: 1.6, marginTop: 20 }}&gt;&#10;                点开案例后，详情、列表、标签筛选、相似案例都在同一层里切换。你不会因为点得太深而找不回上一个页面。&#10;            &lt;/Text&gt;&#10;            &lt;Box style={{&#10;                marginTop: 24, background: 'rgba(31,122,92,0.08)', borderRadius: 14, padding: 16,&#10;            }}&gt;&#10;                &lt;Text style={{ fontSize: 19, color: '#1E3A32', lineHeight: 1.55 }}&gt;&#10;                    老版本是&quot;点开一个弹窗，又冒出一个弹窗&quot;。现在的逻辑只有一层，记住这一句就够了。&#10;                &lt;/Text&gt;&#10;            &lt;/Box&gt;&#10;            &lt;Box style={{&#10;                marginTop: 18, background: '#FFFFFF', borderRadius: 14, padding: 16,&#10;                boxShadow: '0 4px 20px rgba(30,58,50,0.08)',&#10;            }}&gt;&#10;                &lt;Text style={{ fontSize: 19, color: '#6B7C75', lineHeight: 1.55 }}&gt;&#10;                    手机上也是同样逻辑：从底部升起的抽屉，往下滑或者点返回就能收回去。&#10;                &lt;/Text&gt;&#10;            &lt;/Box&gt;&#10;        &lt;/Box&gt;&#10;&#10;        &lt;Box style={{ flex: 1, gap: 12 }}&gt;&#10;            &lt;Box style={{&#10;                flexDirection: 'row', gap: 18, background: '#FFFFFF', borderRadius: 14, padding: 16,&#10;                height: 94, boxShadow: '0 4px 20px rgba(30,58,50,0.08)', alignItems: 'center',&#10;            }}&gt;&#10;                &lt;Box style={{ width: 46, height: 46, borderRadius: 23, background: '#1F7A5C', justifyContent: 'center', alignItems: 'center' }}&gt;&#10;                    &lt;FAIcon name='file-text' style={{ fill: '#FFFFFF', width: 24, height: 24 }} /&gt;&#10;                &lt;/Box&gt;&#10;                &lt;Box style={{ flex: 1 }}&gt;&#10;                    &lt;Text style={{ fontSize: 24, fontWeight: 'bold', color: '#1E3A32' }}&gt;详情&lt;/Text&gt;&#10;                    &lt;Text style={{ fontSize: 19, color: '#6B7C75', lineHeight: 1.45, marginTop: 3 }}&gt;&#10;                        点开案例卡就进详情：客户画像、使用场景、摘要、正文、封面图都在这里&#10;                    &lt;/Text&gt;&#10;                &lt;/Box&gt;&#10;            &lt;/Box&gt;&#10;&#10;            &lt;Box style={{&#10;                flexDirection: 'row', gap: 18, background: '#FFFFFF', borderRadius: 14, padding: 16,&#10;                height: 94, boxShadow: '0 4px 20px rgba(30,58,50,0.08)', alignItems: 'center',&#10;            }}&gt;&#10;                &lt;Box style={{ width: 46, height: 46, borderRadius: 23, background: '#1F7A5C', justifyContent: 'center', alignItems: 'center' }}&gt;&#10;                    &lt;FAIcon name='list' style={{ fill: '#FFFFFF', width: 24, height: 24 }} /&gt;&#10;                &lt;/Box&gt;&#10;                &lt;Box style={{ flex: 1 }}&gt;&#10;                    &lt;Text style={{ fontSize: 24, fontWeight: 'bold', color: '#1E3A32' }}&gt;列表&lt;/Text&gt;&#10;                    &lt;Text style={{ fontSize: 19, color: '#6B7C75', lineHeight: 1.45, marginTop: 3 }}&gt;&#10;                        从详情退回列表，这次问题相关的案例都在这一层，不用回去重新问一遍&#10;                    &lt;/Text&gt;&#10;                &lt;/Box&gt;&#10;            &lt;/Box&gt;&#10;&#10;            &lt;Box style={{&#10;                flexDirection: 'row', gap: 18, background: '#FFFFFF', borderRadius: 14, padding: 16,&#10;                height: 94, boxShadow: '0 4px 20px rgba(30,58,50,0.08)', alignItems: 'center',&#10;            }}&gt;&#10;                &lt;Box style={{ width: 46, height: 46, borderRadius: 23, background: '#1F7A5C', justifyContent: 'center', alignItems: 'center' }}&gt;&#10;                    &lt;FAIcon name='tags' style={{ fill: '#FFFFFF', width: 24, height: 24 }} /&gt;&#10;                &lt;/Box&gt;&#10;                &lt;Box style={{ flex: 1 }}&gt;&#10;                    &lt;Text style={{ fontSize: 24, fontWeight: 'bold', color: '#1E3A32' }}&gt;标签&lt;/Text&gt;&#10;                    &lt;Text style={{ fontSize: 19, color: '#6B7C75', lineHeight: 1.45, marginTop: 3 }}&gt;&#10;                        点案例上的标签，能看到同标签的更多案例——找相似情况最快的入口&#10;                    &lt;/Text&gt;&#10;                &lt;/Box&gt;&#10;            &lt;/Box&gt;&#10;&#10;            &lt;Box style={{&#10;                flexDirection: 'row', gap: 18, background: 'rgba(224,138,60,0.14)', borderRadius: 14, padding: 16,&#10;                height: 94, alignItems: 'center',&#10;            }}&gt;&#10;                &lt;Box style={{ width: 46, height: 46, borderRadius: 23, background: '#E08A3C', justifyContent: 'center', alignItems: 'center' }}&gt;&#10;                    &lt;FAIcon name='copy' style={{ fill: '#FFFFFF', width: 24, height: 24 }} /&gt;&#10;                &lt;/Box&gt;&#10;                &lt;Box style={{ flex: 1 }}&gt;&#10;                    &lt;Text style={{ fontSize: 24, fontWeight: 'bold', color: '#1E3A32' }}&gt;相似案例&lt;/Text&gt;&#10;                    &lt;Text style={{ fontSize: 19, color: '#6B7C75', lineHeight: 1.45, marginTop: 3 }}&gt;&#10;                        详情页里的&quot;相似案例&quot;直接跳到下一批，同层切换，看完还能再退回来&#10;                    &lt;/Text&gt;&#10;                &lt;/Box&gt;&#10;            &lt;/Box&gt;&#10;&#10;            &lt;Box style={{&#10;                flexDirection: 'row', gap: 18, background: '#FFFFFF', borderRadius: 14, padding: 16,&#10;                height: 94, boxShadow: '0 4px 20px rgba(30,58,50,0.08)', alignItems: 'center',&#10;            }}&gt;&#10;                &lt;Box style={{ width: 46, height: 46, borderRadius: 23, background: '#6B7C75', justifyContent: 'center', alignItems: 'center' }}&gt;&#10;                    &lt;FAIcon name='arrow-left' style={{ fill: '#FFFFFF', width: 24, height: 24 }} /&gt;&#10;                &lt;/Box&gt;&#10;                &lt;Box style={{ flex: 1 }}&gt;&#10;                    &lt;Text style={{ fontSize: 24, fontWeight: 'bold', color: '#1E3A32' }}&gt;返回上级&lt;/Text&gt;&#10;                    &lt;Text style={{ fontSize: 19, color: '#6B7C75', lineHeight: 1.45, marginTop: 3 }}&gt;&#10;                        不管点进去多深，永远能退回上一层；实在乱了就关掉抽屉重新提问&#10;                    &lt;/Text&gt;&#10;                &lt;/Box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五期上手课&lt;/Text&gt;&#10;        &lt;/Box&gt;&#10;        &lt;Text style={{ fontSize: 14, color: '#6B7C75' }}&gt;23 / 3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案例抽屉怎么用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952750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一个抽屉里切来切去，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不会叠出第二层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685800" y="2200275"/>
            <a:ext cx="2952750" cy="1466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点开案例后，详情、列表、标签筛选、相似案例都在同一层里切换。你不会因为点得太深而找不回上一个页面。</a:t>
            </a:r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685800" y="3895725"/>
            <a:ext cx="2952750" cy="1323975"/>
          </a:xfrm>
          <a:prstGeom prst="roundRect">
            <a:avLst>
              <a:gd name="adj" fmla="val 10072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838200" y="4048125"/>
            <a:ext cx="2647950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老版本是</a:t>
            </a:r>
            <a:r>
              <a:rPr lang="en-US" sz="1425">
                <a:solidFill>
                  <a:srgbClr val="1E3A32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点开一个弹窗，又冒出一个弹窗</a:t>
            </a:r>
            <a:r>
              <a:rPr lang="en-US" sz="1425">
                <a:solidFill>
                  <a:srgbClr val="1E3A32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。现在的逻辑只有一层，记住这一句就够了。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685800" y="5391150"/>
            <a:ext cx="2952750" cy="1323975"/>
          </a:xfrm>
          <a:prstGeom prst="roundRect">
            <a:avLst>
              <a:gd name="adj" fmla="val 10072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838200" y="5543550"/>
            <a:ext cx="2647950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手机上也是同样逻辑：从底部升起的抽屉，往下滑或者点返回就能收回去。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3905250" y="1143000"/>
            <a:ext cx="7600950" cy="895350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89" name=""/>
          <p:cNvSpPr/>
          <p:nvPr/>
        </p:nvSpPr>
        <p:spPr>
          <a:xfrm rot="0" flipH="0" flipV="0">
            <a:off x="4057650" y="13716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39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162425" y="1476375"/>
            <a:ext cx="228600" cy="228600"/>
          </a:xfrm>
          <a:prstGeom prst="rect">
            <a:avLst/>
          </a:prstGeom>
          <a:ln/>
        </p:spPr>
      </p:pic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4667250" y="1276350"/>
            <a:ext cx="6686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详情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4667250" y="1581150"/>
            <a:ext cx="668655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点开案例卡就进详情：客户画像、使用场景、摘要、正文、封面图都在这里</a:t>
            </a:r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3905250" y="2152650"/>
            <a:ext cx="7600950" cy="895350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94" name=""/>
          <p:cNvSpPr/>
          <p:nvPr/>
        </p:nvSpPr>
        <p:spPr>
          <a:xfrm rot="0" flipH="0" flipV="0">
            <a:off x="4057650" y="23812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3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162425" y="2486025"/>
            <a:ext cx="228600" cy="228600"/>
          </a:xfrm>
          <a:prstGeom prst="rect">
            <a:avLst/>
          </a:prstGeom>
          <a:ln/>
        </p:spPr>
      </p:pic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4667250" y="2286000"/>
            <a:ext cx="6686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列表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4667250" y="2590800"/>
            <a:ext cx="668655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从详情退回列表，这次问题相关的案例都在这一层，不用回去重新问一遍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3905250" y="3162300"/>
            <a:ext cx="7600950" cy="895350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99" name=""/>
          <p:cNvSpPr/>
          <p:nvPr/>
        </p:nvSpPr>
        <p:spPr>
          <a:xfrm rot="0" flipH="0" flipV="0">
            <a:off x="4057650" y="33909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4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162425" y="3495675"/>
            <a:ext cx="228600" cy="228600"/>
          </a:xfrm>
          <a:prstGeom prst="rect">
            <a:avLst/>
          </a:prstGeom>
          <a:ln/>
        </p:spPr>
      </p:pic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4667250" y="3295650"/>
            <a:ext cx="6686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标签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4667250" y="3600450"/>
            <a:ext cx="668655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点案例上的标签，能看到同标签的更多案例——找相似情况最快的入口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3905250" y="4171950"/>
            <a:ext cx="7600950" cy="895350"/>
          </a:xfrm>
          <a:prstGeom prst="roundRect">
            <a:avLst>
              <a:gd name="adj" fmla="val 14894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404" name=""/>
          <p:cNvSpPr/>
          <p:nvPr/>
        </p:nvSpPr>
        <p:spPr>
          <a:xfrm rot="0" flipH="0" flipV="0">
            <a:off x="4057650" y="44005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/>
        </p:spPr>
        <p:txBody>
          <a:bodyPr/>
          <a:p/>
        </p:txBody>
      </p:sp>
      <p:pic>
        <p:nvPicPr>
          <p:cNvPr id="4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162425" y="4505325"/>
            <a:ext cx="228600" cy="228600"/>
          </a:xfrm>
          <a:prstGeom prst="rect">
            <a:avLst/>
          </a:prstGeom>
          <a:ln/>
        </p:spPr>
      </p:pic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4667250" y="4305300"/>
            <a:ext cx="6686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相似案例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4667250" y="4610100"/>
            <a:ext cx="668655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详情页里的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相似案例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直接跳到下一批，同层切换，看完还能再退回来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3905250" y="5181600"/>
            <a:ext cx="7600950" cy="895350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09" name=""/>
          <p:cNvSpPr/>
          <p:nvPr/>
        </p:nvSpPr>
        <p:spPr>
          <a:xfrm rot="0" flipH="0" flipV="0">
            <a:off x="4057650" y="54102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6B7C75"/>
          </a:solidFill>
          <a:ln/>
        </p:spPr>
        <p:txBody>
          <a:bodyPr/>
          <a:p/>
        </p:txBody>
      </p:sp>
      <p:pic>
        <p:nvPicPr>
          <p:cNvPr id="41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4162425" y="5514975"/>
            <a:ext cx="228600" cy="228600"/>
          </a:xfrm>
          <a:prstGeom prst="rect">
            <a:avLst/>
          </a:prstGeom>
          <a:ln/>
        </p:spPr>
      </p:pic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4667250" y="5314950"/>
            <a:ext cx="6686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返回上级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4667250" y="5619750"/>
            <a:ext cx="668655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不管点进去多深，永远能退回上一层；实在乱了就关掉抽屉重新提问</a:t>
            </a:r>
            <a:endParaRPr/>
          </a:p>
        </p:txBody>
      </p:sp>
      <p:pic>
        <p:nvPicPr>
          <p:cNvPr id="4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五期上手课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23 / 33</a:t>
            </a:r>
            <a:endParaRPr/>
          </a:p>
        </p:txBody>
      </p:sp>
    </p:spTree>
  </p:cSld>
</p:sld>
</file>

<file path=ppt/slides/slide2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16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怎么看一个案例&lt;/Text&gt;&#10;        &lt;Box style={{ width: 56, height: 4, borderRadius: 2, background: '#1F7A5C', marginTop: 8 }} /&gt;&#10;    &lt;/Box&gt;&#10;&#10;    &lt;Box style={{ height: 528, flexDirection: 'row', gap: 28 }}&gt;&#10;        &lt;Box style={{ width: 310, justifyContent: 'center' }}&gt;&#10;            &lt;Text style={{ fontSize: 180, fontWeight: 'bold', color: '#E08A3C', lineHeight: 1, letterSpacing: -4 }}&gt;3&lt;/Text&gt;&#10;            &lt;Text style={{ fontSize: 30, fontWeight: 'bold', color: '#1E3A32', marginTop: 14 }}&gt;个问题&lt;/Text&gt;&#10;            &lt;Text style={{ fontSize: 30, fontWeight: 'bold', color: '#1E3A32' }}&gt;决定值不值得看&lt;/Text&gt;&#10;            &lt;Box style={{ width: 72, height: 5, borderRadius: 3, background: '#1F7A5C', marginTop: 20 }} /&gt;&#10;            &lt;Text style={{ fontSize: 20, color: '#6B7C75', lineHeight: 1.6, marginTop: 18 }}&gt;&#10;                三问有一问不过，&lt;br /&gt;就别在这条上花五分钟&#10;            &lt;/Text&gt;&#10;        &lt;/Box&gt;&#10;&#10;        &lt;Box style={{ flex: 1, gap: 16 }}&gt;&#10;            &lt;Box style={{&#10;                flexDirection: 'row', gap: 18, background: '#FFFFFF', borderRadius: 14, padding: 20,&#10;                height: 165, boxShadow: '0 4px 20px rgba(30,58,50,0.08)',&#10;            }}&gt;&#10;                &lt;Box style={{ width: 56, height: 56, borderRadius: 28, background: '#1F7A5C', justifyContent: 'center', alignItems: 'center' }}&gt;&#10;                    &lt;Text style={{ fontSize: 28, fontWeight: 'bold', color: '#FFFFFF' }}&gt;1&lt;/Text&gt;&#10;                &lt;/Box&gt;&#10;                &lt;Box style={{ flex: 1 }}&gt;&#10;                    &lt;Text style={{ fontSize: 28, fontWeight: 'bold', color: '#1E3A32' }}&gt;像不像我？&lt;/Text&gt;&#10;                    &lt;Text style={{ fontSize: 20, color: '#6B7C75', lineHeight: 1.55, marginTop: 8 }}&gt;&#10;                        先看客户画像：年龄、身体状态、主要困扰，跟你要服务的客户是不是一类人。差得太远就直接跳过，硬套只会带偏。&#10;                    &lt;/Text&gt;&#10;                    &lt;Box style={{ marginTop: 'auto', background: 'rgba(31,122,92,0.08)', borderRadius: 12, padding: 11 }}&gt;&#10;                        &lt;Text style={{ fontSize: 18, color: '#1F7A5C' }}&gt;判断标准：至少两条关键情况对得上&lt;/Text&gt;&#10;                    &lt;/Box&gt;&#10;                &lt;/Box&gt;&#10;            &lt;/Box&gt;&#10;&#10;            &lt;Box style={{&#10;                flexDirection: 'row', gap: 18, background: '#FFFFFF', borderRadius: 14, padding: 20,&#10;                height: 165, boxShadow: '0 4px 20px rgba(30,58,50,0.08)',&#10;            }}&gt;&#10;                &lt;Box style={{ width: 56, height: 56, borderRadius: 28, background: '#1F7A5C', justifyContent: 'center', alignItems: 'center' }}&gt;&#10;                    &lt;Text style={{ fontSize: 28, fontWeight: 'bold', color: '#FFFFFF' }}&gt;2&lt;/Text&gt;&#10;                &lt;/Box&gt;&#10;                &lt;Box style={{ flex: 1 }}&gt;&#10;                    &lt;Text style={{ fontSize: 28, fontWeight: 'bold', color: '#1E3A32' }}&gt;场景对不对？&lt;/Text&gt;&#10;                    &lt;Text style={{ fontSize: 20, color: '#6B7C75', lineHeight: 1.55, marginTop: 8 }}&gt;&#10;                        再看使用场景：他是长期调理还是短期突击？是自用还是给家人买？场景不同，同样的产品结论可以完全相反。&#10;                    &lt;/Text&gt;&#10;                    &lt;Box style={{ marginTop: 'auto', background: 'rgba(31,122,92,0.08)', borderRadius: 12, padding: 11 }}&gt;&#10;                        &lt;Text style={{ fontSize: 18, color: '#1F7A5C' }}&gt;判断标准：他遇到的事，你客户也会遇到&lt;/Text&gt;&#10;                    &lt;/Box&gt;&#10;                &lt;/Box&gt;&#10;            &lt;/Box&gt;&#10;&#10;            &lt;Box style={{&#10;                flexDirection: 'row', gap: 18, background: 'rgba(224,138,60,0.14)', borderRadius: 14, padding: 20,&#10;                height: 165,&#10;            }}&gt;&#10;                &lt;Box style={{ width: 56, height: 56, borderRadius: 28, background: '#E08A3C', justifyContent: 'center', alignItems: 'center' }}&gt;&#10;                    &lt;Text style={{ fontSize: 28, fontWeight: 'bold', color: '#FFFFFF' }}&gt;3&lt;/Text&gt;&#10;                &lt;/Box&gt;&#10;                &lt;Box style={{ flex: 1 }}&gt;&#10;                    &lt;Text style={{ fontSize: 28, fontWeight: 'bold', color: '#1E3A32' }}&gt;我最该抄哪一点？&lt;/Text&gt;&#10;                    &lt;Text style={{ fontSize: 20, color: '#6B7C75', lineHeight: 1.55, marginTop: 8 }}&gt;&#10;                        最后只取一样：是抄他的沟通话术，还是抄方案的节奏安排，还是抄处理异议的说法？一次学一样，比通篇照搬有用。&#10;                    &lt;/Text&gt;&#10;                    &lt;Box style={{ marginTop: 'auto', background: '#FFFFFF', borderRadius: 12, padding: 11 }}&gt;&#10;                        &lt;Text style={{ fontSize: 18, color: '#C9742B' }}&gt;判断标准：能用一句话说出你学到了什么&lt;/Text&gt;&#10;                    &lt;/Box&gt;&#10;                &lt;/Box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五期上手课&lt;/Text&gt;&#10;        &lt;/Box&gt;&#10;        &lt;Text style={{ fontSize: 14, color: '#6B7C75' }}&gt;24 / 3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怎么看一个案例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685800" y="1647825"/>
            <a:ext cx="2952750" cy="2057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0" b="1" spc="-300">
                <a:solidFill>
                  <a:srgbClr val="E08A3C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685800" y="3838575"/>
            <a:ext cx="2952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3A32"/>
                </a:solidFill>
                <a:latin typeface="Microsoft YaHei"/>
                <a:ea typeface="Microsoft YaHei"/>
              </a:rPr>
              <a:t>个问题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685800" y="4181475"/>
            <a:ext cx="2952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3A32"/>
                </a:solidFill>
                <a:latin typeface="Microsoft YaHei"/>
                <a:ea typeface="Microsoft YaHei"/>
              </a:rPr>
              <a:t>决定值不值得看</a:t>
            </a:r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685800" y="4714875"/>
            <a:ext cx="685800" cy="47625"/>
          </a:xfrm>
          <a:prstGeom prst="roundRect">
            <a:avLst>
              <a:gd name="adj" fmla="val 6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685800" y="4933950"/>
            <a:ext cx="2952750" cy="733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三问有一问不过，</a:t>
            </a:r>
            <a:endParaRPr/>
          </a:p>
          <a:p>
            <a:pPr>
              <a:lnSpc>
                <a:spcPct val="160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就别在这条上花五分钟</a:t>
            </a:r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3905250" y="1143000"/>
            <a:ext cx="7600950" cy="1571625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26" name=""/>
          <p:cNvSpPr/>
          <p:nvPr/>
        </p:nvSpPr>
        <p:spPr>
          <a:xfrm rot="0" flipH="0" flipV="0">
            <a:off x="4095750" y="13335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4286250" y="1438275"/>
            <a:ext cx="152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4800600" y="1333500"/>
            <a:ext cx="65151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E3A32"/>
                </a:solidFill>
                <a:latin typeface="Microsoft YaHei"/>
                <a:ea typeface="Microsoft YaHei"/>
              </a:rPr>
              <a:t>像不像我？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4800600" y="1733550"/>
            <a:ext cx="65151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先看客户画像：年龄、身体状态、主要困扰，跟你要服务的客户是不是一类人。差得太远就直接跳过，硬套只会带偏。</a:t>
            </a:r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4800600" y="2447925"/>
            <a:ext cx="6515100" cy="419100"/>
          </a:xfrm>
          <a:prstGeom prst="roundRect">
            <a:avLst>
              <a:gd name="adj" fmla="val 27273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4905375" y="2552700"/>
            <a:ext cx="6305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F7A5C"/>
                </a:solidFill>
                <a:latin typeface="Microsoft YaHei"/>
                <a:ea typeface="Microsoft YaHei"/>
              </a:rPr>
              <a:t>判断标准：至少两条关键情况对得上</a:t>
            </a:r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3905250" y="2867025"/>
            <a:ext cx="7600950" cy="1571625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33" name=""/>
          <p:cNvSpPr/>
          <p:nvPr/>
        </p:nvSpPr>
        <p:spPr>
          <a:xfrm rot="0" flipH="0" flipV="0">
            <a:off x="4095750" y="305752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4286250" y="3162300"/>
            <a:ext cx="152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4800600" y="3057525"/>
            <a:ext cx="65151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E3A32"/>
                </a:solidFill>
                <a:latin typeface="Microsoft YaHei"/>
                <a:ea typeface="Microsoft YaHei"/>
              </a:rPr>
              <a:t>场景对不对？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4800600" y="3457575"/>
            <a:ext cx="65151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再看使用场景：他是长期调理还是短期突击？是自用还是给家人买？场景不同，同样的产品结论可以完全相反。</a:t>
            </a:r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4800600" y="4171950"/>
            <a:ext cx="6515100" cy="419100"/>
          </a:xfrm>
          <a:prstGeom prst="roundRect">
            <a:avLst>
              <a:gd name="adj" fmla="val 27273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4905375" y="4276725"/>
            <a:ext cx="6305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F7A5C"/>
                </a:solidFill>
                <a:latin typeface="Microsoft YaHei"/>
                <a:ea typeface="Microsoft YaHei"/>
              </a:rPr>
              <a:t>判断标准：他遇到的事，你客户也会遇到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3905250" y="4591050"/>
            <a:ext cx="7600950" cy="1571625"/>
          </a:xfrm>
          <a:prstGeom prst="roundRect">
            <a:avLst>
              <a:gd name="adj" fmla="val 8485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440" name=""/>
          <p:cNvSpPr/>
          <p:nvPr/>
        </p:nvSpPr>
        <p:spPr>
          <a:xfrm rot="0" flipH="0" flipV="0">
            <a:off x="4095750" y="47815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/>
        </p:spPr>
        <p:txBody>
          <a:bodyPr/>
          <a:p/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4286250" y="4886325"/>
            <a:ext cx="152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4800600" y="4781550"/>
            <a:ext cx="65151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E3A32"/>
                </a:solidFill>
                <a:latin typeface="Microsoft YaHei"/>
                <a:ea typeface="Microsoft YaHei"/>
              </a:rPr>
              <a:t>我最该抄哪一点？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4800600" y="5181600"/>
            <a:ext cx="65151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最后只取一样：是抄他的沟通话术，还是抄方案的节奏安排，还是抄处理异议的说法？一次学一样，比通篇照搬有用。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4800600" y="5895975"/>
            <a:ext cx="6515100" cy="41910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4905375" y="6000750"/>
            <a:ext cx="6305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9742B"/>
                </a:solidFill>
                <a:latin typeface="Microsoft YaHei"/>
                <a:ea typeface="Microsoft YaHei"/>
              </a:rPr>
              <a:t>判断标准：能用一句话说出你学到了什么</a:t>
            </a:r>
            <a:endParaRPr/>
          </a:p>
        </p:txBody>
      </p:sp>
      <p:pic>
        <p:nvPicPr>
          <p:cNvPr id="4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五期上手课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24 / 33</a:t>
            </a:r>
            <a:endParaRPr/>
          </a:p>
        </p:txBody>
      </p:sp>
    </p:spTree>
  </p:cSld>
</p:sld>
</file>

<file path=ppt/slides/slide2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49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「查看更多」与案例库，别搞混&lt;/Text&gt;&#10;        &lt;Box style={{ width: 56, height: 4, borderRadius: 2, background: '#1F7A5C', marginTop: 8 }} /&gt;&#10;    &lt;/Box&gt;&#10;&#10;    &lt;Box style={{ height: 528, flexDirection: 'row', gap: 28 }}&gt;&#10;        &lt;Box style={{ width: 660 }}&gt;&#10;            &lt;Text style={{ fontSize: 26, fontWeight: 'bold', color: '#1F7A5C', lineHeight: 1.45 }}&gt;&#10;                两个入口，指向的不是同一个地方&#10;            &lt;/Text&gt;&#10;&#10;            &lt;Box style={{&#10;                marginTop: 20, background: '#FFFFFF', borderRadius: 14, padding: 20,&#10;                boxShadow: '0 4px 20px rgba(30,58,50,0.08)',&#10;            }}&gt;&#10;                &lt;Box style={{ flexDirection: 'row', alignItems: 'center', gap: 12 }}&gt;&#10;                    &lt;Box style={{ background: 'rgba(31,122,92,0.12)', borderRadius: 12, paddingLeft: 12, paddingRight: 12, paddingTop: 6, paddingBottom: 6 }}&gt;&#10;                        &lt;Text style={{ fontSize: 20, fontWeight: 'bold', color: '#1F7A5C' }}&gt;A&lt;/Text&gt;&#10;                    &lt;/Box&gt;&#10;                    &lt;Text style={{ fontSize: 25, fontWeight: 'bold', color: '#1E3A32' }}&gt;回答下方的「查看更多」&lt;/Text&gt;&#10;                &lt;/Box&gt;&#10;                &lt;Text style={{ fontSize: 20, color: '#6B7C75', lineHeight: 1.55, marginTop: 12 }}&gt;&#10;                    只给你&lt;Text style={{ fontWeight: 'bold', color: '#1E3A32' }}&gt;本次问题相关&lt;/Text&gt;的更多案例。如果这一问确实没有更多相关案例，这个按钮就不会出现——不是页面卡了，是真的没有了。&#10;                &lt;/Text&gt;&#10;            &lt;/Box&gt;&#10;&#10;            &lt;Box style={{&#10;                marginTop: 16, background: '#FFFFFF', borderRadius: 14, padding: 20,&#10;                boxShadow: '0 4px 20px rgba(30,58,50,0.08)',&#10;            }}&gt;&#10;                &lt;Box style={{ flexDirection: 'row', alignItems: 'center', gap: 12 }}&gt;&#10;                    &lt;Box style={{ background: 'rgba(224,138,60,0.18)', borderRadius: 12, paddingLeft: 12, paddingRight: 12, paddingTop: 6, paddingBottom: 6 }}&gt;&#10;                        &lt;Text style={{ fontSize: 20, fontWeight: 'bold', color: '#C9742B' }}&gt;B&lt;/Text&gt;&#10;                    &lt;/Box&gt;&#10;                    &lt;Text style={{ fontSize: 25, fontWeight: 'bold', color: '#1E3A32' }}&gt;案例详情底部的「查看更多客户案例」&lt;/Text&gt;&#10;                &lt;/Box&gt;&#10;                &lt;Text style={{ fontSize: 20, color: '#6B7C75', lineHeight: 1.55, marginTop: 12 }}&gt;&#10;                    通向公司对外公开的&lt;Text style={{ fontWeight: 'bold', color: '#1E3A32' }}&gt;完整案例库&lt;/Text&gt;，是跳出当前页面去另一个 H5 页面。想系统地翻案例，从这里进。&#10;                &lt;/Text&gt;&#10;            &lt;/Box&gt;&#10;&#10;            &lt;Box style={{&#10;                marginTop: 'auto', background: 'rgba(224,138,60,0.14)', borderRadius: 14, padding: 18,&#10;            }}&gt;&#10;                &lt;Text style={{ fontSize: 20, color: '#C9742B', lineHeight: 1.55, fontWeight: 'bold' }}&gt;&#10;                    小提醒：公司还没配置案例库链接时，B 这个按钮不会出现——这不是你点错了，是还没配。&#10;                &lt;/Text&gt;&#10;            &lt;/Box&gt;&#10;        &lt;/Box&gt;&#10;&#10;        &lt;Box style={{ flex: 1 }}&gt;&#10;            &lt;svg width=&quot;448&quot; height=&quot;528&quot; viewBox=&quot;0 0 448 528&quot;&gt;&#10;                &lt;rect x=&quot;24&quot; y=&quot;60&quot; width=&quot;180&quot; height=&quot;330&quot; rx=&quot;20&quot; fill=&quot;#FFFFFF&quot; /&gt;&#10;                &lt;rect x=&quot;24&quot; y=&quot;60&quot; width=&quot;180&quot; height=&quot;330&quot; rx=&quot;20&quot; fill=&quot;none&quot; stroke=&quot;#DDE7E1&quot; strokeWidth=&quot;3&quot; /&gt;&#10;                &lt;rect x=&quot;44&quot; y=&quot;86&quot; width=&quot;140&quot; height=&quot;14&quot; rx=&quot;7&quot; fill=&quot;#1F7A5C&quot; opacity=&quot;0.6&quot; /&gt;&#10;                &lt;rect x=&quot;44&quot; y=&quot;116&quot; width=&quot;140&quot; height=&quot;10&quot; rx=&quot;5&quot; fill=&quot;#A8D5BA&quot; /&gt;&#10;                &lt;rect x=&quot;44&quot; y=&quot;140&quot; width=&quot;110&quot; height=&quot;10&quot; rx=&quot;5&quot; fill=&quot;#A8D5BA&quot; /&gt;&#10;                &lt;rect x=&quot;44&quot; y=&quot;176&quot; width=&quot;140&quot; height=&quot;48&quot; rx=&quot;12&quot; fill=&quot;rgba(168,213,186,0.45)&quot; /&gt;&#10;                &lt;rect x=&quot;44&quot; y=&quot;236&quot; width=&quot;140&quot; height=&quot;48&quot; rx=&quot;12&quot; fill=&quot;rgba(168,213,186,0.45)&quot; /&gt;&#10;                &lt;rect x=&quot;44&quot; y=&quot;296&quot; width=&quot;140&quot; height=&quot;48&quot; rx=&quot;12&quot; fill=&quot;rgba(31,122,92,0.1)&quot; /&gt;&#10;                &lt;rect x=&quot;44&quot; y=&quot;352&quot; width=&quot;140&quot; height=&quot;24&quot; rx=&quot;12&quot; fill=&quot;#E08A3C&quot; opacity=&quot;0.85&quot; /&gt;&#10;&#10;                &lt;path d=&quot;M222 226 L280 226&quot; stroke=&quot;#A8D5BA&quot; strokeWidth=&quot;5&quot; strokeLinecap=&quot;round&quot; /&gt;&#10;                &lt;path d=&quot;M268 214 L286 226 L268 238 Z&quot; fill=&quot;#A8D5BA&quot; /&gt;&#10;&#10;                &lt;rect x=&quot;296&quot; y=&quot;96&quot; width=&quot;140&quot; height=&quot;300&quot; rx=&quot;16&quot; fill=&quot;#1F7A5C&quot; /&gt;&#10;                &lt;rect x=&quot;296&quot; y=&quot;96&quot; width=&quot;140&quot; height=&quot;34&quot; rx=&quot;16&quot; fill=&quot;#FFFFFF&quot; opacity=&quot;0.15&quot; /&gt;&#10;                &lt;circle cx=&quot;312&quot; cy=&quot;113&quot; r=&quot;6&quot; fill=&quot;#FFFFFF&quot; opacity=&quot;0.7&quot; /&gt;&#10;                &lt;circle cx=&quot;332&quot; cy=&quot;113&quot; r=&quot;6&quot; fill=&quot;#FFFFFF&quot; opacity=&quot;0.5&quot; /&gt;&#10;                &lt;rect x=&quot;314&quot; y=&quot;152&quot; width=&quot;104&quot; height=&quot;14&quot; rx=&quot;7&quot; fill=&quot;#FFFFFF&quot; opacity=&quot;0.85&quot; /&gt;&#10;                &lt;rect x=&quot;314&quot; y=&quot;182&quot; width=&quot;104&quot; height=&quot;10&quot; rx=&quot;5&quot; fill=&quot;#FFFFFF&quot; opacity=&quot;0.45&quot; /&gt;&#10;                &lt;rect x=&quot;314&quot; y=&quot;204&quot; width=&quot;80&quot; height=&quot;10&quot; rx=&quot;5&quot; fill=&quot;#FFFFFF&quot; opacity=&quot;0.45&quot; /&gt;&#10;                &lt;rect x=&quot;314&quot; y=&quot;240&quot; width=&quot;104&quot; height=&quot;54&quot; rx=&quot;12&quot; fill=&quot;#FFFFFF&quot; opacity=&quot;0.16&quot; /&gt;&#10;                &lt;rect x=&quot;314&quot; y=&quot;306&quot; width=&quot;104&quot; height=&quot;54&quot; rx=&quot;12&quot; fill=&quot;#FFFFFF&quot; opacity=&quot;0.16&quot; /&gt;&#10;&#10;                &lt;text x=&quot;366&quot; y=&quot;432&quot; textAnchor=&quot;middle&quot; fontSize=&quot;20&quot; fill=&quot;#1F7A5C&quot; fontFamily=&quot;PingFang SC&quot;&gt;客户案例库 H5&lt;/text&gt;&#10;&#10;                &lt;circle cx=&quot;114&quot; cy=&quot;440&quot; r=&quot;16&quot; fill=&quot;#E08A3C&quot; /&gt;&#10;                &lt;text x=&quot;114&quot; y=&quot;447&quot; textAnchor=&quot;middle&quot; fontSize=&quot;18&quot; fontWeight=&quot;bold&quot; fill=&quot;#FFFFFF&quot; fontFamily=&quot;PingFang SC&quot;&gt;A&lt;/text&gt;&#10;                &lt;text x=&quot;150&quot; y=&quot;447&quot; fontSize=&quot;19&quot; fill=&quot;#6B7C75&quot; fontFamily=&quot;PingFang SC&quot;&gt;只看本次相关的&lt;/text&gt;&#10;                &lt;text x=&quot;114&quot; y=&quot;486&quot; textAnchor=&quot;middle&quot; fontSize=&quot;19&quot; fill=&quot;#6B7C75&quot; fontFamily=&quot;PingFang SC&quot;&gt;点 B 才跳出到完整案例库&lt;/text&gt;&#10;            &lt;/svg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五期上手课&lt;/Text&gt;&#10;        &lt;/Box&gt;&#10;        &lt;Text style={{ fontSize: 14, color: '#6B7C75' }}&gt;25 / 3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「查看更多」与案例库，别搞混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6286500" cy="4381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两个入口，指向的不是同一个地方</a:t>
            </a:r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685800" y="1771650"/>
            <a:ext cx="6286500" cy="1552575"/>
          </a:xfrm>
          <a:prstGeom prst="roundRect">
            <a:avLst>
              <a:gd name="adj" fmla="val 858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55" name=""/>
          <p:cNvSpPr/>
          <p:nvPr/>
        </p:nvSpPr>
        <p:spPr>
          <a:xfrm rot="0" flipH="0" flipV="0">
            <a:off x="876300" y="1962150"/>
            <a:ext cx="371475" cy="342900"/>
          </a:xfrm>
          <a:prstGeom prst="roundRect">
            <a:avLst>
              <a:gd name="adj" fmla="val 33333"/>
            </a:avLst>
          </a:prstGeom>
          <a:solidFill>
            <a:srgbClr val="1F7A5C">
              <a:alpha val="12000"/>
            </a:srgbClr>
          </a:solidFill>
          <a:ln/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990600" y="2019300"/>
            <a:ext cx="142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F7A5C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1362075" y="1990725"/>
            <a:ext cx="26193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回答下方的「查看更多」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876300" y="2419350"/>
            <a:ext cx="5905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只给你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本次问题相关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的更多案例。如果这一问确实没有更多相关案例，这个按钮就不会出现——不是页面卡了，是真的没有了。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685800" y="3476625"/>
            <a:ext cx="6286500" cy="1552575"/>
          </a:xfrm>
          <a:prstGeom prst="roundRect">
            <a:avLst>
              <a:gd name="adj" fmla="val 858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60" name=""/>
          <p:cNvSpPr/>
          <p:nvPr/>
        </p:nvSpPr>
        <p:spPr>
          <a:xfrm rot="0" flipH="0" flipV="0">
            <a:off x="876300" y="3667125"/>
            <a:ext cx="371475" cy="342900"/>
          </a:xfrm>
          <a:prstGeom prst="roundRect">
            <a:avLst>
              <a:gd name="adj" fmla="val 33333"/>
            </a:avLst>
          </a:prstGeom>
          <a:solidFill>
            <a:srgbClr val="E08A3C">
              <a:alpha val="18000"/>
            </a:srgbClr>
          </a:solidFill>
          <a:ln/>
        </p:spPr>
        <p:txBody>
          <a:bodyPr/>
          <a:p/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990600" y="3724275"/>
            <a:ext cx="142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C9742B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1362075" y="3695700"/>
            <a:ext cx="40481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案例详情底部的「查看更多客户案例」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876300" y="4124325"/>
            <a:ext cx="5905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通向公司对外公开的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完整案例库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，是跳出当前页面去另一个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 H5 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页面。想系统地翻案例，从这里进。</a:t>
            </a:r>
            <a:endParaRPr/>
          </a:p>
        </p:txBody>
      </p:sp>
      <p:sp>
        <p:nvSpPr>
          <p:cNvPr id="464" name=""/>
          <p:cNvSpPr/>
          <p:nvPr/>
        </p:nvSpPr>
        <p:spPr>
          <a:xfrm rot="0" flipH="0" flipV="0">
            <a:off x="685800" y="5114925"/>
            <a:ext cx="6286500" cy="1057275"/>
          </a:xfrm>
          <a:prstGeom prst="roundRect">
            <a:avLst>
              <a:gd name="adj" fmla="val 12613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857250" y="5286375"/>
            <a:ext cx="59436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 b="1">
                <a:solidFill>
                  <a:srgbClr val="C9742B"/>
                </a:solidFill>
                <a:latin typeface="Microsoft YaHei"/>
                <a:ea typeface="Microsoft YaHei"/>
              </a:rPr>
              <a:t>小提醒：公司还没配置案例库链接时，</a:t>
            </a:r>
            <a:r>
              <a:rPr lang="en-US" sz="1500" b="1">
                <a:solidFill>
                  <a:srgbClr val="C9742B"/>
                </a:solidFill>
                <a:latin typeface="Microsoft YaHei"/>
                <a:ea typeface="Microsoft YaHei"/>
              </a:rPr>
              <a:t>B </a:t>
            </a:r>
            <a:r>
              <a:rPr lang="zh-CN" sz="1500" b="1">
                <a:solidFill>
                  <a:srgbClr val="C9742B"/>
                </a:solidFill>
                <a:latin typeface="Microsoft YaHei"/>
                <a:ea typeface="Microsoft YaHei"/>
              </a:rPr>
              <a:t>这个按钮不会出现——这不是你点错了，是还没配。</a:t>
            </a:r>
            <a:endParaRPr/>
          </a:p>
        </p:txBody>
      </p:sp>
      <p:pic>
        <p:nvPicPr>
          <p:cNvPr id="4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239000" y="1143000"/>
            <a:ext cx="4267200" cy="5029200"/>
          </a:xfrm>
          <a:prstGeom prst="rect">
            <a:avLst/>
          </a:prstGeom>
          <a:ln/>
        </p:spPr>
      </p:pic>
      <p:pic>
        <p:nvPicPr>
          <p:cNvPr id="4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五期上手课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25 / 33</a:t>
            </a:r>
            <a:endParaRPr/>
          </a:p>
        </p:txBody>
      </p:sp>
    </p:spTree>
  </p:cSld>
</p:sld>
</file>

<file path=ppt/slides/slide2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70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第 4 期实操：从提问到读完三条案例&lt;/Text&gt;&#10;        &lt;Box style={{ width: 56, height: 4, borderRadius: 2, background: '#1F7A5C', marginTop: 8 }} /&gt;&#10;    &lt;/Box&gt;&#10;&#10;    &lt;Box style={{ height: 528 }}&gt;&#10;        &lt;Box style={{ height: 238, background: '#FFFFFF', borderRadius: 14, padding: 16, boxShadow: '0 4px 20px rgba(30,58,50,0.08)' }}&gt;&#10;            &lt;svg width=&quot;1104&quot; height=&quot;206&quot; viewBox=&quot;0 0 1104 206&quot;&gt;&#10;                &lt;rect x=&quot;16&quot; y=&quot;34&quot; width=&quot;306&quot; height=&quot;106&quot; rx=&quot;16&quot; fill=&quot;#1F7A5C&quot; /&gt;&#10;                &lt;text x=&quot;169&quot; y=&quot;78&quot; textAnchor=&quot;middle&quot; fontSize=&quot;26&quot; fontWeight=&quot;bold&quot; fill=&quot;#FFFFFF&quot; fontFamily=&quot;PingFang SC&quot;&gt;1  提一个带背景的问题&lt;/text&gt;&#10;                &lt;text x=&quot;169&quot; y=&quot;112&quot; textAnchor=&quot;middle&quot; fontSize=&quot;19&quot; fill=&quot;#FFFFFF&quot; opacity=&quot;0.85&quot; fontFamily=&quot;PingFang SC&quot;&gt;把人群、状态、困扰写进问句&lt;/text&gt;&#10;&#10;                &lt;path d=&quot;M330 87 L392 87&quot; stroke=&quot;#A8D5BA&quot; strokeWidth=&quot;5&quot; /&gt;&#10;                &lt;path d=&quot;M380 75 L398 87 L380 99 Z&quot; fill=&quot;#A8D5BA&quot; /&gt;&#10;&#10;                &lt;rect x=&quot;400&quot; y=&quot;34&quot; width=&quot;306&quot; height=&quot;106&quot; rx=&quot;16&quot; fill=&quot;rgba(168,213,186,0.5)&quot; /&gt;&#10;                &lt;text x=&quot;553&quot; y=&quot;78&quot; textAnchor=&quot;middle&quot; fontSize=&quot;26&quot; fontWeight=&quot;bold&quot; fill=&quot;#1E3A32&quot; fontFamily=&quot;PingFang SC&quot;&gt;2  读完三条案例卡&lt;/text&gt;&#10;                &lt;text x=&quot;553&quot; y=&quot;112&quot; textAnchor=&quot;middle&quot; fontSize=&quot;19&quot; fill=&quot;#1E3A32&quot; opacity=&quot;0.75&quot; fontFamily=&quot;PingFang SC&quot;&gt;重点看画像和场景，不看热闹&lt;/text&gt;&#10;&#10;                &lt;path d=&quot;M714 87 L776 87&quot; stroke=&quot;#A8D5BA&quot; strokeWidth=&quot;5&quot; /&gt;&#10;                &lt;path d=&quot;M764 75 L782 87 L764 99 Z&quot; fill=&quot;#A8D5BA&quot; /&gt;&#10;&#10;                &lt;rect x=&quot;784&quot; y=&quot;34&quot; width=&quot;306&quot; height=&quot;106&quot; rx=&quot;16&quot; fill=&quot;#E08A3C&quot; /&gt;&#10;                &lt;text x=&quot;937&quot; y=&quot;78&quot; textAnchor=&quot;middle&quot; fontSize=&quot;26&quot; fontWeight=&quot;bold&quot; fill=&quot;#FFFFFF&quot; fontFamily=&quot;PingFang SC&quot;&gt;3  选出最像的一条&lt;/text&gt;&#10;                &lt;text x=&quot;937&quot; y=&quot;112&quot; textAnchor=&quot;middle&quot; fontSize=&quot;19&quot; fill=&quot;#FFFFFF&quot; opacity=&quot;0.9&quot; fontFamily=&quot;PingFang SC&quot;&gt;并说得出为什么像、学到哪一点&lt;/text&gt;&#10;&#10;                &lt;text x=&quot;169&quot; y=&quot;186&quot; textAnchor=&quot;middle&quot; fontSize=&quot;18&quot; fill=&quot;#6B7C75&quot; fontFamily=&quot;PingFang SC&quot;&gt;问得越具体，案例越准&lt;/text&gt;&#10;                &lt;text x=&quot;553&quot; y=&quot;186&quot; textAnchor=&quot;middle&quot; fontSize=&quot;18&quot; fill=&quot;#6B7C75&quot; fontFamily=&quot;PingFang SC&quot;&gt;三问过滤，不合适就跳过&lt;/text&gt;&#10;                &lt;text x=&quot;937&quot; y=&quot;186&quot; textAnchor=&quot;middle&quot; fontSize=&quot;18&quot; fill=&quot;#6B7C75&quot; fontFamily=&quot;PingFang SC&quot;&gt;一次只学一样&lt;/text&gt;&#10;            &lt;/svg&gt;&#10;        &lt;/Box&gt;&#10;&#10;        &lt;Box style={{&#10;            height: 276, marginTop: 14, flexDirection: 'row', gap: 20,&#10;            background: 'rgba(31,122,92,0.08)', borderRadius: 14, padding: 24,&#10;        }}&gt;&#10;            &lt;Box style={{ flex: 1, gap: 11 }}&gt;&#10;                &lt;Text style={{ fontSize: 24, fontWeight: 'bold', color: '#1F7A5C' }}&gt;做完之后，逐条自检&lt;/Text&gt;&#10;&#10;                &lt;Box style={{ flexDirection: 'row', gap: 12, alignItems: 'flex-start' }}&gt;&#10;                    &lt;FAIcon name='check-square' style={{ fill: '#1F7A5C', width: 22, height: 22 }} /&gt;&#10;                    &lt;Text style={{ fontSize: 19, color: '#1E3A32', lineHeight: 1.5, flex: 1 }}&gt;&#10;                        我这一个问题下面出现了几条相关案例？一条都没有，说明问得太泛，改具体再来一次&#10;                    &lt;/Text&gt;&#10;                &lt;/Box&gt;&#10;                &lt;Box style={{ flexDirection: 'row', gap: 12, alignItems: 'flex-start' }}&gt;&#10;                    &lt;FAIcon name='check-square' style={{ fill: '#1F7A5C', width: 22, height: 22 }} /&gt;&#10;                    &lt;Text style={{ fontSize: 19, color: '#1E3A32', lineHeight: 1.5, flex: 1 }}&gt;&#10;                        我点开了其中至少两条，并且把客户画像和使用场景都看完了&#10;                    &lt;/Text&gt;&#10;                &lt;/Box&gt;&#10;                &lt;Box style={{ flexDirection: 'row', gap: 12, alignItems: 'flex-start' }}&gt;&#10;                    &lt;FAIcon name='check-square' style={{ fill: '#1F7A5C', width: 22, height: 22 }} /&gt;&#10;                    &lt;Text style={{ fontSize: 19, color: '#1E3A32', lineHeight: 1.5, flex: 1 }}&gt;&#10;                        我能说出哪一条最像我（或我的客户），并且讲得出&quot;像&quot;在哪里&#10;                    &lt;/Text&gt;&#10;                &lt;/Box&gt;&#10;                &lt;Box style={{ flexDirection: 'row', gap: 12, alignItems: 'flex-start' }}&gt;&#10;                    &lt;FAIcon name='check-square' style={{ fill: '#1F7A5C', width: 22, height: 22 }} /&gt;&#10;                    &lt;Text style={{ fontSize: 19, color: '#1E3A32', lineHeight: 1.5, flex: 1 }}&gt;&#10;                        我把学到的那一点，用一句话写在了笔记本或工作群里&#10;                    &lt;/Text&gt;&#10;                &lt;/Box&gt;&#10;            &lt;/Box&gt;&#10;&#10;            &lt;Box style={{&#10;                width: 320, background: '#FFFFFF', borderRadius: 14, padding: 18, justifyContent: 'center',&#10;            }}&gt;&#10;                &lt;Text style={{ fontSize: 22, fontWeight: 'bold', color: '#1E3A32', lineHeight: 1.5 }}&gt;&#10;                    看完不总结，&lt;br /&gt;等于没看&#10;                &lt;/Text&gt;&#10;                &lt;Text style={{ fontSize: 19, color: '#6B7C75', lineHeight: 1.55, marginTop: 12 }}&gt;&#10;                    案例的价值不在&quot;读了多少条&quot;，而在你能不能把其中一条用出来。一期三条，比一天三十条有用。&#10;                &lt;/Text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五期上手课&lt;/Text&gt;&#10;        &lt;/Box&gt;&#10;        &lt;Text style={{ fontSize: 14, color: '#6B7C75' }}&gt;26 / 3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第</a:t>
            </a:r>
            <a:r>
              <a:rPr lang="en-US" sz="2700" b="1">
                <a:solidFill>
                  <a:srgbClr val="1E3A32"/>
                </a:solidFill>
                <a:latin typeface="Microsoft YaHei"/>
                <a:ea typeface="Microsoft YaHei"/>
              </a:rPr>
              <a:t> 4 </a:t>
            </a: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期实操：从提问到读完三条案例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474" name=""/>
          <p:cNvSpPr/>
          <p:nvPr/>
        </p:nvSpPr>
        <p:spPr>
          <a:xfrm rot="0" flipH="0" flipV="0">
            <a:off x="685800" y="1143000"/>
            <a:ext cx="10820400" cy="22669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4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38200" y="1295400"/>
            <a:ext cx="10515600" cy="1962150"/>
          </a:xfrm>
          <a:prstGeom prst="rect">
            <a:avLst/>
          </a:prstGeom>
          <a:ln/>
        </p:spPr>
      </p:pic>
      <p:sp>
        <p:nvSpPr>
          <p:cNvPr id="476" name=""/>
          <p:cNvSpPr/>
          <p:nvPr/>
        </p:nvSpPr>
        <p:spPr>
          <a:xfrm rot="0" flipH="0" flipV="0">
            <a:off x="685800" y="3543300"/>
            <a:ext cx="10820400" cy="2628900"/>
          </a:xfrm>
          <a:prstGeom prst="roundRect">
            <a:avLst>
              <a:gd name="adj" fmla="val 5072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914400" y="3771900"/>
            <a:ext cx="7124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F7A5C"/>
                </a:solidFill>
                <a:latin typeface="Microsoft YaHei"/>
                <a:ea typeface="Microsoft YaHei"/>
              </a:rPr>
              <a:t>做完之后，逐条自检</a:t>
            </a:r>
            <a:endParaRPr/>
          </a:p>
        </p:txBody>
      </p:sp>
      <p:pic>
        <p:nvPicPr>
          <p:cNvPr id="4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14400" y="4152900"/>
            <a:ext cx="209550" cy="209550"/>
          </a:xfrm>
          <a:prstGeom prst="rect">
            <a:avLst/>
          </a:prstGeom>
          <a:ln/>
        </p:spPr>
      </p:pic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1238250" y="4152900"/>
            <a:ext cx="68008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我这一个问题下面出现了几条相关案例？一条都没有，说明问得太泛，改具体再来一次</a:t>
            </a:r>
            <a:endParaRPr/>
          </a:p>
        </p:txBody>
      </p:sp>
      <p:pic>
        <p:nvPicPr>
          <p:cNvPr id="4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14400" y="4914900"/>
            <a:ext cx="209550" cy="209550"/>
          </a:xfrm>
          <a:prstGeom prst="rect">
            <a:avLst/>
          </a:prstGeom>
          <a:ln/>
        </p:spPr>
      </p:pic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1238250" y="4914900"/>
            <a:ext cx="680085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我点开了其中至少两条，并且把客户画像和使用场景都看完了</a:t>
            </a:r>
            <a:endParaRPr/>
          </a:p>
        </p:txBody>
      </p:sp>
      <p:pic>
        <p:nvPicPr>
          <p:cNvPr id="48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14400" y="5353050"/>
            <a:ext cx="209550" cy="209550"/>
          </a:xfrm>
          <a:prstGeom prst="rect">
            <a:avLst/>
          </a:prstGeom>
          <a:ln/>
        </p:spPr>
      </p:pic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1238250" y="5353050"/>
            <a:ext cx="680085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我能说出哪一条最像我（或我的客户），并且讲得出</a:t>
            </a:r>
            <a:r>
              <a:rPr lang="en-US" sz="1425">
                <a:solidFill>
                  <a:srgbClr val="1E3A32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像</a:t>
            </a:r>
            <a:r>
              <a:rPr lang="en-US" sz="1425">
                <a:solidFill>
                  <a:srgbClr val="1E3A32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在哪里</a:t>
            </a:r>
            <a:endParaRPr/>
          </a:p>
        </p:txBody>
      </p:sp>
      <p:pic>
        <p:nvPicPr>
          <p:cNvPr id="48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14400" y="5791200"/>
            <a:ext cx="209550" cy="209550"/>
          </a:xfrm>
          <a:prstGeom prst="rect">
            <a:avLst/>
          </a:prstGeom>
          <a:ln/>
        </p:spPr>
      </p:pic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1238250" y="5791200"/>
            <a:ext cx="680085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我把学到的那一点，用一句话写在了笔记本或工作群里</a:t>
            </a:r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8229600" y="3771900"/>
            <a:ext cx="3048000" cy="2238375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8401050" y="3943350"/>
            <a:ext cx="2705100" cy="762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1E3A32"/>
                </a:solidFill>
                <a:latin typeface="Microsoft YaHei"/>
                <a:ea typeface="Microsoft YaHei"/>
              </a:rPr>
              <a:t>看完不总结，</a:t>
            </a:r>
            <a:endParaRPr/>
          </a:p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1E3A32"/>
                </a:solidFill>
                <a:latin typeface="Microsoft YaHei"/>
                <a:ea typeface="Microsoft YaHei"/>
              </a:rPr>
              <a:t>等于没看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8401050" y="4819650"/>
            <a:ext cx="2705100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案例的价值不在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读了多少条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，而在你能不能把其中一条用出来。一期三条，比一天三十条有用。</a:t>
            </a:r>
            <a:endParaRPr/>
          </a:p>
        </p:txBody>
      </p:sp>
      <p:pic>
        <p:nvPicPr>
          <p:cNvPr id="4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五期上手课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26 / 33</a:t>
            </a:r>
            <a:endParaRPr/>
          </a:p>
        </p:txBody>
      </p:sp>
    </p:spTree>
  </p:cSld>
</p:sld>
</file>

<file path=ppt/slides/slide2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92" name="" descr="&lt;Slide style={{ background: '#F7FAF6', padding: 0 }}&gt;&#10;    &lt;Box style={{ flexDirection: 'row', width: '100%', height: '100%' }}&gt;&#10;        &lt;Box style={{&#10;            width: 742, height: '100%',&#10;            background: 'linear-gradient(135deg, #1F7A5C 0%, #2E9B77 100%)',&#10;            paddingLeft: 72, paddingRight: 48, justifyContent: 'center',&#10;        }}&gt;&#10;            &lt;Text style={{ fontSize: 120, fontWeight: 'bold', color: '#FFFFFF', opacity: 0.28, lineHeight: 1 }}&gt;05&lt;/Text&gt;&#10;            &lt;Text style={{ fontSize: 68, fontWeight: 'bold', color: '#FFFFFF', lineHeight: 1.15, marginTop: 12 }}&gt;&#10;                用得久、用得顺&#10;            &lt;/Text&gt;&#10;            &lt;Box style={{ width: 96, height: 5, borderRadius: 3, background: '#E08A3C', marginTop: 26 }} /&gt;&#10;            &lt;Text style={{ fontSize: 26, color: '#FFFFFF', opacity: 0.88, lineHeight: 1.55, marginTop: 24 }}&gt;&#10;                社区、真人营养师与五个好习惯&lt;br /&gt;新鲜劲过去之后，才是真正开始用&#10;            &lt;/Text&gt;&#10;        &lt;/Box&gt;&#10;&#10;        &lt;Box style={{ flex: 1, height: '100%', background: '#F7FAF6' }}&gt;&#10;            &lt;svg width=&quot;538&quot; height=&quot;720&quot; viewBox=&quot;0 0 538 720&quot;&gt;&#10;                &lt;circle cx=&quot;330&quot; cy=&quot;150&quot; r=&quot;104&quot; fill=&quot;#E08A3C&quot; opacity=&quot;0.22&quot; /&gt;&#10;                &lt;circle cx=&quot;330&quot; cy=&quot;150&quot; r=&quot;62&quot; fill=&quot;#E08A3C&quot; opacity=&quot;0.32&quot; /&gt;&#10;&#10;                &lt;path d=&quot;M60 700 C120 600 200 560 180 470 C160 380 250 340 262 250&quot; fill=&quot;none&quot; stroke=&quot;#A8D5BA&quot; strokeWidth=&quot;34&quot; strokeLinecap=&quot;round&quot; /&gt;&#10;                &lt;path d=&quot;M60 700 C120 600 200 560 180 470 C160 380 250 340 262 250&quot; fill=&quot;none&quot; stroke=&quot;#FFFFFF&quot; strokeWidth=&quot;6&quot; strokeLinecap=&quot;round&quot; strokeDasharray=&quot;18 16&quot; /&gt;&#10;&#10;                &lt;circle cx=&quot;60&quot; cy=&quot;700&quot; r=&quot;20&quot; fill=&quot;#1F7A5C&quot; /&gt;&#10;                &lt;circle cx=&quot;180&quot; cy=&quot;470&quot; r=&quot;16&quot; fill=&quot;#1F7A5C&quot; opacity=&quot;0.75&quot; /&gt;&#10;                &lt;circle cx=&quot;262&quot; cy=&quot;250&quot; r=&quot;22&quot; fill=&quot;#E08A3C&quot; /&gt;&#10;&#10;                &lt;path d=&quot;M96 640 q28 -44 70 -55 q-8 48 -70 55Z&quot; fill=&quot;#1F7A5C&quot; opacity=&quot;0.4&quot; /&gt;&#10;                &lt;path d=&quot;M330 420 q32 -50 80 -63 q-9 54 -80 63Z&quot; fill=&quot;#1F7A5C&quot; opacity=&quot;0.3&quot; /&gt;&#10;                &lt;path d=&quot;M420 620 q30 -46 74 -58 q-8 50 -74 58Z&quot; fill=&quot;#1F7A5C&quot; opacity=&quot;0.35&quot; /&gt;&#10;&#10;                &lt;path d=&quot;M0 668 Q160 630 320 668 T538 652 L538 720 L0 720 Z&quot; fill=&quot;#1F7A5C&quot; opacity=&quot;0.45&quot; /&gt;&#10;            &lt;/svg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494" name=""/>
          <p:cNvSpPr/>
          <p:nvPr/>
        </p:nvSpPr>
        <p:spPr>
          <a:xfrm rot="0" flipH="0" flipV="0">
            <a:off x="0" y="0"/>
            <a:ext cx="7067550" cy="6858000"/>
          </a:xfrm>
          <a:prstGeom prst="rect">
            <a:avLst/>
          </a:prstGeom>
          <a:gradFill>
            <a:gsLst>
              <a:gs pos="0">
                <a:srgbClr val="1F7A5C"/>
              </a:gs>
              <a:gs pos="100000">
                <a:srgbClr val="2E9B77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685800" y="3000375"/>
            <a:ext cx="5924550" cy="8953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5100" b="1">
                <a:solidFill>
                  <a:srgbClr val="FFFFFF"/>
                </a:solidFill>
                <a:latin typeface="Microsoft YaHei"/>
                <a:ea typeface="Microsoft YaHei"/>
              </a:rPr>
              <a:t>用得久、用得顺</a:t>
            </a:r>
            <a:endParaRPr/>
          </a:p>
        </p:txBody>
      </p:sp>
      <p:sp>
        <p:nvSpPr>
          <p:cNvPr id="496" name=""/>
          <p:cNvSpPr/>
          <p:nvPr/>
        </p:nvSpPr>
        <p:spPr>
          <a:xfrm rot="0" flipH="0" flipV="0">
            <a:off x="685800" y="4143375"/>
            <a:ext cx="914400" cy="47625"/>
          </a:xfrm>
          <a:prstGeom prst="roundRect">
            <a:avLst>
              <a:gd name="adj" fmla="val 60000"/>
            </a:avLst>
          </a:prstGeom>
          <a:solidFill>
            <a:srgbClr val="E08A3C"/>
          </a:solidFill>
          <a:ln/>
        </p:spPr>
        <p:txBody>
          <a:bodyPr/>
          <a:p/>
        </p:txBody>
      </p:sp>
      <p:sp>
        <p:nvSpPr>
          <p:cNvPr id="497" name=""/>
          <p:cNvSpPr/>
          <p:nvPr/>
        </p:nvSpPr>
        <p:spPr>
          <a:xfrm rot="0" flipH="0" flipV="0">
            <a:off x="7067550" y="0"/>
            <a:ext cx="512445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pic>
        <p:nvPicPr>
          <p:cNvPr id="49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067550" y="0"/>
            <a:ext cx="5124450" cy="6858000"/>
          </a:xfrm>
          <a:prstGeom prst="rect">
            <a:avLst/>
          </a:prstGeom>
          <a:ln/>
        </p:spPr>
      </p:pic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685800" y="1514475"/>
            <a:ext cx="5924550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685800" y="4419600"/>
            <a:ext cx="5924550" cy="9239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95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社区、真人营养师与五个好习惯</a:t>
            </a:r>
            <a:endParaRPr/>
          </a:p>
          <a:p>
            <a:pPr>
              <a:lnSpc>
                <a:spcPct val="155000"/>
              </a:lnSpc>
            </a:pPr>
            <a:r>
              <a:rPr lang="zh-CN" sz="195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新鲜劲过去之后，才是真正开始用</a:t>
            </a:r>
            <a:endParaRPr/>
          </a:p>
        </p:txBody>
      </p:sp>
    </p:spTree>
  </p:cSld>
</p:sld>
</file>

<file path=ppt/slides/slide2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501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社区问答怎么用&lt;/Text&gt;&#10;        &lt;Box style={{ width: 56, height: 4, borderRadius: 2, background: '#1F7A5C', marginTop: 8 }} /&gt;&#10;    &lt;/Box&gt;&#10;&#10;    &lt;Box style={{ height: 528 }}&gt;&#10;        &lt;Box style={{ height: 290, background: '#FFFFFF', borderRadius: 14, padding: 16, boxShadow: '0 4px 20px rgba(30,58,50,0.08)' }}&gt;&#10;            &lt;svg width=&quot;1104&quot; height=&quot;258&quot; viewBox=&quot;0 0 1104 258&quot;&gt;&#10;                &lt;rect x=&quot;14&quot; y=&quot;24&quot; width=&quot;400&quot; height=&quot;210&quot; rx=&quot;16&quot; fill=&quot;#F7FAF6&quot; /&gt;&#10;                &lt;rect x=&quot;14&quot; y=&quot;24&quot; width=&quot;400&quot; height=&quot;210&quot; rx=&quot;16&quot; fill=&quot;none&quot; stroke=&quot;#DDE7E1&quot; strokeWidth=&quot;2&quot; /&gt;&#10;                &lt;rect x=&quot;40&quot; y=&quot;50&quot; width=&quot;280&quot; height=&quot;18&quot; rx=&quot;9&quot; fill=&quot;#1F7A5C&quot; /&gt;&#10;                &lt;rect x=&quot;40&quot; y=&quot;88&quot; width=&quot;340&quot; height=&quot;11&quot; rx=&quot;5&quot; fill=&quot;#A8D5BA&quot; /&gt;&#10;                &lt;rect x=&quot;40&quot; y=&quot;112&quot; width=&quot;300&quot; height=&quot;11&quot; rx=&quot;5&quot; fill=&quot;#A8D5BA&quot; /&gt;&#10;                &lt;rect x=&quot;40&quot; y=&quot;150&quot; width=&quot;86&quot; height=&quot;26&quot; rx=&quot;13&quot; fill=&quot;rgba(31,122,92,0.16)&quot; /&gt;&#10;                &lt;rect x=&quot;136&quot; y=&quot;150&quot; width=&quot;70&quot; height=&quot;26&quot; rx=&quot;13&quot; fill=&quot;rgba(31,122,92,0.16)&quot; /&gt;&#10;                &lt;rect x=&quot;40&quot; y=&quot;196&quot; width=&quot;150&quot; height=&quot;12&quot; rx=&quot;6&quot; fill=&quot;#A8D5BA&quot; opacity=&quot;0.7&quot; /&gt;&#10;&#10;                &lt;rect x=&quot;440&quot; y=&quot;24&quot; width=&quot;650&quot; height=&quot;96&quot; rx=&quot;16&quot; fill=&quot;rgba(168,213,186,0.42)&quot; /&gt;&#10;                &lt;circle cx=&quot;480&quot; cy=&quot;72&quot; r=&quot;22&quot; fill=&quot;#FFFFFF&quot; /&gt;&#10;                &lt;circle cx=&quot;480&quot; cy=&quot;66&quot; r=&quot;8&quot; fill=&quot;#1F7A5C&quot; opacity=&quot;0.6&quot; /&gt;&#10;                &lt;path d=&quot;M460 92 a20 20 0 0 1 40 0 z&quot; fill=&quot;#1F7A5C&quot; opacity=&quot;0.6&quot; /&gt;&#10;                &lt;rect x=&quot;518&quot; y=&quot;52&quot; width=&quot;380&quot; height=&quot;12&quot; rx=&quot;6&quot; fill=&quot;#1E3A32&quot; opacity=&quot;0.55&quot; /&gt;&#10;                &lt;rect x=&quot;518&quot; y=&quot;76&quot; width=&quot;300&quot; height=&quot;12&quot; rx=&quot;6&quot; fill=&quot;#1E3A32&quot; opacity=&quot;0.35&quot; /&gt;&#10;                &lt;circle cx=&quot;1044&quot; cy=&quot;72&quot; r=&quot;20&quot; fill=&quot;#FFFFFF&quot; opacity=&quot;0.8&quot; /&gt;&#10;                &lt;path d=&quot;M1036 66 v-6 a8 8 0 0 1 16 0 v6 h6 a6 6 0 0 1 6 6 v12 a6 6 0 0 1 -6 6 h-22 a6 6 0 0 1 -6 -6 v-12 a6 6 0 0 1 6 -6 z&quot; fill=&quot;#1F7A5C&quot; /&gt;&#10;                &lt;text x=&quot;1014&quot; y=&quot;116&quot; textAnchor=&quot;middle&quot; fontSize=&quot;17&quot; fill=&quot;#6B7C75&quot; fontFamily=&quot;PingFang SC&quot;&gt;12&lt;/text&gt;&#10;&#10;                &lt;rect x=&quot;440&quot; y=&quot;146&quot; width=&quot;650&quot; height=&quot;64&quot; rx=&quot;16&quot; fill=&quot;#1F7A5C&quot; /&gt;&#10;                &lt;circle cx=&quot;480&quot; cy=&quot;178&quot; r=&quot;20&quot; fill=&quot;#FFFFFF&quot; opacity=&quot;0.25&quot; /&gt;&#10;                &lt;rect x=&quot;518&quot; y=&quot;162&quot; width=&quot;330&quot; height=&quot;12&quot; rx=&quot;6&quot; fill=&quot;#FFFFFF&quot; opacity=&quot;0.85&quot; /&gt;&#10;                &lt;rect x=&quot;518&quot; y=&quot;184&quot; width=&quot;220&quot; height=&quot;10&quot; rx=&quot;5&quot; fill=&quot;#FFFFFF&quot; opacity=&quot;0.5&quot; /&gt;&#10;                &lt;rect x=&quot;920&quot; y=&quot;164&quot; width=&quot;150&quot; height=&quot;28&quot; rx=&quot;14&quot; fill=&quot;#E08A3C&quot; /&gt;&#10;                &lt;text x=&quot;995&quot; y=&quot;184&quot; textAnchor=&quot;middle&quot; fontSize=&quot;17&quot; fill=&quot;#FFFFFF&quot; fontFamily=&quot;PingFang SC&quot;&gt;审核中&lt;/text&gt;&#10;&#10;                &lt;text x=&quot;214&quot; y=&quot;252&quot; textAnchor=&quot;middle&quot; fontSize=&quot;18&quot; fill=&quot;#6B7C75&quot; fontFamily=&quot;PingFang SC&quot;&gt;别人提的问题&lt;/text&gt;&#10;                &lt;text x=&quot;765&quot; y=&quot;252&quot; textAnchor=&quot;middle&quot; fontSize=&quot;18&quot; fill=&quot;#6B7C75&quot; fontFamily=&quot;PingFang SC&quot;&gt;已公开的回复 · 可点赞&lt;/text&gt;&#10;            &lt;/svg&gt;&#10;        &lt;/Box&gt;&#10;&#10;        &lt;Box style={{&#10;            height: 214, marginTop: 14, flexDirection: 'row', gap: 20,&#10;            background: 'rgba(31,122,92,0.08)', borderRadius: 14, padding: 24,&#10;        }}&gt;&#10;            &lt;Box style={{ flex: 1, gap: 10 }}&gt;&#10;                &lt;Box style={{ flexDirection: 'row', gap: 14, alignItems: 'center' }}&gt;&#10;                    &lt;Box style={{ width: 40, height: 40, borderRadius: 20, background: '#1F7A5C', justifyContent: 'center', alignItems: 'center' }}&gt;&#10;                        &lt;FAIcon name='comments' style={{ fill: '#FFFFFF', width: 22, height: 22 }} /&gt;&#10;                    &lt;/Box&gt;&#10;                    &lt;Text style={{ fontSize: 20, color: '#1E3A32' }}&gt;&#10;                        &lt;span style={{ fontWeight: 'bold' }}&gt;逛&lt;/span&gt;：看别人都在问什么，这是现成的选题库和话题库&#10;                    &lt;/Text&gt;&#10;                &lt;/Box&gt;&#10;                &lt;Box style={{ flexDirection: 'row', gap: 14, alignItems: 'center' }}&gt;&#10;                    &lt;Box style={{ width: 40, height: 40, borderRadius: 20, background: '#1F7A5C', justifyContent: 'center', alignItems: 'center' }}&gt;&#10;                        &lt;FAIcon name='eye' style={{ fill: '#FFFFFF', width: 22, height: 22 }} /&gt;&#10;                    &lt;/Box&gt;&#10;                    &lt;Text style={{ fontSize: 20, color: '#1E3A32' }}&gt;&#10;                        &lt;span style={{ fontWeight: 'bold' }}&gt;看&lt;/span&gt;：看别人怎么回答，比自己从零憋一套说法快得多&#10;                    &lt;/Text&gt;&#10;                &lt;/Box&gt;&#10;                &lt;Box style={{ flexDirection: 'row', gap: 14, alignItems: 'center' }}&gt;&#10;                    &lt;Box style={{ width: 40, height: 40, borderRadius: 20, background: '#1F7A5C', justifyContent: 'center', alignItems: 'center' }}&gt;&#10;                        &lt;FAIcon name='thumbs-up' style={{ fill: '#FFFFFF', width: 22, height: 22 }} /&gt;&#10;                    &lt;/Box&gt;&#10;                    &lt;Text style={{ fontSize: 20, color: '#1E3A32' }}&gt;&#10;                        &lt;span style={{ fontWeight: 'bold' }}&gt;赞&lt;/span&gt;：觉得有用就点个赞，好内容会被更多人看到&#10;                    &lt;/Text&gt;&#10;                &lt;/Box&gt;&#10;                &lt;Box style={{ flexDirection: 'row', gap: 14, alignItems: 'center' }}&gt;&#10;                    &lt;Box style={{ width: 40, height: 40, borderRadius: 20, background: '#E08A3C', justifyContent: 'center', alignItems: 'center' }}&gt;&#10;                        &lt;FAIcon name='edit' style={{ fill: '#FFFFFF', width: 22, height: 22 }} /&gt;&#10;                    &lt;/Box&gt;&#10;                    &lt;Text style={{ fontSize: 20, color: '#1E3A32' }}&gt;&#10;                        &lt;span style={{ fontWeight: 'bold' }}&gt;发&lt;/span&gt;：自己也能回复，默认以「匿名用户」的身份发布&#10;                    &lt;/Text&gt;&#10;                &lt;/Box&gt;&#10;            &lt;/Box&gt;&#10;&#10;            &lt;Box style={{&#10;                width: 340, background: '#FFFFFF', borderRadius: 14, padding: 18, justifyContent: 'center',&#10;            }}&gt;&#10;                &lt;Box style={{ flexDirection: 'row', alignItems: 'center', gap: 10 }}&gt;&#10;                    &lt;FAIcon name='shield' style={{ fill: '#E08A3C', width: 24, height: 24 }} /&gt;&#10;                    &lt;Text style={{ fontSize: 21, fontWeight: 'bold', color: '#1E3A32' }}&gt;回复要先审核&lt;/Text&gt;&#10;                &lt;/Box&gt;&#10;                &lt;Text style={{ fontSize: 19, color: '#6B7C75', lineHeight: 1.55, marginTop: 10 }}&gt;&#10;                    新回复提交后是&quot;审核中&quot;，这段时间只有你自己看得见——不是没发出去。审核通过后才会对所有人生效。&#10;                &lt;/Text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五期上手课&lt;/Text&gt;&#10;        &lt;/Box&gt;&#10;        &lt;Text style={{ fontSize: 14, color: '#6B7C75' }}&gt;28 / 3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社区问答怎么用</a:t>
            </a:r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505" name=""/>
          <p:cNvSpPr/>
          <p:nvPr/>
        </p:nvSpPr>
        <p:spPr>
          <a:xfrm rot="0" flipH="0" flipV="0">
            <a:off x="685800" y="1143000"/>
            <a:ext cx="10820400" cy="276225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50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38200" y="1295400"/>
            <a:ext cx="10515600" cy="2457450"/>
          </a:xfrm>
          <a:prstGeom prst="rect">
            <a:avLst/>
          </a:prstGeom>
          <a:ln/>
        </p:spPr>
      </p:pic>
      <p:sp>
        <p:nvSpPr>
          <p:cNvPr id="507" name=""/>
          <p:cNvSpPr/>
          <p:nvPr/>
        </p:nvSpPr>
        <p:spPr>
          <a:xfrm rot="0" flipH="0" flipV="0">
            <a:off x="685800" y="4038600"/>
            <a:ext cx="10820400" cy="2038350"/>
          </a:xfrm>
          <a:prstGeom prst="roundRect">
            <a:avLst>
              <a:gd name="adj" fmla="val 6542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508" name=""/>
          <p:cNvSpPr/>
          <p:nvPr/>
        </p:nvSpPr>
        <p:spPr>
          <a:xfrm rot="0" flipH="0" flipV="0">
            <a:off x="914400" y="42672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5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000125" y="4352925"/>
            <a:ext cx="209550" cy="209550"/>
          </a:xfrm>
          <a:prstGeom prst="rect">
            <a:avLst/>
          </a:prstGeom>
          <a:ln/>
        </p:spPr>
      </p:pic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1428750" y="4343400"/>
            <a:ext cx="438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32"/>
                </a:solidFill>
                <a:latin typeface="Microsoft YaHei"/>
                <a:ea typeface="Microsoft YaHei"/>
              </a:rPr>
              <a:t>逛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：看别人都在问什么，这是现成的选题库和话题库</a:t>
            </a:r>
            <a:endParaRPr/>
          </a:p>
        </p:txBody>
      </p:sp>
      <p:sp>
        <p:nvSpPr>
          <p:cNvPr id="511" name=""/>
          <p:cNvSpPr/>
          <p:nvPr/>
        </p:nvSpPr>
        <p:spPr>
          <a:xfrm rot="0" flipH="0" flipV="0">
            <a:off x="914400" y="47434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5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1000125" y="4829175"/>
            <a:ext cx="209550" cy="209550"/>
          </a:xfrm>
          <a:prstGeom prst="rect">
            <a:avLst/>
          </a:prstGeom>
          <a:ln/>
        </p:spPr>
      </p:pic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1428750" y="4819650"/>
            <a:ext cx="438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32"/>
                </a:solidFill>
                <a:latin typeface="Microsoft YaHei"/>
                <a:ea typeface="Microsoft YaHei"/>
              </a:rPr>
              <a:t>看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：看别人怎么回答，比自己从零憋一套说法快得多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914400" y="52197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5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1000125" y="5305425"/>
            <a:ext cx="209550" cy="209550"/>
          </a:xfrm>
          <a:prstGeom prst="rect">
            <a:avLst/>
          </a:prstGeom>
          <a:ln/>
        </p:spPr>
      </p:pic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1428750" y="5295900"/>
            <a:ext cx="400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32"/>
                </a:solidFill>
                <a:latin typeface="Microsoft YaHei"/>
                <a:ea typeface="Microsoft YaHei"/>
              </a:rPr>
              <a:t>赞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：觉得有用就点个赞，好内容会被更多人看到</a:t>
            </a:r>
            <a:endParaRPr/>
          </a:p>
        </p:txBody>
      </p:sp>
      <p:sp>
        <p:nvSpPr>
          <p:cNvPr id="517" name=""/>
          <p:cNvSpPr/>
          <p:nvPr/>
        </p:nvSpPr>
        <p:spPr>
          <a:xfrm rot="0" flipH="0" flipV="0">
            <a:off x="914400" y="56959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/>
        </p:spPr>
        <p:txBody>
          <a:bodyPr/>
          <a:p/>
        </p:txBody>
      </p:sp>
      <p:pic>
        <p:nvPicPr>
          <p:cNvPr id="5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1000125" y="5781675"/>
            <a:ext cx="209550" cy="209550"/>
          </a:xfrm>
          <a:prstGeom prst="rect">
            <a:avLst/>
          </a:prstGeom>
          <a:ln/>
        </p:spPr>
      </p:pic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1428750" y="5772150"/>
            <a:ext cx="438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32"/>
                </a:solidFill>
                <a:latin typeface="Microsoft YaHei"/>
                <a:ea typeface="Microsoft YaHei"/>
              </a:rPr>
              <a:t>发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：自己也能回复，默认以「匿名用户」的身份发布</a:t>
            </a:r>
            <a:endParaRPr/>
          </a:p>
        </p:txBody>
      </p:sp>
      <p:sp>
        <p:nvSpPr>
          <p:cNvPr id="520" name=""/>
          <p:cNvSpPr/>
          <p:nvPr/>
        </p:nvSpPr>
        <p:spPr>
          <a:xfrm rot="0" flipH="0" flipV="0">
            <a:off x="8039100" y="4267200"/>
            <a:ext cx="3238500" cy="1704975"/>
          </a:xfrm>
          <a:prstGeom prst="roundRect">
            <a:avLst>
              <a:gd name="adj" fmla="val 7821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5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8210550" y="4448175"/>
            <a:ext cx="228600" cy="228600"/>
          </a:xfrm>
          <a:prstGeom prst="rect">
            <a:avLst/>
          </a:prstGeom>
          <a:ln/>
        </p:spPr>
      </p:pic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8534400" y="4438650"/>
            <a:ext cx="1200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32"/>
                </a:solidFill>
                <a:latin typeface="Microsoft YaHei"/>
                <a:ea typeface="Microsoft YaHei"/>
              </a:rPr>
              <a:t>回复要先审核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8210550" y="4781550"/>
            <a:ext cx="2895600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新回复提交后是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审核中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，这段时间只有你自己看得见——不是没发出去。审核通过后才会对所有人生效。</a:t>
            </a:r>
            <a:endParaRPr/>
          </a:p>
        </p:txBody>
      </p:sp>
      <p:pic>
        <p:nvPicPr>
          <p:cNvPr id="5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五期上手课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28 / 33</a:t>
            </a:r>
            <a:endParaRPr/>
          </a:p>
        </p:txBody>
      </p:sp>
    </p:spTree>
  </p:cSld>
</p:sld>
</file>

<file path=ppt/slides/slide2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527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深度调理答疑与真人营养师&lt;/Text&gt;&#10;        &lt;Box style={{ width: 56, height: 4, borderRadius: 2, background: '#1F7A5C', marginTop: 8 }} /&gt;&#10;    &lt;/Box&gt;&#10;&#10;    &lt;Box style={{ height: 528, flexDirection: 'row', gap: 28 }}&gt;&#10;        &lt;Box style={{ width: 310 }}&gt;&#10;            &lt;Text style={{ fontSize: 26, fontWeight: 'bold', color: '#1F7A5C', lineHeight: 1.45 }}&gt;&#10;                只有你明确说要找人，&lt;br /&gt;才会真的转人工&#10;            &lt;/Text&gt;&#10;            &lt;Text style={{ fontSize: 20, color: '#6B7C75', lineHeight: 1.6, marginTop: 20 }}&gt;&#10;                系统只在&quot;深度调理答疑&quot;这类对话里识别明确的转人工意图。聊天时随口提一句&quot;你们有没有营养师&quot;，不会被误判成要排队。&#10;            &lt;/Text&gt;&#10;            &lt;Box style={{&#10;                marginTop: 20, background: 'rgba(31,122,92,0.08)', borderRadius: 14, padding: 16,&#10;            }}&gt;&#10;                &lt;Text style={{ fontSize: 19, color: '#1E3A32', lineHeight: 1.55 }}&gt;&#10;                    转人工之前你问过的有效问题，会一并带给营养师，不用从头再讲一遍。&#10;                &lt;/Text&gt;&#10;            &lt;/Box&gt;&#10;            &lt;Box style={{&#10;                marginTop: 16, background: '#FFFFFF', borderRadius: 14, padding: 16,&#10;                boxShadow: '0 4px 20px rgba(30,58,50,0.08)',&#10;            }}&gt;&#10;                &lt;Text style={{ fontSize: 19, color: '#6B7C75', lineHeight: 1.55 }}&gt;&#10;                    转人工期间如果觉得不需要了，可以主动挂起，AI 会立刻接回来。&#10;                &lt;/Text&gt;&#10;            &lt;/Box&gt;&#10;        &lt;/Box&gt;&#10;&#10;        &lt;Box style={{ flex: 1, gap: 12 }}&gt;&#10;            &lt;Box style={{&#10;                flexDirection: 'row', gap: 18, background: '#FFFFFF', borderRadius: 14, padding: 16,&#10;                height: 96, boxShadow: '0 4px 20px rgba(30,58,50,0.08)', alignItems: 'center',&#10;            }}&gt;&#10;                &lt;Box style={{ width: 46, height: 46, borderRadius: 23, background: '#1F7A5C', justifyContent: 'center', alignItems: 'center' }}&gt;&#10;                    &lt;Text style={{ fontSize: 22, fontWeight: 'bold', color: '#FFFFFF' }}&gt;1&lt;/Text&gt;&#10;                &lt;/Box&gt;&#10;                &lt;Box style={{ flex: 1 }}&gt;&#10;                    &lt;Text style={{ fontSize: 24, fontWeight: 'bold', color: '#1E3A32' }}&gt;怎么触发&lt;/Text&gt;&#10;                    &lt;Text style={{ fontSize: 19, color: '#6B7C75', lineHeight: 1.45, marginTop: 3 }}&gt;&#10;                        在深度调理答疑里明确说&quot;我想找营养师&quot;，系统才会启动转人工流程&#10;                    &lt;/Text&gt;&#10;                &lt;/Box&gt;&#10;            &lt;/Box&gt;&#10;&#10;            &lt;Box style={{&#10;                flexDirection: 'row', gap: 18, background: '#FFFFFF', borderRadius: 14, padding: 16,&#10;                height: 96, boxShadow: '0 4px 20px rgba(30,58,50,0.08)', alignItems: 'center',&#10;            }}&gt;&#10;                &lt;Box style={{ width: 46, height: 46, borderRadius: 23, background: '#1F7A5C', justifyContent: 'center', alignItems: 'center' }}&gt;&#10;                    &lt;Text style={{ fontSize: 22, fontWeight: 'bold', color: '#FFFFFF' }}&gt;2&lt;/Text&gt;&#10;                &lt;/Box&gt;&#10;                &lt;Box style={{ flex: 1 }}&gt;&#10;                    &lt;Text style={{ fontSize: 24, fontWeight: 'bold', color: '#1E3A32' }}&gt;先过一遍专用 AI&lt;/Text&gt;&#10;                    &lt;Text style={{ fontSize: 19, color: '#6B7C75', lineHeight: 1.45, marginTop: 3 }}&gt;&#10;                        营养咨询有专门的 AI 接住你，很多问题在这一步就解决了，根本不用排队&#10;                    &lt;/Text&gt;&#10;                &lt;/Box&gt;&#10;            &lt;/Box&gt;&#10;&#10;            &lt;Box style={{&#10;                flexDirection: 'row', gap: 18, background: '#FFFFFF', borderRadius: 14, padding: 16,&#10;                height: 96, boxShadow: '0 4px 20px rgba(30,58,50,0.08)', alignItems: 'center',&#10;            }}&gt;&#10;                &lt;Box style={{ width: 46, height: 46, borderRadius: 23, background: '#1F7A5C', justifyContent: 'center', alignItems: 'center' }}&gt;&#10;                    &lt;Text style={{ fontSize: 22, fontWeight: 'bold', color: '#FFFFFF' }}&gt;3&lt;/Text&gt;&#10;                &lt;/Box&gt;&#10;                &lt;Box style={{ flex: 1 }}&gt;&#10;                    &lt;Text style={{ fontSize: 24, fontWeight: 'bold', color: '#1E3A32' }}&gt;进入排队等待&lt;/Text&gt;&#10;                    &lt;Text style={{ fontSize: 19, color: '#6B7C75', lineHeight: 1.45, marginTop: 3 }}&gt;&#10;                        确认要找真人后进入排队，页面会提示你前面还有几位，请别关掉页面&#10;                    &lt;/Text&gt;&#10;                &lt;/Box&gt;&#10;            &lt;/Box&gt;&#10;&#10;            &lt;Box style={{&#10;                flexDirection: 'row', gap: 18, background: 'rgba(224,138,60,0.14)', borderRadius: 14, padding: 16,&#10;                height: 96, alignItems: 'center',&#10;            }}&gt;&#10;                &lt;Box style={{ width: 46, height: 46, borderRadius: 23, background: '#E08A3C', justifyContent: 'center', alignItems: 'center' }}&gt;&#10;                    &lt;Text style={{ fontSize: 22, fontWeight: 'bold', color: '#FFFFFF' }}&gt;4&lt;/Text&gt;&#10;                &lt;/Box&gt;&#10;                &lt;Box style={{ flex: 1 }}&gt;&#10;                    &lt;Text style={{ fontSize: 24, fontWeight: 'bold', color: '#1E3A32' }}&gt;等满 120 秒自动转留言&lt;/Text&gt;&#10;                    &lt;Text style={{ fontSize: 19, color: '#6B7C75', lineHeight: 1.45, marginTop: 3 }}&gt;&#10;                        没人接就自动变留言，同时恢复 AI 回答——不耽误你继续问别的，营养师回完再单独通知你&#10;                    &lt;/Text&gt;&#10;                &lt;/Box&gt;&#10;            &lt;/Box&gt;&#10;&#10;            &lt;Box style={{&#10;                flexDirection: 'row', gap: 18, background: '#FFFFFF', borderRadius: 14, padding: 16,&#10;                height: 96, boxShadow: '0 4px 20px rgba(30,58,50,0.08)', alignItems: 'center',&#10;            }}&gt;&#10;                &lt;Box style={{ width: 46, height: 46, borderRadius: 23, background: '#1F7A5C', justifyContent: 'center', alignItems: 'center' }}&gt;&#10;                    &lt;Text style={{ fontSize: 22, fontWeight: 'bold', color: '#FFFFFF' }}&gt;5&lt;/Text&gt;&#10;                &lt;/Box&gt;&#10;                &lt;Box style={{ flex: 1 }}&gt;&#10;                    &lt;Text style={{ fontSize: 24, fontWeight: 'bold', color: '#1E3A32' }}&gt;回复单独展示&lt;/Text&gt;&#10;                    &lt;Text style={{ fontSize: 19, color: '#6B7C75', lineHeight: 1.45, marginTop: 3 }}&gt;&#10;                        营养师的回答会单独出现在你的对话里，不会和之前的 AI 回答混在一起&#10;                    &lt;/Text&gt;&#10;                &lt;/Box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五期上手课&lt;/Text&gt;&#10;        &lt;/Box&gt;&#10;        &lt;Text style={{ fontSize: 14, color: '#6B7C75' }}&gt;29 / 3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深度调理答疑与真人营养师</a:t>
            </a:r>
            <a:endParaRPr/>
          </a:p>
        </p:txBody>
      </p:sp>
      <p:sp>
        <p:nvSpPr>
          <p:cNvPr id="530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952750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只有你明确说要找人，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才会真的转人工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685800" y="2200275"/>
            <a:ext cx="2952750" cy="1466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系统只在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深度调理答疑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这类对话里识别明确的转人工意图。聊天时随口提一句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你们有没有营养师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，不会被误判成要排队。</a:t>
            </a:r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685800" y="3857625"/>
            <a:ext cx="2952750" cy="1323975"/>
          </a:xfrm>
          <a:prstGeom prst="roundRect">
            <a:avLst>
              <a:gd name="adj" fmla="val 10072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838200" y="4010025"/>
            <a:ext cx="2647950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转人工之前你问过的有效问题，会一并带给营养师，不用从头再讲一遍。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685800" y="5334000"/>
            <a:ext cx="2952750" cy="1323975"/>
          </a:xfrm>
          <a:prstGeom prst="roundRect">
            <a:avLst>
              <a:gd name="adj" fmla="val 10072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838200" y="5486400"/>
            <a:ext cx="2647950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转人工期间如果觉得不需要了，可以主动挂起，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AI 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会立刻接回来。</a:t>
            </a:r>
            <a:endParaRPr/>
          </a:p>
        </p:txBody>
      </p:sp>
      <p:sp>
        <p:nvSpPr>
          <p:cNvPr id="537" name=""/>
          <p:cNvSpPr/>
          <p:nvPr/>
        </p:nvSpPr>
        <p:spPr>
          <a:xfrm rot="0" flipH="0" flipV="0">
            <a:off x="3905250" y="1143000"/>
            <a:ext cx="7600950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38" name=""/>
          <p:cNvSpPr/>
          <p:nvPr/>
        </p:nvSpPr>
        <p:spPr>
          <a:xfrm rot="0" flipH="0" flipV="0">
            <a:off x="4057650" y="1381125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4219575" y="147637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4667250" y="1285875"/>
            <a:ext cx="6686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怎么触发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4667250" y="1590675"/>
            <a:ext cx="668655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在深度调理答疑里明确说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我想找营养师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，系统才会启动转人工流程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3905250" y="2171700"/>
            <a:ext cx="7600950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43" name=""/>
          <p:cNvSpPr/>
          <p:nvPr/>
        </p:nvSpPr>
        <p:spPr>
          <a:xfrm rot="0" flipH="0" flipV="0">
            <a:off x="4057650" y="2409825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4219575" y="250507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4667250" y="2314575"/>
            <a:ext cx="6686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先过一遍专用</a:t>
            </a:r>
            <a:r>
              <a:rPr lang="en-US" sz="1800" b="1">
                <a:solidFill>
                  <a:srgbClr val="1E3A32"/>
                </a:solidFill>
                <a:latin typeface="Microsoft YaHei"/>
                <a:ea typeface="Microsoft YaHei"/>
              </a:rPr>
              <a:t> AI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4667250" y="2619375"/>
            <a:ext cx="668655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营养咨询有专门的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 AI 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接住你，很多问题在这一步就解决了，根本不用排队</a:t>
            </a:r>
            <a:endParaRPr/>
          </a:p>
        </p:txBody>
      </p:sp>
      <p:sp>
        <p:nvSpPr>
          <p:cNvPr id="547" name=""/>
          <p:cNvSpPr/>
          <p:nvPr/>
        </p:nvSpPr>
        <p:spPr>
          <a:xfrm rot="0" flipH="0" flipV="0">
            <a:off x="3905250" y="3200400"/>
            <a:ext cx="7600950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48" name=""/>
          <p:cNvSpPr/>
          <p:nvPr/>
        </p:nvSpPr>
        <p:spPr>
          <a:xfrm rot="0" flipH="0" flipV="0">
            <a:off x="4057650" y="3438525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4219575" y="353377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4667250" y="3343275"/>
            <a:ext cx="6686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进入排队等待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4667250" y="3648075"/>
            <a:ext cx="668655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确认要找真人后进入排队，页面会提示你前面还有几位，请别关掉页面</a:t>
            </a:r>
            <a:endParaRPr/>
          </a:p>
        </p:txBody>
      </p:sp>
      <p:sp>
        <p:nvSpPr>
          <p:cNvPr id="552" name=""/>
          <p:cNvSpPr/>
          <p:nvPr/>
        </p:nvSpPr>
        <p:spPr>
          <a:xfrm rot="0" flipH="0" flipV="0">
            <a:off x="3905250" y="4229100"/>
            <a:ext cx="7600950" cy="914400"/>
          </a:xfrm>
          <a:prstGeom prst="roundRect">
            <a:avLst>
              <a:gd name="adj" fmla="val 14583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553" name=""/>
          <p:cNvSpPr/>
          <p:nvPr/>
        </p:nvSpPr>
        <p:spPr>
          <a:xfrm rot="0" flipH="0" flipV="0">
            <a:off x="4057650" y="4467225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/>
        </p:spPr>
        <p:txBody>
          <a:bodyPr/>
          <a:p/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4219575" y="456247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4667250" y="4219575"/>
            <a:ext cx="6686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等满</a:t>
            </a:r>
            <a:r>
              <a:rPr lang="en-US" sz="1800" b="1">
                <a:solidFill>
                  <a:srgbClr val="1E3A32"/>
                </a:solidFill>
                <a:latin typeface="Microsoft YaHei"/>
                <a:ea typeface="Microsoft YaHei"/>
              </a:rPr>
              <a:t> 120 </a:t>
            </a: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秒自动转留言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4667250" y="4524375"/>
            <a:ext cx="66865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没人接就自动变留言，同时恢复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 AI 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回答——不耽误你继续问别的，营养师回完再单独通知你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3905250" y="5257800"/>
            <a:ext cx="7600950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58" name=""/>
          <p:cNvSpPr/>
          <p:nvPr/>
        </p:nvSpPr>
        <p:spPr>
          <a:xfrm rot="0" flipH="0" flipV="0">
            <a:off x="4057650" y="5495925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4219575" y="559117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4667250" y="5400675"/>
            <a:ext cx="6686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回复单独展示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4667250" y="5705475"/>
            <a:ext cx="668655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营养师的回答会单独出现在你的对话里，不会和之前的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 AI 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回答混在一起</a:t>
            </a:r>
            <a:endParaRPr/>
          </a:p>
        </p:txBody>
      </p:sp>
      <p:pic>
        <p:nvPicPr>
          <p:cNvPr id="5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五期上手课</a:t>
            </a:r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29 / 33</a:t>
            </a:r>
            <a:endParaRPr/>
          </a:p>
        </p:txBody>
      </p:sp>
    </p:spTree>
  </p:cSld>
</p:sld>
</file>

<file path=ppt/slides/slide30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574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五个好习惯&lt;/Text&gt;&#10;        &lt;Box style={{ width: 56, height: 4, borderRadius: 2, background: '#1F7A5C', marginTop: 8 }} /&gt;&#10;    &lt;/Box&gt;&#10;&#10;    &lt;Box style={{ height: 528, flexDirection: 'row', gap: 28 }}&gt;&#10;        &lt;Box style={{ width: 320, justifyContent: 'center' }}&gt;&#10;            &lt;Text style={{ fontSize: 180, fontWeight: 'bold', color: '#E08A3C', lineHeight: 1, letterSpacing: -4 }}&gt;5&lt;/Text&gt;&#10;            &lt;Text style={{ fontSize: 30, fontWeight: 'bold', color: '#1E3A32', marginTop: 14 }}&gt;个好习惯&lt;/Text&gt;&#10;            &lt;Box style={{ width: 72, height: 5, borderRadius: 3, background: '#1F7A5C', marginTop: 20 }} /&gt;&#10;            &lt;Text style={{ fontSize: 20, color: '#6B7C75', lineHeight: 1.6, marginTop: 18 }}&gt;&#10;                做到其中三条，&lt;br /&gt;你就已经超过八成使用者&#10;            &lt;/Text&gt;&#10;        &lt;/Box&gt;&#10;&#10;        &lt;Box style={{ flex: 1, gap: 10 }}&gt;&#10;            &lt;Box style={{&#10;                flexDirection: 'row', gap: 16, background: '#FFFFFF', borderRadius: 14, padding: 16,&#10;                height: 97, boxShadow: '0 4px 20px rgba(30,58,50,0.08)', alignItems: 'center',&#10;            }}&gt;&#10;                &lt;Box style={{ width: 44, height: 44, borderRadius: 22, background: '#1F7A5C', justifyContent: 'center', alignItems: 'center' }}&gt;&#10;                    &lt;Text style={{ fontSize: 22, fontWeight: 'bold', color: '#FFFFFF' }}&gt;1&lt;/Text&gt;&#10;                &lt;/Box&gt;&#10;                &lt;Box style={{ flex: 1 }}&gt;&#10;                    &lt;Text style={{ fontSize: 24, fontWeight: 'bold', color: '#1E3A32' }}&gt;一次只问一件事&lt;/Text&gt;&#10;                    &lt;Text style={{ fontSize: 19, color: '#6B7C75', lineHeight: 1.45, marginTop: 3 }}&gt;&#10;                        问句越长，答案越散。拆成三句分开问，拿到三份准确的答案，比一份大而全的更有用。&#10;                    &lt;/Text&gt;&#10;                &lt;/Box&gt;&#10;            &lt;/Box&gt;&#10;&#10;            &lt;Box style={{&#10;                flexDirection: 'row', gap: 16, background: '#FFFFFF', borderRadius: 14, padding: 16,&#10;                height: 97, boxShadow: '0 4px 20px rgba(30,58,50,0.08)', alignItems: 'center',&#10;            }}&gt;&#10;                &lt;Box style={{ width: 44, height: 44, borderRadius: 22, background: '#1F7A5C', justifyContent: 'center', alignItems: 'center' }}&gt;&#10;                    &lt;Text style={{ fontSize: 22, fontWeight: 'bold', color: '#FFFFFF' }}&gt;2&lt;/Text&gt;&#10;                &lt;/Box&gt;&#10;                &lt;Box style={{ flex: 1 }}&gt;&#10;                    &lt;Text style={{ fontSize: 24, fontWeight: 'bold', color: '#1E3A32' }}&gt;把情况说在前头&lt;/Text&gt;&#10;                    &lt;Text style={{ fontSize: 19, color: '#6B7C75', lineHeight: 1.45, marginTop: 3 }}&gt;&#10;                        先说人群和现状，再说问题。同样的问句，加了背景之后答案的贴合度完全是两个级别。&#10;                    &lt;/Text&gt;&#10;                &lt;/Box&gt;&#10;            &lt;/Box&gt;&#10;&#10;            &lt;Box style={{&#10;                flexDirection: 'row', gap: 16, background: '#FFFFFF', borderRadius: 14, padding: 16,&#10;                height: 97, boxShadow: '0 4px 20px rgba(30,58,50,0.08)', alignItems: 'center',&#10;            }}&gt;&#10;                &lt;Box style={{ width: 44, height: 44, borderRadius: 22, background: '#1F7A5C', justifyContent: 'center', alignItems: 'center' }}&gt;&#10;                    &lt;Text style={{ fontSize: 22, fontWeight: 'bold', color: '#FFFFFF' }}&gt;3&lt;/Text&gt;&#10;                &lt;/Box&gt;&#10;                &lt;Box style={{ flex: 1 }}&gt;&#10;                    &lt;Text style={{ fontSize: 24, fontWeight: 'bold', color: '#1E3A32' }}&gt;先看结论，再看细节&lt;/Text&gt;&#10;                    &lt;Text style={{ fontSize: 19, color: '#6B7C75', lineHeight: 1.45, marginTop: 3 }}&gt;&#10;                        结论通常在回答的开头。先把结论抓住，再决定要不要往下读细节，能省掉一半阅读时间。&#10;                    &lt;/Text&gt;&#10;                &lt;/Box&gt;&#10;            &lt;/Box&gt;&#10;&#10;            &lt;Box style={{&#10;                flexDirection: 'row', gap: 16, background: '#FFFFFF', borderRadius: 14, padding: 16,&#10;                height: 97, boxShadow: '0 4px 20px rgba(30,58,50,0.08)', alignItems: 'center',&#10;            }}&gt;&#10;                &lt;Box style={{ width: 44, height: 44, borderRadius: 22, background: '#1F7A5C', justifyContent: 'center', alignItems: 'center' }}&gt;&#10;                    &lt;Text style={{ fontSize: 22, fontWeight: 'bold', color: '#FFFFFF' }}&gt;4&lt;/Text&gt;&#10;                &lt;/Box&gt;&#10;                &lt;Box style={{ flex: 1 }}&gt;&#10;                    &lt;Text style={{ fontSize: 24, fontWeight: 'bold', color: '#1E3A32' }}&gt;看案例先对相似度&lt;/Text&gt;&#10;                    &lt;Text style={{ fontSize: 19, color: '#6B7C75', lineHeight: 1.45, marginTop: 3 }}&gt;&#10;                        案例三问先过一遍：像不像、场景对不对、抄哪一点。过不了就果断跳过，别舍不得。&#10;                    &lt;/Text&gt;&#10;                &lt;/Box&gt;&#10;            &lt;/Box&gt;&#10;&#10;            &lt;Box style={{&#10;                flexDirection: 'row', gap: 16, background: 'rgba(224,138,60,0.14)', borderRadius: 14, padding: 16,&#10;                height: 97, alignItems: 'center',&#10;            }}&gt;&#10;                &lt;Box style={{ width: 44, height: 44, borderRadius: 22, background: '#E08A3C', justifyContent: 'center', alignItems: 'center' }}&gt;&#10;                    &lt;Text style={{ fontSize: 22, fontWeight: 'bold', color: '#FFFFFF' }}&gt;5&lt;/Text&gt;&#10;                &lt;/Box&gt;&#10;                &lt;Box style={{ flex: 1 }}&gt;&#10;                    &lt;Text style={{ fontSize: 24, fontWeight: 'bold', color: '#1E3A32' }}&gt;用完顺手点个赞&lt;/Text&gt;&#10;                    &lt;Text style={{ fontSize: 19, color: '#6B7C75', lineHeight: 1.45, marginTop: 3 }}&gt;&#10;                        你点下的每一次反馈，都在决定下一个人拿到的答案质量。点踩时写原因，价值更大。&#10;                    &lt;/Text&gt;&#10;                &lt;/Box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五期上手课&lt;/Text&gt;&#10;        &lt;/Box&gt;&#10;        &lt;Text style={{ fontSize: 14, color: '#6B7C75' }}&gt;30 / 3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五个好习惯</a:t>
            </a:r>
            <a:endParaRPr/>
          </a:p>
        </p:txBody>
      </p:sp>
      <p:sp>
        <p:nvSpPr>
          <p:cNvPr id="577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685800" y="1819275"/>
            <a:ext cx="3048000" cy="2057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0" b="1" spc="-300">
                <a:solidFill>
                  <a:srgbClr val="E08A3C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685800" y="4010025"/>
            <a:ext cx="3048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3A32"/>
                </a:solidFill>
                <a:latin typeface="Microsoft YaHei"/>
                <a:ea typeface="Microsoft YaHei"/>
              </a:rPr>
              <a:t>个好习惯</a:t>
            </a:r>
            <a:endParaRPr/>
          </a:p>
        </p:txBody>
      </p:sp>
      <p:sp>
        <p:nvSpPr>
          <p:cNvPr id="580" name=""/>
          <p:cNvSpPr/>
          <p:nvPr/>
        </p:nvSpPr>
        <p:spPr>
          <a:xfrm rot="0" flipH="0" flipV="0">
            <a:off x="685800" y="4543425"/>
            <a:ext cx="685800" cy="47625"/>
          </a:xfrm>
          <a:prstGeom prst="roundRect">
            <a:avLst>
              <a:gd name="adj" fmla="val 6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685800" y="4762500"/>
            <a:ext cx="3048000" cy="733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做到其中三条，</a:t>
            </a:r>
            <a:endParaRPr/>
          </a:p>
          <a:p>
            <a:pPr>
              <a:lnSpc>
                <a:spcPct val="160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你就已经超过八成使用者</a:t>
            </a:r>
            <a:endParaRPr/>
          </a:p>
        </p:txBody>
      </p:sp>
      <p:sp>
        <p:nvSpPr>
          <p:cNvPr id="582" name=""/>
          <p:cNvSpPr/>
          <p:nvPr/>
        </p:nvSpPr>
        <p:spPr>
          <a:xfrm rot="0" flipH="0" flipV="0">
            <a:off x="4000500" y="1143000"/>
            <a:ext cx="7505700" cy="923925"/>
          </a:xfrm>
          <a:prstGeom prst="roundRect">
            <a:avLst>
              <a:gd name="adj" fmla="val 1443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83" name=""/>
          <p:cNvSpPr/>
          <p:nvPr/>
        </p:nvSpPr>
        <p:spPr>
          <a:xfrm rot="0" flipH="0" flipV="0">
            <a:off x="4152900" y="140017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4305300" y="14859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4724400" y="1133475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一次只问一件事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4724400" y="1438275"/>
            <a:ext cx="66294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问句越长，答案越散。拆成三句分开问，拿到三份准确的答案，比一份大而全的更有用。</a:t>
            </a:r>
            <a:endParaRPr/>
          </a:p>
        </p:txBody>
      </p:sp>
      <p:sp>
        <p:nvSpPr>
          <p:cNvPr id="587" name=""/>
          <p:cNvSpPr/>
          <p:nvPr/>
        </p:nvSpPr>
        <p:spPr>
          <a:xfrm rot="0" flipH="0" flipV="0">
            <a:off x="4000500" y="2162175"/>
            <a:ext cx="7505700" cy="923925"/>
          </a:xfrm>
          <a:prstGeom prst="roundRect">
            <a:avLst>
              <a:gd name="adj" fmla="val 1443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88" name=""/>
          <p:cNvSpPr/>
          <p:nvPr/>
        </p:nvSpPr>
        <p:spPr>
          <a:xfrm rot="0" flipH="0" flipV="0">
            <a:off x="4152900" y="24193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4305300" y="250507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4724400" y="2152650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把情况说在前头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4724400" y="2457450"/>
            <a:ext cx="66294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先说人群和现状，再说问题。同样的问句，加了背景之后答案的贴合度完全是两个级别。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4000500" y="3181350"/>
            <a:ext cx="7505700" cy="923925"/>
          </a:xfrm>
          <a:prstGeom prst="roundRect">
            <a:avLst>
              <a:gd name="adj" fmla="val 1443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93" name=""/>
          <p:cNvSpPr/>
          <p:nvPr/>
        </p:nvSpPr>
        <p:spPr>
          <a:xfrm rot="0" flipH="0" flipV="0">
            <a:off x="4152900" y="34385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4305300" y="352425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4724400" y="3171825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先看结论，再看细节</a:t>
            </a:r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4724400" y="3476625"/>
            <a:ext cx="66294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结论通常在回答的开头。先把结论抓住，再决定要不要往下读细节，能省掉一半阅读时间。</a:t>
            </a:r>
            <a:endParaRPr/>
          </a:p>
        </p:txBody>
      </p:sp>
      <p:sp>
        <p:nvSpPr>
          <p:cNvPr id="597" name=""/>
          <p:cNvSpPr/>
          <p:nvPr/>
        </p:nvSpPr>
        <p:spPr>
          <a:xfrm rot="0" flipH="0" flipV="0">
            <a:off x="4000500" y="4200525"/>
            <a:ext cx="7505700" cy="923925"/>
          </a:xfrm>
          <a:prstGeom prst="roundRect">
            <a:avLst>
              <a:gd name="adj" fmla="val 1443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98" name=""/>
          <p:cNvSpPr/>
          <p:nvPr/>
        </p:nvSpPr>
        <p:spPr>
          <a:xfrm rot="0" flipH="0" flipV="0">
            <a:off x="4152900" y="44577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4305300" y="454342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4724400" y="4191000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看案例先对相似度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4724400" y="4495800"/>
            <a:ext cx="66294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案例三问先过一遍：像不像、场景对不对、抄哪一点。过不了就果断跳过，别舍不得。</a:t>
            </a:r>
            <a:endParaRPr/>
          </a:p>
        </p:txBody>
      </p:sp>
      <p:sp>
        <p:nvSpPr>
          <p:cNvPr id="602" name=""/>
          <p:cNvSpPr/>
          <p:nvPr/>
        </p:nvSpPr>
        <p:spPr>
          <a:xfrm rot="0" flipH="0" flipV="0">
            <a:off x="4000500" y="5219700"/>
            <a:ext cx="7505700" cy="923925"/>
          </a:xfrm>
          <a:prstGeom prst="roundRect">
            <a:avLst>
              <a:gd name="adj" fmla="val 14433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603" name=""/>
          <p:cNvSpPr/>
          <p:nvPr/>
        </p:nvSpPr>
        <p:spPr>
          <a:xfrm rot="0" flipH="0" flipV="0">
            <a:off x="4152900" y="547687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/>
        </p:spPr>
        <p:txBody>
          <a:bodyPr/>
          <a:p/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4305300" y="55626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4724400" y="5210175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用完顺手点个赞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4724400" y="5514975"/>
            <a:ext cx="66294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你点下的每一次反馈，都在决定下一个人拿到的答案质量。点踩时写原因，价值更大。</a:t>
            </a:r>
            <a:endParaRPr/>
          </a:p>
        </p:txBody>
      </p:sp>
      <p:pic>
        <p:nvPicPr>
          <p:cNvPr id="6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五期上手课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30 / 33</a:t>
            </a:r>
            <a:endParaRPr/>
          </a:p>
        </p:txBody>
      </p:sp>
    </p:spTree>
  </p:cSld>
</p:sld>
</file>

<file path=ppt/slides/slide3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610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避坑清单&lt;/Text&gt;&#10;        &lt;Box style={{ width: 56, height: 4, borderRadius: 2, background: '#1F7A5C', marginTop: 8 }} /&gt;&#10;    &lt;/Box&gt;&#10;&#10;    &lt;Box style={{ height: 528, flexDirection: 'row', gap: 28 }}&gt;&#10;        &lt;Box style={{ width: 660, gap: 14 }}&gt;&#10;            &lt;Box style={{&#10;                background: '#FFFFFF', borderRadius: 14, padding: 18, height: 121,&#10;                boxShadow: '0 4px 20px rgba(30,58,50,0.08)',&#10;            }}&gt;&#10;                &lt;Box style={{ flexDirection: 'row', gap: 12, alignItems: 'center' }}&gt;&#10;                    &lt;FAIcon name='times-circle' style={{ fill: '#C9742B', width: 26, height: 26 }} /&gt;&#10;                    &lt;Text style={{ fontSize: 23, fontWeight: 'bold', color: '#C9742B' }}&gt;不要把 AI 的回答当诊断&lt;/Text&gt;&#10;                &lt;/Box&gt;&#10;                &lt;Text style={{ fontSize: 19, color: '#6B7C75', lineHeight: 1.5, marginTop: 8 }}&gt;&#10;                    &lt;span style={{ fontWeight: 'bold', color: '#1F7A5C' }}&gt;要说：&lt;/span&gt;这是参考信息，具体情况还请以专业人士的意见为准。对客户也要这么讲。&#10;                &lt;/Text&gt;&#10;            &lt;/Box&gt;&#10;&#10;            &lt;Box style={{&#10;                background: '#FFFFFF', borderRadius: 14, padding: 18, height: 121,&#10;                boxShadow: '0 4px 20px rgba(30,58,50,0.08)',&#10;            }}&gt;&#10;                &lt;Box style={{ flexDirection: 'row', gap: 12, alignItems: 'center' }}&gt;&#10;                    &lt;FAIcon name='times-circle' style={{ fill: '#C9742B', width: 26, height: 26 }} /&gt;&#10;                    &lt;Text style={{ fontSize: 23, fontWeight: 'bold', color: '#C9742B' }}&gt;不要在聊天里填客户敏感信息&lt;/Text&gt;&#10;                &lt;/Box&gt;&#10;                &lt;Text style={{ fontSize: 19, color: '#6B7C75', lineHeight: 1.5, marginTop: 8 }}&gt;&#10;                    &lt;span style={{ fontWeight: 'bold', color: '#1F7A5C' }}&gt;要说：&lt;/span&gt;只描述症状、年龄区间和诉求。身份证号、病历、住址这些，一句都别填。&#10;                &lt;/Text&gt;&#10;            &lt;/Box&gt;&#10;&#10;            &lt;Box style={{&#10;                background: '#FFFFFF', borderRadius: 14, padding: 18, height: 121,&#10;                boxShadow: '0 4px 20px rgba(30,58,50,0.08)',&#10;            }}&gt;&#10;                &lt;Box style={{ flexDirection: 'row', gap: 12, alignItems: 'center' }}&gt;&#10;                    &lt;FAIcon name='times-circle' style={{ fill: '#C9742B', width: 26, height: 26 }} /&gt;&#10;                    &lt;Text style={{ fontSize: 23, fontWeight: 'bold', color: '#C9742B' }}&gt;不要一次塞进五个问题&lt;/Text&gt;&#10;                &lt;/Box&gt;&#10;                &lt;Text style={{ fontSize: 19, color: '#6B7C75', lineHeight: 1.5, marginTop: 8 }}&gt;&#10;                    &lt;span style={{ fontWeight: 'bold', color: '#1F7A5C' }}&gt;要说：&lt;/span&gt;拆成五句，一句一句问。分开问拿到的五份答案，比一份和稀泥的更有用。&#10;                &lt;/Text&gt;&#10;            &lt;/Box&gt;&#10;&#10;            &lt;Box style={{&#10;                background: 'rgba(224,138,60,0.14)', borderRadius: 14, padding: 18, height: 121,&#10;            }}&gt;&#10;                &lt;Box style={{ flexDirection: 'row', gap: 12, alignItems: 'center' }}&gt;&#10;                    &lt;FAIcon name='times-circle' style={{ fill: '#C9742B', width: 26, height: 26 }} /&gt;&#10;                    &lt;Text style={{ fontSize: 23, fontWeight: 'bold', color: '#C9742B' }}&gt;不要整段复制却不说明来意&lt;/Text&gt;&#10;                &lt;/Box&gt;&#10;                &lt;Text style={{ fontSize: 19, color: '#6B7C75', lineHeight: 1.5, marginTop: 8 }}&gt;&#10;                    &lt;span style={{ fontWeight: 'bold', color: '#1F7A5C' }}&gt;要说：&lt;/span&gt;先写一句&quot;这段话我想让你改写成朋友圈文案&quot;，再把内容贴上去。&#10;                &lt;/Text&gt;&#10;            &lt;/Box&gt;&#10;        &lt;/Box&gt;&#10;&#10;        &lt;Box style={{ flex: 1 }}&gt;&#10;            &lt;svg width=&quot;448&quot; height=&quot;330&quot; viewBox=&quot;0 0 448 330&quot;&gt;&#10;                &lt;path d=&quot;M224 26 L354 74 V168 C354 244 296 300 224 322 C152 300 94 244 94 168 V74 Z&quot; fill=&quot;#E08A3C&quot; opacity=&quot;0.16&quot; /&gt;&#10;                &lt;path d=&quot;M224 44 L338 86 V168 C338 234 290 282 224 302 C158 282 110 234 110 168 V86 Z&quot; fill=&quot;#E08A3C&quot; opacity=&quot;0.85&quot; /&gt;&#10;                &lt;rect x=&quot;212&quot; y=&quot;112&quot; width=&quot;24&quot; height=&quot;104&quot; rx=&quot;12&quot; fill=&quot;#FFFFFF&quot; /&gt;&#10;                &lt;circle cx=&quot;224&quot; cy=&quot;248&quot; r=&quot;16&quot; fill=&quot;#FFFFFF&quot; /&gt;&#10;            &lt;/svg&gt;&#10;&#10;            &lt;Text style={{ fontSize: 26, fontWeight: 'bold', color: '#1E3A32', lineHeight: 1.45, marginTop: 12 }}&gt;&#10;                这四条不是限制，&lt;br /&gt;是保护你&#10;            &lt;/Text&gt;&#10;            &lt;Text style={{ fontSize: 19, color: '#6B7C75', lineHeight: 1.6, marginTop: 14 }}&gt;&#10;                踩过这四条里任意一条，轻则答案没法用，重则把不该留的信息留在了系统里。避开它们比学会任何技巧都重要。&#10;            &lt;/Text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五期上手课&lt;/Text&gt;&#10;        &lt;/Box&gt;&#10;        &lt;Text style={{ fontSize: 14, color: '#6B7C75' }}&gt;31 / 3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避坑清单</a:t>
            </a:r>
            <a:endParaRPr/>
          </a:p>
        </p:txBody>
      </p:sp>
      <p:sp>
        <p:nvSpPr>
          <p:cNvPr id="613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614" name=""/>
          <p:cNvSpPr/>
          <p:nvPr/>
        </p:nvSpPr>
        <p:spPr>
          <a:xfrm rot="0" flipH="0" flipV="0">
            <a:off x="685800" y="1143000"/>
            <a:ext cx="6286500" cy="1152525"/>
          </a:xfrm>
          <a:prstGeom prst="roundRect">
            <a:avLst>
              <a:gd name="adj" fmla="val 11570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6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323975"/>
            <a:ext cx="247650" cy="247650"/>
          </a:xfrm>
          <a:prstGeom prst="rect">
            <a:avLst/>
          </a:prstGeom>
          <a:ln/>
        </p:spPr>
      </p:pic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1219200" y="1314450"/>
            <a:ext cx="23145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C9742B"/>
                </a:solidFill>
                <a:latin typeface="Microsoft YaHei"/>
                <a:ea typeface="Microsoft YaHei"/>
              </a:rPr>
              <a:t>不要把</a:t>
            </a:r>
            <a:r>
              <a:rPr lang="en-US" sz="1725" b="1">
                <a:solidFill>
                  <a:srgbClr val="C9742B"/>
                </a:solidFill>
                <a:latin typeface="Microsoft YaHei"/>
                <a:ea typeface="Microsoft YaHei"/>
              </a:rPr>
              <a:t> AI </a:t>
            </a:r>
            <a:r>
              <a:rPr lang="zh-CN" sz="1725" b="1">
                <a:solidFill>
                  <a:srgbClr val="C9742B"/>
                </a:solidFill>
                <a:latin typeface="Microsoft YaHei"/>
                <a:ea typeface="Microsoft YaHei"/>
              </a:rPr>
              <a:t>的回答当诊断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857250" y="1657350"/>
            <a:ext cx="59436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 b="1">
                <a:solidFill>
                  <a:srgbClr val="1F7A5C"/>
                </a:solidFill>
                <a:latin typeface="Microsoft YaHei"/>
                <a:ea typeface="Microsoft YaHei"/>
              </a:rPr>
              <a:t>要说：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这是参考信息，具体情况还请以专业人士的意见为准。对客户也要这么讲。</a:t>
            </a:r>
            <a:endParaRPr/>
          </a:p>
        </p:txBody>
      </p:sp>
      <p:sp>
        <p:nvSpPr>
          <p:cNvPr id="618" name=""/>
          <p:cNvSpPr/>
          <p:nvPr/>
        </p:nvSpPr>
        <p:spPr>
          <a:xfrm rot="0" flipH="0" flipV="0">
            <a:off x="685800" y="2428875"/>
            <a:ext cx="6286500" cy="1152525"/>
          </a:xfrm>
          <a:prstGeom prst="roundRect">
            <a:avLst>
              <a:gd name="adj" fmla="val 11570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6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2609850"/>
            <a:ext cx="247650" cy="247650"/>
          </a:xfrm>
          <a:prstGeom prst="rect">
            <a:avLst/>
          </a:prstGeom>
          <a:ln/>
        </p:spPr>
      </p:pic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1219200" y="2600325"/>
            <a:ext cx="28479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C9742B"/>
                </a:solidFill>
                <a:latin typeface="Microsoft YaHei"/>
                <a:ea typeface="Microsoft YaHei"/>
              </a:rPr>
              <a:t>不要在聊天里填客户敏感信息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857250" y="2943225"/>
            <a:ext cx="59436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 b="1">
                <a:solidFill>
                  <a:srgbClr val="1F7A5C"/>
                </a:solidFill>
                <a:latin typeface="Microsoft YaHei"/>
                <a:ea typeface="Microsoft YaHei"/>
              </a:rPr>
              <a:t>要说：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只描述症状、年龄区间和诉求。身份证号、病历、住址这些，一句都别填。</a:t>
            </a:r>
            <a:endParaRPr/>
          </a:p>
        </p:txBody>
      </p:sp>
      <p:sp>
        <p:nvSpPr>
          <p:cNvPr id="622" name=""/>
          <p:cNvSpPr/>
          <p:nvPr/>
        </p:nvSpPr>
        <p:spPr>
          <a:xfrm rot="0" flipH="0" flipV="0">
            <a:off x="685800" y="3714750"/>
            <a:ext cx="6286500" cy="1152525"/>
          </a:xfrm>
          <a:prstGeom prst="roundRect">
            <a:avLst>
              <a:gd name="adj" fmla="val 11570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6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3895725"/>
            <a:ext cx="247650" cy="247650"/>
          </a:xfrm>
          <a:prstGeom prst="rect">
            <a:avLst/>
          </a:prstGeom>
          <a:ln/>
        </p:spPr>
      </p:pic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1219200" y="3886200"/>
            <a:ext cx="21907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C9742B"/>
                </a:solidFill>
                <a:latin typeface="Microsoft YaHei"/>
                <a:ea typeface="Microsoft YaHei"/>
              </a:rPr>
              <a:t>不要一次塞进五个问题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857250" y="4229100"/>
            <a:ext cx="59436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 b="1">
                <a:solidFill>
                  <a:srgbClr val="1F7A5C"/>
                </a:solidFill>
                <a:latin typeface="Microsoft YaHei"/>
                <a:ea typeface="Microsoft YaHei"/>
              </a:rPr>
              <a:t>要说：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拆成五句，一句一句问。分开问拿到的五份答案，比一份和稀泥的更有用。</a:t>
            </a:r>
            <a:endParaRPr/>
          </a:p>
        </p:txBody>
      </p:sp>
      <p:sp>
        <p:nvSpPr>
          <p:cNvPr id="626" name=""/>
          <p:cNvSpPr/>
          <p:nvPr/>
        </p:nvSpPr>
        <p:spPr>
          <a:xfrm rot="0" flipH="0" flipV="0">
            <a:off x="685800" y="5000625"/>
            <a:ext cx="6286500" cy="1152525"/>
          </a:xfrm>
          <a:prstGeom prst="roundRect">
            <a:avLst>
              <a:gd name="adj" fmla="val 11570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pic>
        <p:nvPicPr>
          <p:cNvPr id="6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5181600"/>
            <a:ext cx="247650" cy="247650"/>
          </a:xfrm>
          <a:prstGeom prst="rect">
            <a:avLst/>
          </a:prstGeom>
          <a:ln/>
        </p:spPr>
      </p:pic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1219200" y="5172075"/>
            <a:ext cx="26289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C9742B"/>
                </a:solidFill>
                <a:latin typeface="Microsoft YaHei"/>
                <a:ea typeface="Microsoft YaHei"/>
              </a:rPr>
              <a:t>不要整段复制却不说明来意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857250" y="5514975"/>
            <a:ext cx="59436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 b="1">
                <a:solidFill>
                  <a:srgbClr val="1F7A5C"/>
                </a:solidFill>
                <a:latin typeface="Microsoft YaHei"/>
                <a:ea typeface="Microsoft YaHei"/>
              </a:rPr>
              <a:t>要说：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先写一句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这段话我想让你改写成朋友圈文案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，再把内容贴上去。</a:t>
            </a:r>
            <a:endParaRPr/>
          </a:p>
        </p:txBody>
      </p:sp>
      <p:pic>
        <p:nvPicPr>
          <p:cNvPr id="63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239000" y="1143000"/>
            <a:ext cx="4267200" cy="3143250"/>
          </a:xfrm>
          <a:prstGeom prst="rect">
            <a:avLst/>
          </a:prstGeom>
          <a:ln/>
        </p:spPr>
      </p:pic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7239000" y="4400550"/>
            <a:ext cx="4267200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E3A32"/>
                </a:solidFill>
                <a:latin typeface="Microsoft YaHei"/>
                <a:ea typeface="Microsoft YaHei"/>
              </a:rPr>
              <a:t>这四条不是限制，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E3A32"/>
                </a:solidFill>
                <a:latin typeface="Microsoft YaHei"/>
                <a:ea typeface="Microsoft YaHei"/>
              </a:rPr>
              <a:t>是保护你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7239000" y="5400675"/>
            <a:ext cx="4267200" cy="1047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踩过这四条里任意一条，轻则答案没法用，重则把不该留的信息留在了系统里。避开它们比学会任何技巧都重要。</a:t>
            </a:r>
            <a:endParaRPr/>
          </a:p>
        </p:txBody>
      </p:sp>
      <p:pic>
        <p:nvPicPr>
          <p:cNvPr id="6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五期上手课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31 / 33</a:t>
            </a:r>
            <a:endParaRPr/>
          </a:p>
        </p:txBody>
      </p:sp>
    </p:spTree>
  </p:cSld>
</p:sld>
</file>

<file path=ppt/slides/slide3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636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从入门到熟练的 30 天&lt;/Text&gt;&#10;        &lt;Box style={{ width: 56, height: 4, borderRadius: 2, background: '#1F7A5C', marginTop: 8 }} /&gt;&#10;    &lt;/Box&gt;&#10;&#10;    &lt;Box style={{ height: 528, flexDirection: 'row', gap: 28 }}&gt;&#10;        &lt;Box style={{ width: 605 }}&gt;&#10;            &lt;svg width=&quot;605&quot; height=&quot;528&quot; viewBox=&quot;0 0 605 528&quot;&gt;&#10;                &lt;circle cx=&quot;470&quot; cy=&quot;90&quot; r=&quot;66&quot; fill=&quot;#E08A3C&quot; opacity=&quot;0.2&quot; /&gt;&#10;&#10;                &lt;path d=&quot;M40 470 H180 V400 H40 Z&quot; fill=&quot;rgba(168,213,186,0.5)&quot; /&gt;&#10;                &lt;path d=&quot;M180 470 H340 V330 H180 Z&quot; fill=&quot;#1F7A5C&quot; opacity=&quot;0.55&quot; /&gt;&#10;                &lt;path d=&quot;M340 470 H520 V210 H340 Z&quot; fill=&quot;#1F7A5C&quot; /&gt;&#10;                &lt;path d=&quot;M520 470 H580 V150 H520 Z&quot; fill=&quot;#E08A3C&quot; /&gt;&#10;&#10;                &lt;circle cx=&quot;110&quot; cy=&quot;440&quot; r=&quot;20&quot; fill=&quot;#FFFFFF&quot; opacity=&quot;0.85&quot; /&gt;&#10;                &lt;text x=&quot;110&quot; y=&quot;448&quot; textAnchor=&quot;middle&quot; fontSize=&quot;20&quot; fontWeight=&quot;bold&quot; fill=&quot;#1F7A5C&quot; fontFamily=&quot;PingFang SC&quot;&gt;1&lt;/text&gt;&#10;                &lt;circle cx=&quot;260&quot; cy=&quot;410&quot; r=&quot;20&quot; fill=&quot;#FFFFFF&quot; opacity=&quot;0.85&quot; /&gt;&#10;                &lt;text x=&quot;260&quot; y=&quot;418&quot; textAnchor=&quot;middle&quot; fontSize=&quot;20&quot; fontWeight=&quot;bold&quot; fill=&quot;#1F7A5C&quot; fontFamily=&quot;PingFang SC&quot;&gt;7&lt;/text&gt;&#10;                &lt;circle cx=&quot;430&quot; cy=&quot;380&quot; r=&quot;20&quot; fill=&quot;#FFFFFF&quot; opacity=&quot;0.85&quot; /&gt;&#10;                &lt;text x=&quot;430&quot; y=&quot;388&quot; textAnchor=&quot;middle&quot; fontSize=&quot;18&quot; fontWeight=&quot;bold&quot; fill=&quot;#1F7A5C&quot; fontFamily=&quot;PingFang SC&quot;&gt;30&lt;/text&gt;&#10;&#10;                &lt;path d=&quot;M550 150 v-56&quot; stroke=&quot;#E08A3C&quot; strokeWidth=&quot;5&quot; strokeLinecap=&quot;round&quot; /&gt;&#10;                &lt;path d=&quot;M550 94 l44 16 l-44 16 z&quot; fill=&quot;#E08A3C&quot; /&gt;&#10;&#10;                &lt;text x=&quot;110&quot; y=&quot;500&quot; textAnchor=&quot;middle&quot; fontSize=&quot;21&quot; fontWeight=&quot;bold&quot; fill=&quot;#1E3A32&quot; fontFamily=&quot;PingFang SC&quot;&gt;第 1 天&lt;/text&gt;&#10;                &lt;text x=&quot;260&quot; y=&quot;500&quot; textAnchor=&quot;middle&quot; fontSize=&quot;21&quot; fontWeight=&quot;bold&quot; fill=&quot;#1E3A32&quot; fontFamily=&quot;PingFang SC&quot;&gt;第 7 天&lt;/text&gt;&#10;                &lt;text x=&quot;430&quot; y=&quot;500&quot; textAnchor=&quot;middle&quot; fontSize=&quot;21&quot; fontWeight=&quot;bold&quot; fill=&quot;#1E3A32&quot; fontFamily=&quot;PingFang SC&quot;&gt;第 30 天&lt;/text&gt;&#10;                &lt;text x=&quot;556&quot; y=&quot;500&quot; textAnchor=&quot;middle&quot; fontSize=&quot;18&quot; fill=&quot;#6B7C75&quot; fontFamily=&quot;PingFang SC&quot;&gt;之后&lt;/text&gt;&#10;&#10;                &lt;text x=&quot;110&quot; y=&quot;386&quot; textAnchor=&quot;middle&quot; fontSize=&quot;17&quot; fill=&quot;#6B7C75&quot; fontFamily=&quot;PingFang SC&quot;&gt;敢用&lt;/text&gt;&#10;                &lt;text x=&quot;260&quot; y=&quot;316&quot; textAnchor=&quot;middle&quot; fontSize=&quot;17&quot; fill=&quot;#FFFFFF&quot; opacity=&quot;0.9&quot; fontFamily=&quot;PingFang SC&quot;&gt;会问&lt;/text&gt;&#10;                &lt;text x=&quot;430&quot; y=&quot;196&quot; textAnchor=&quot;middle&quot; fontSize=&quot;17&quot; fill=&quot;#FFFFFF&quot; opacity=&quot;0.9&quot; fontFamily=&quot;PingFang SC&quot;&gt;自己找答案&lt;/text&gt;&#10;            &lt;/svg&gt;&#10;        &lt;/Box&gt;&#10;&#10;        &lt;Box style={{ flex: 1, gap: 12 }}&gt;&#10;            &lt;Box style={{&#10;                background: '#FFFFFF', borderRadius: 14, padding: 16,&#10;                boxShadow: '0 4px 20px rgba(30,58,50,0.08)',&#10;            }}&gt;&#10;                &lt;Box style={{ flexDirection: 'row', alignItems: 'center', gap: 10 }}&gt;&#10;                    &lt;Box style={{ background: 'rgba(31,122,92,0.12)', borderRadius: 12, paddingLeft: 12, paddingRight: 12, paddingTop: 5, paddingBottom: 5 }}&gt;&#10;                        &lt;Text style={{ fontSize: 18, fontWeight: 'bold', color: '#1F7A5C' }}&gt;第 1 天&lt;/Text&gt;&#10;                    &lt;/Box&gt;&#10;                    &lt;Text style={{ fontSize: 24, fontWeight: 'bold', color: '#1E3A32' }}&gt;敢用&lt;/Text&gt;&#10;                &lt;/Box&gt;&#10;                &lt;Text style={{ fontSize: 19, color: '#6B7C75', lineHeight: 1.55, marginTop: 10 }}&gt;&#10;                    把首页四个区域各走一遍，照着示例问题发出第一句话，看一次完整的回答长什么样。&#10;                &lt;/Text&gt;&#10;            &lt;/Box&gt;&#10;&#10;            &lt;Box style={{&#10;                background: '#FFFFFF', borderRadius: 14, padding: 16,&#10;                boxShadow: '0 4px 20px rgba(30,58,50,0.08)',&#10;            }}&gt;&#10;                &lt;Box style={{ flexDirection: 'row', alignItems: 'center', gap: 10 }}&gt;&#10;                    &lt;Box style={{ background: 'rgba(31,122,92,0.12)', borderRadius: 12, paddingLeft: 12, paddingRight: 12, paddingTop: 5, paddingBottom: 5 }}&gt;&#10;                        &lt;Text style={{ fontSize: 18, fontWeight: 'bold', color: '#1F7A5C' }}&gt;第 7 天&lt;/Text&gt;&#10;                    &lt;/Box&gt;&#10;                    &lt;Text style={{ fontSize: 24, fontWeight: 'bold', color: '#1E3A32' }}&gt;会问&lt;/Text&gt;&#10;                &lt;/Box&gt;&#10;                &lt;Text style={{ fontSize: 19, color: '#6B7C75', lineHeight: 1.55, marginTop: 10 }}&gt;&#10;                    提问时自然带上人群、场景和困扰；卡住时会去热门问题和示例问题里找灵感，而不是干坐着。&#10;                &lt;/Text&gt;&#10;            &lt;/Box&gt;&#10;&#10;            &lt;Box style={{&#10;                background: 'rgba(224,138,60,0.14)', borderRadius: 14, padding: 16,&#10;            }}&gt;&#10;                &lt;Box style={{ flexDirection: 'row', alignItems: 'center', gap: 10 }}&gt;&#10;                    &lt;Box style={{ background: '#E08A3C', borderRadius: 12, paddingLeft: 12, paddingRight: 12, paddingTop: 5, paddingBottom: 5 }}&gt;&#10;                        &lt;Text style={{ fontSize: 18, fontWeight: 'bold', color: '#FFFFFF' }}&gt;第 30 天&lt;/Text&gt;&#10;                    &lt;/Box&gt;&#10;                    &lt;Text style={{ fontSize: 24, fontWeight: 'bold', color: '#1E3A32' }}&gt;自己找答案&lt;/Text&gt;&#10;                &lt;/Box&gt;&#10;                &lt;Text style={{ fontSize: 19, color: '#6B7C75', lineHeight: 1.55, marginTop: 10 }}&gt;&#10;                    先看资讯和产品，再带着背景提问；会用品案例三问筛案例；会在社区里翻别人的经验。&#10;                &lt;/Text&gt;&#10;            &lt;/Box&gt;&#10;&#10;            &lt;Box style={{&#10;                marginTop: 'auto', background: '#1F7A5C', borderRadius: 14, padding: 16,&#10;            }}&gt;&#10;                &lt;Text style={{ fontSize: 20, color: '#FFFFFF', lineHeight: 1.55, fontWeight: 'bold' }}&gt;&#10;                    熟练不是问得多，是每次都比上次问得准&#10;                &lt;/Text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五期上手课&lt;/Text&gt;&#10;        &lt;/Box&gt;&#10;        &lt;Text style={{ fontSize: 14, color: '#6B7C75' }}&gt;32 / 3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从入门到熟练的</a:t>
            </a:r>
            <a:r>
              <a:rPr lang="en-US" sz="2700" b="1">
                <a:solidFill>
                  <a:srgbClr val="1E3A32"/>
                </a:solidFill>
                <a:latin typeface="Microsoft YaHei"/>
                <a:ea typeface="Microsoft YaHei"/>
              </a:rPr>
              <a:t> 30 </a:t>
            </a: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639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6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143000"/>
            <a:ext cx="5762625" cy="5029200"/>
          </a:xfrm>
          <a:prstGeom prst="rect">
            <a:avLst/>
          </a:prstGeom>
          <a:ln/>
        </p:spPr>
      </p:pic>
      <p:sp>
        <p:nvSpPr>
          <p:cNvPr id="641" name=""/>
          <p:cNvSpPr/>
          <p:nvPr/>
        </p:nvSpPr>
        <p:spPr>
          <a:xfrm rot="0" flipH="0" flipV="0">
            <a:off x="6715125" y="1143000"/>
            <a:ext cx="4791075" cy="1381125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42" name=""/>
          <p:cNvSpPr/>
          <p:nvPr/>
        </p:nvSpPr>
        <p:spPr>
          <a:xfrm rot="0" flipH="0" flipV="0">
            <a:off x="6867525" y="1295400"/>
            <a:ext cx="771525" cy="304800"/>
          </a:xfrm>
          <a:prstGeom prst="roundRect">
            <a:avLst>
              <a:gd name="adj" fmla="val 37500"/>
            </a:avLst>
          </a:prstGeom>
          <a:solidFill>
            <a:srgbClr val="1F7A5C">
              <a:alpha val="12000"/>
            </a:srgbClr>
          </a:solidFill>
          <a:ln/>
        </p:spPr>
        <p:txBody>
          <a:bodyPr/>
          <a:p/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6981825" y="1343025"/>
            <a:ext cx="5429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7A5C"/>
                </a:solidFill>
                <a:latin typeface="Microsoft YaHei"/>
                <a:ea typeface="Microsoft YaHei"/>
              </a:rPr>
              <a:t>第</a:t>
            </a:r>
            <a:r>
              <a:rPr lang="en-US" sz="1350" b="1">
                <a:solidFill>
                  <a:srgbClr val="1F7A5C"/>
                </a:solidFill>
                <a:latin typeface="Microsoft YaHei"/>
                <a:ea typeface="Microsoft YaHei"/>
              </a:rPr>
              <a:t> 1 </a:t>
            </a:r>
            <a:r>
              <a:rPr lang="zh-CN" sz="1350" b="1">
                <a:solidFill>
                  <a:srgbClr val="1F7A5C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7734300" y="1314450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敢用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6867525" y="1695450"/>
            <a:ext cx="4486275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把首页四个区域各走一遍，照着示例问题发出第一句话，看一次完整的回答长什么样。</a:t>
            </a:r>
            <a:endParaRPr/>
          </a:p>
        </p:txBody>
      </p:sp>
      <p:sp>
        <p:nvSpPr>
          <p:cNvPr id="646" name=""/>
          <p:cNvSpPr/>
          <p:nvPr/>
        </p:nvSpPr>
        <p:spPr>
          <a:xfrm rot="0" flipH="0" flipV="0">
            <a:off x="6715125" y="2638425"/>
            <a:ext cx="4791075" cy="1381125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47" name=""/>
          <p:cNvSpPr/>
          <p:nvPr/>
        </p:nvSpPr>
        <p:spPr>
          <a:xfrm rot="0" flipH="0" flipV="0">
            <a:off x="6867525" y="2790825"/>
            <a:ext cx="771525" cy="304800"/>
          </a:xfrm>
          <a:prstGeom prst="roundRect">
            <a:avLst>
              <a:gd name="adj" fmla="val 37500"/>
            </a:avLst>
          </a:prstGeom>
          <a:solidFill>
            <a:srgbClr val="1F7A5C">
              <a:alpha val="12000"/>
            </a:srgbClr>
          </a:solidFill>
          <a:ln/>
        </p:spPr>
        <p:txBody>
          <a:bodyPr/>
          <a:p/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6981825" y="2838450"/>
            <a:ext cx="5429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7A5C"/>
                </a:solidFill>
                <a:latin typeface="Microsoft YaHei"/>
                <a:ea typeface="Microsoft YaHei"/>
              </a:rPr>
              <a:t>第</a:t>
            </a:r>
            <a:r>
              <a:rPr lang="en-US" sz="1350" b="1">
                <a:solidFill>
                  <a:srgbClr val="1F7A5C"/>
                </a:solidFill>
                <a:latin typeface="Microsoft YaHei"/>
                <a:ea typeface="Microsoft YaHei"/>
              </a:rPr>
              <a:t> 7 </a:t>
            </a:r>
            <a:r>
              <a:rPr lang="zh-CN" sz="1350" b="1">
                <a:solidFill>
                  <a:srgbClr val="1F7A5C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7734300" y="2809875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会问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6867525" y="3190875"/>
            <a:ext cx="4486275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提问时自然带上人群、场景和困扰；卡住时会去热门问题和示例问题里找灵感，而不是干坐着。</a:t>
            </a:r>
            <a:endParaRPr/>
          </a:p>
        </p:txBody>
      </p:sp>
      <p:sp>
        <p:nvSpPr>
          <p:cNvPr id="651" name=""/>
          <p:cNvSpPr/>
          <p:nvPr/>
        </p:nvSpPr>
        <p:spPr>
          <a:xfrm rot="0" flipH="0" flipV="0">
            <a:off x="6715125" y="4133850"/>
            <a:ext cx="4791075" cy="1381125"/>
          </a:xfrm>
          <a:prstGeom prst="roundRect">
            <a:avLst>
              <a:gd name="adj" fmla="val 9655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652" name=""/>
          <p:cNvSpPr/>
          <p:nvPr/>
        </p:nvSpPr>
        <p:spPr>
          <a:xfrm rot="0" flipH="0" flipV="0">
            <a:off x="6867525" y="4286250"/>
            <a:ext cx="866775" cy="304800"/>
          </a:xfrm>
          <a:prstGeom prst="roundRect">
            <a:avLst>
              <a:gd name="adj" fmla="val 37500"/>
            </a:avLst>
          </a:prstGeom>
          <a:solidFill>
            <a:srgbClr val="E08A3C"/>
          </a:solidFill>
          <a:ln/>
        </p:spPr>
        <p:txBody>
          <a:bodyPr/>
          <a:p/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6981825" y="4333875"/>
            <a:ext cx="6381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 30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7829550" y="4305300"/>
            <a:ext cx="114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自己找答案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6867525" y="4686300"/>
            <a:ext cx="4486275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先看资讯和产品，再带着背景提问；会用品案例三问筛案例；会在社区里翻别人的经验。</a:t>
            </a:r>
            <a:endParaRPr/>
          </a:p>
        </p:txBody>
      </p:sp>
      <p:sp>
        <p:nvSpPr>
          <p:cNvPr id="656" name=""/>
          <p:cNvSpPr/>
          <p:nvPr/>
        </p:nvSpPr>
        <p:spPr>
          <a:xfrm rot="0" flipH="0" flipV="0">
            <a:off x="6715125" y="5629275"/>
            <a:ext cx="4791075" cy="666750"/>
          </a:xfrm>
          <a:prstGeom prst="roundRect">
            <a:avLst>
              <a:gd name="adj" fmla="val 2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6867525" y="5781675"/>
            <a:ext cx="4486275" cy="3619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熟练不是问得多，是每次都比上次问得准</a:t>
            </a:r>
            <a:endParaRPr/>
          </a:p>
        </p:txBody>
      </p:sp>
      <p:pic>
        <p:nvPicPr>
          <p:cNvPr id="6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五期上手课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32 / 33</a:t>
            </a:r>
            <a:endParaRPr/>
          </a:p>
        </p:txBody>
      </p:sp>
    </p:spTree>
  </p:cSld>
</p:sld>
</file>

<file path=ppt/slides/slide3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661" name="" descr="&lt;Slide style={{&#10;    background: 'linear-gradient(135deg, #F2F8F4 0%, #DCEDE3 100%)',&#10;    padding: 0,&#10;}}&gt;&#10;    &lt;Box style={{ position: 'absolute', bottom: 0, left: 0, width: '100%', height: 320 }}&gt;&#10;        &lt;svg width=&quot;1280&quot; height=&quot;320&quot; viewBox=&quot;0 0 1280 320&quot;&gt;&#10;            &lt;circle cx=&quot;640&quot; cy=&quot;150&quot; r=&quot;150&quot; fill=&quot;#E08A3C&quot; opacity=&quot;0.14&quot; /&gt;&#10;            &lt;path d=&quot;M0 210 C220 150 400 236 640 190 C880 144 1060 220 1280 176 L1280 320 L0 320 Z&quot; fill=&quot;#A8D5BA&quot; opacity=&quot;0.45&quot; /&gt;&#10;            &lt;path d=&quot;M0 258 C240 210 420 282 660 244 C900 206 1080 268 1280 236 L1280 320 L0 320 Z&quot; fill=&quot;#1F7A5C&quot; opacity=&quot;0.3&quot; /&gt;&#10;            &lt;path d=&quot;M0 296 C260 266 440 308 680 288 C920 268 1100 300 1280 286 L1280 320 L0 320 Z&quot; fill=&quot;#1F7A5C&quot; opacity=&quot;0.42&quot; /&gt;&#10;        &lt;/svg&gt;&#10;    &lt;/Box&gt;&#10;&#10;    &lt;Box style={{ width: '100%', height: '100%', alignItems: 'center', justifyContent: 'center', paddingLeft: 72, paddingRight: 72 }}&gt;&#10;        &lt;Box style={{ flexDirection: 'row', alignItems: 'center', gap: 14 }}&gt;&#10;            &lt;Box style={{ width: 46, height: 46, borderRadius: 23, background: '#1F7A5C', justifyContent: 'center', alignItems: 'center' }}&gt;&#10;                &lt;svg width=&quot;26&quot; height=&quot;26&quot; viewBox=&quot;0 0 24 24&quot;&gt;&#10;                    &lt;path d=&quot;M12 21C12 21 4 17 4 10C4 6 7 3 12 3C17 3 20 6 20 10C20 17 12 21 12 21Z&quot; fill=&quot;#FFFFFF&quot; /&gt;&#10;                    &lt;path d=&quot;M12 21V6&quot; stroke=&quot;#1F7A5C&quot; strokeWidth=&quot;1.8&quot; fill=&quot;none&quot; /&gt;&#10;                &lt;/svg&gt;&#10;            &lt;/Box&gt;&#10;            &lt;Text style={{ fontSize: 22, color: '#1F7A5C', fontWeight: 'bold', letterSpacing: 1 }}&gt;AI宝儿智能体&lt;/Text&gt;&#10;        &lt;/Box&gt;&#10;&#10;        &lt;Text style={{ fontSize: 54, fontWeight: 'bold', color: '#1E3A32', lineHeight: 1.3, textAlign: 'center', marginTop: 40 }}&gt;&#10;            先点进去，先问一句，&lt;br /&gt;再继续追问。&#10;        &lt;/Text&gt;&#10;&#10;        &lt;Box style={{ width: 96, height: 5, borderRadius: 3, background: '#E08A3C', marginTop: 30 }} /&gt;&#10;&#10;        &lt;Text style={{ fontSize: 26, color: '#1E3A32', lineHeight: 1.55, textAlign: 'center', marginTop: 28 }}&gt;&#10;            AI宝儿不是让你学技术，&lt;br /&gt;是帮你把想问的说清楚、把想说的写明白&#10;        &lt;/Text&gt;&#10;&#10;        &lt;Text style={{ fontSize: 20, color: '#6B7C75', lineHeight: 1.5, textAlign: 'center', marginTop: 26 }}&gt;&#10;            不会没关系，慢慢问，就会越来越熟&#10;        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2F8F4"/>
              </a:gs>
              <a:gs pos="100000">
                <a:srgbClr val="DCEDE3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63" name=""/>
          <p:cNvSpPr/>
          <p:nvPr/>
        </p:nvSpPr>
        <p:spPr>
          <a:xfrm rot="0" flipH="0" flipV="0">
            <a:off x="5153025" y="11620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6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248275" y="1257300"/>
            <a:ext cx="247650" cy="247650"/>
          </a:xfrm>
          <a:prstGeom prst="rect">
            <a:avLst/>
          </a:prstGeom>
          <a:ln/>
        </p:spPr>
      </p:pic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5724525" y="1257300"/>
            <a:ext cx="1323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75">
                <a:solidFill>
                  <a:srgbClr val="1F7A5C"/>
                </a:solidFill>
                <a:latin typeface="Microsoft YaHei"/>
                <a:ea typeface="Microsoft YaHei"/>
              </a:rPr>
              <a:t>AI</a:t>
            </a:r>
            <a:r>
              <a:rPr lang="zh-CN" sz="1650" b="1" spc="75">
                <a:solidFill>
                  <a:srgbClr val="1F7A5C"/>
                </a:solidFill>
                <a:latin typeface="Microsoft YaHei"/>
                <a:ea typeface="Microsoft YaHei"/>
              </a:rPr>
              <a:t>宝儿智能体</a:t>
            </a:r>
            <a:endParaRPr/>
          </a:p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3524250" y="1981200"/>
            <a:ext cx="5143500" cy="160972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4050" b="1">
                <a:solidFill>
                  <a:srgbClr val="1E3A32"/>
                </a:solidFill>
                <a:latin typeface="Microsoft YaHei"/>
                <a:ea typeface="Microsoft YaHei"/>
              </a:rPr>
              <a:t>先点进去，先问一句，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4050" b="1">
                <a:solidFill>
                  <a:srgbClr val="1E3A32"/>
                </a:solidFill>
                <a:latin typeface="Microsoft YaHei"/>
                <a:ea typeface="Microsoft YaHei"/>
              </a:rPr>
              <a:t>再继续追问。</a:t>
            </a:r>
            <a:endParaRPr/>
          </a:p>
        </p:txBody>
      </p:sp>
      <p:sp>
        <p:nvSpPr>
          <p:cNvPr id="667" name=""/>
          <p:cNvSpPr/>
          <p:nvPr/>
        </p:nvSpPr>
        <p:spPr>
          <a:xfrm rot="0" flipH="0" flipV="0">
            <a:off x="5638800" y="3876675"/>
            <a:ext cx="914400" cy="47625"/>
          </a:xfrm>
          <a:prstGeom prst="roundRect">
            <a:avLst>
              <a:gd name="adj" fmla="val 60000"/>
            </a:avLst>
          </a:prstGeom>
          <a:solidFill>
            <a:srgbClr val="E08A3C"/>
          </a:solidFill>
          <a:ln/>
        </p:spPr>
        <p:txBody>
          <a:bodyPr/>
          <a:p/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3867150" y="4191000"/>
            <a:ext cx="4457700" cy="923925"/>
          </a:xfrm>
          <a:prstGeom prst="rect"/>
        </p:spPr>
        <p:txBody>
          <a:bodyPr wrap="none" lIns="0" tIns="0" rIns="0" bIns="0"/>
          <a:p>
            <a:pPr algn="ctr">
              <a:lnSpc>
                <a:spcPct val="155000"/>
              </a:lnSpc>
            </a:pPr>
            <a:r>
              <a:rPr lang="en-US" sz="1950">
                <a:solidFill>
                  <a:srgbClr val="1E3A32"/>
                </a:solidFill>
                <a:latin typeface="Microsoft YaHei"/>
                <a:ea typeface="Microsoft YaHei"/>
              </a:rPr>
              <a:t>AI</a:t>
            </a:r>
            <a:r>
              <a:rPr lang="zh-CN" sz="1950">
                <a:solidFill>
                  <a:srgbClr val="1E3A32"/>
                </a:solidFill>
                <a:latin typeface="Microsoft YaHei"/>
                <a:ea typeface="Microsoft YaHei"/>
              </a:rPr>
              <a:t>宝儿不是让你学技术，</a:t>
            </a:r>
            <a:endParaRPr/>
          </a:p>
          <a:p>
            <a:pPr algn="ctr">
              <a:lnSpc>
                <a:spcPct val="155000"/>
              </a:lnSpc>
            </a:pPr>
            <a:r>
              <a:rPr lang="zh-CN" sz="1950">
                <a:solidFill>
                  <a:srgbClr val="1E3A32"/>
                </a:solidFill>
                <a:latin typeface="Microsoft YaHei"/>
                <a:ea typeface="Microsoft YaHei"/>
              </a:rPr>
              <a:t>是帮你把想问的说清楚、把想说的写明白</a:t>
            </a:r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4572000" y="5362575"/>
            <a:ext cx="3048000" cy="34290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不会没关系，慢慢问，就会越来越熟</a:t>
            </a:r>
            <a:endParaRPr/>
          </a:p>
        </p:txBody>
      </p:sp>
      <p:pic>
        <p:nvPicPr>
          <p:cNvPr id="6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0" y="3810000"/>
            <a:ext cx="12192000" cy="3048000"/>
          </a:xfrm>
          <a:prstGeom prst="rect">
            <a:avLst/>
          </a:prstGeom>
          <a:ln/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2026-08-31T13:38:43Z</dcterms:created>
  <dcterms:modified xsi:type="dcterms:W3CDTF">2026-08-31T13:38:43Z</dcterms:modified>
</cp:coreProperties>
</file>